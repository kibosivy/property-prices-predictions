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60" r:id="rId4"/>
  </p:sldMasterIdLst>
  <p:notesMasterIdLst>
    <p:notesMasterId r:id="rId29"/>
  </p:notesMasterIdLst>
  <p:handoutMasterIdLst>
    <p:handoutMasterId r:id="rId30"/>
  </p:handoutMasterIdLst>
  <p:sldIdLst>
    <p:sldId id="256" r:id="rId5"/>
    <p:sldId id="271" r:id="rId6"/>
    <p:sldId id="286" r:id="rId7"/>
    <p:sldId id="287" r:id="rId8"/>
    <p:sldId id="289" r:id="rId9"/>
    <p:sldId id="290" r:id="rId10"/>
    <p:sldId id="291" r:id="rId11"/>
    <p:sldId id="303" r:id="rId12"/>
    <p:sldId id="307" r:id="rId13"/>
    <p:sldId id="308" r:id="rId14"/>
    <p:sldId id="309" r:id="rId15"/>
    <p:sldId id="301" r:id="rId16"/>
    <p:sldId id="302" r:id="rId17"/>
    <p:sldId id="293" r:id="rId18"/>
    <p:sldId id="294" r:id="rId19"/>
    <p:sldId id="295" r:id="rId20"/>
    <p:sldId id="296" r:id="rId21"/>
    <p:sldId id="299" r:id="rId22"/>
    <p:sldId id="300" r:id="rId23"/>
    <p:sldId id="297" r:id="rId24"/>
    <p:sldId id="298" r:id="rId25"/>
    <p:sldId id="305" r:id="rId26"/>
    <p:sldId id="304" r:id="rId27"/>
    <p:sldId id="310"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E75E278A-FF0E-49A4-B170-79828D63BBAD}">
          <p14:sldIdLst>
            <p14:sldId id="256"/>
          </p14:sldIdLst>
        </p14:section>
        <p14:section name="Design, Morph, Annotate, Work Together, Tell Me" id="{B9B51309-D148-4332-87C2-07BE32FBCA3B}">
          <p14:sldIdLst>
            <p14:sldId id="271"/>
            <p14:sldId id="286"/>
            <p14:sldId id="287"/>
            <p14:sldId id="289"/>
            <p14:sldId id="290"/>
            <p14:sldId id="291"/>
            <p14:sldId id="303"/>
            <p14:sldId id="307"/>
            <p14:sldId id="308"/>
            <p14:sldId id="309"/>
            <p14:sldId id="301"/>
            <p14:sldId id="302"/>
            <p14:sldId id="293"/>
            <p14:sldId id="294"/>
            <p14:sldId id="295"/>
            <p14:sldId id="296"/>
            <p14:sldId id="299"/>
            <p14:sldId id="300"/>
            <p14:sldId id="297"/>
            <p14:sldId id="298"/>
            <p14:sldId id="305"/>
            <p14:sldId id="304"/>
            <p14:sldId id="310"/>
          </p14:sldIdLst>
        </p14:section>
        <p14:section name="Learn More" id="{2CC34DB2-6590-42C0-AD4B-A04C6060184E}">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4726"/>
    <a:srgbClr val="404040"/>
    <a:srgbClr val="FF9B45"/>
    <a:srgbClr val="DD462F"/>
    <a:srgbClr val="F8CFB6"/>
    <a:srgbClr val="F8CAB6"/>
    <a:srgbClr val="923922"/>
    <a:srgbClr val="F5F5F5"/>
    <a:srgbClr val="F2F2F2"/>
    <a:srgbClr val="D2B4A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88" autoAdjust="0"/>
    <p:restoredTop sz="94241" autoAdjust="0"/>
  </p:normalViewPr>
  <p:slideViewPr>
    <p:cSldViewPr snapToGrid="0">
      <p:cViewPr varScale="1">
        <p:scale>
          <a:sx n="72" d="100"/>
          <a:sy n="72" d="100"/>
        </p:scale>
        <p:origin x="636" y="7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4" d="100"/>
          <a:sy n="84" d="100"/>
        </p:scale>
        <p:origin x="3828"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handoutMaster" Target="handoutMasters/handoutMaster1.xml"/><Relationship Id="rId35" Type="http://schemas.openxmlformats.org/officeDocument/2006/relationships/tableStyles" Target="tableStyles.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0680FBE-A8DF-4758-9AC4-3A9E1039168F}" type="datetimeFigureOut">
              <a:rPr lang="en-US" smtClean="0"/>
              <a:t>11/14/2025</a:t>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C679768-A2FC-4D08-91F6-8DCE6C566B36}" type="slidenum">
              <a:rPr lang="en-US" smtClean="0"/>
              <a:t>‹#›</a:t>
            </a:fld>
            <a:endParaRPr lang="en-US" dirty="0"/>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13577B-6902-467D-A26C-08A0DD5E4E03}" type="datetimeFigureOut">
              <a:rPr lang="en-US" smtClean="0"/>
              <a:t>11/14/2025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61EA0F-A667-4B49-8422-0062BC55E249}" type="slidenum">
              <a:rPr lang="en-US" smtClean="0"/>
              <a:t>‹#›</a:t>
            </a:fld>
            <a:endParaRPr lang="en-US" dirty="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F61EA0F-A667-4B49-8422-0062BC55E249}" type="slidenum">
              <a:rPr lang="en-US" smtClean="0"/>
              <a:t>1</a:t>
            </a:fld>
            <a:endParaRPr lang="en-US" dirty="0"/>
          </a:p>
        </p:txBody>
      </p:sp>
    </p:spTree>
    <p:extLst>
      <p:ext uri="{BB962C8B-B14F-4D97-AF65-F5344CB8AC3E}">
        <p14:creationId xmlns:p14="http://schemas.microsoft.com/office/powerpoint/2010/main" val="1011769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Rectangle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Title 1"/>
          <p:cNvSpPr>
            <a:spLocks noGrp="1"/>
          </p:cNvSpPr>
          <p:nvPr>
            <p:ph type="title"/>
          </p:nvPr>
        </p:nvSpPr>
        <p:spPr/>
        <p:txBody>
          <a:bodyPr/>
          <a:lstStyle/>
          <a:p>
            <a:r>
              <a:rPr lang="en-US" smtClean="0"/>
              <a:t>Click to edit Master title style</a:t>
            </a:r>
            <a:endParaRPr lang="en-US" dirty="0"/>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9" name="Rectangle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cxnSp>
        <p:nvCxnSpPr>
          <p:cNvPr id="12" name="Straight Connector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Title 3"/>
          <p:cNvSpPr>
            <a:spLocks noGrp="1"/>
          </p:cNvSpPr>
          <p:nvPr>
            <p:ph type="title"/>
          </p:nvPr>
        </p:nvSpPr>
        <p:spPr>
          <a:xfrm>
            <a:off x="521207" y="448056"/>
            <a:ext cx="6877119" cy="640080"/>
          </a:xfrm>
        </p:spPr>
        <p:txBody>
          <a:bodyPr anchor="b" anchorCtr="0">
            <a:normAutofit/>
          </a:bodyPr>
          <a:lstStyle>
            <a:lvl1pPr>
              <a:defRPr sz="2800">
                <a:solidFill>
                  <a:schemeClr val="bg2">
                    <a:lumMod val="25000"/>
                  </a:schemeClr>
                </a:solidFill>
              </a:defRPr>
            </a:lvl1pPr>
          </a:lstStyle>
          <a:p>
            <a:r>
              <a:rPr lang="en-US" smtClean="0"/>
              <a:t>Click to edit Master title style</a:t>
            </a:r>
            <a:endParaRPr lang="en-US" dirty="0"/>
          </a:p>
        </p:txBody>
      </p:sp>
      <p:sp>
        <p:nvSpPr>
          <p:cNvPr id="3" name="Content Placeholder 2"/>
          <p:cNvSpPr>
            <a:spLocks noGrp="1"/>
          </p:cNvSpPr>
          <p:nvPr>
            <p:ph sz="quarter" idx="10"/>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defRPr>
            </a:lvl1pPr>
            <a:lvl2pPr>
              <a:defRPr lang="en-US" sz="1200" smtClean="0">
                <a:solidFill>
                  <a:schemeClr val="tx1">
                    <a:lumMod val="75000"/>
                    <a:lumOff val="25000"/>
                  </a:schemeClr>
                </a:solidFill>
              </a:defRPr>
            </a:lvl2pPr>
            <a:lvl3pPr>
              <a:defRPr lang="en-US" sz="1200" smtClean="0">
                <a:solidFill>
                  <a:schemeClr val="tx1">
                    <a:lumMod val="75000"/>
                    <a:lumOff val="25000"/>
                  </a:schemeClr>
                </a:solidFill>
              </a:defRPr>
            </a:lvl3pPr>
            <a:lvl4pPr>
              <a:defRPr lang="en-US" sz="1200" smtClean="0">
                <a:solidFill>
                  <a:schemeClr val="tx1">
                    <a:lumMod val="75000"/>
                    <a:lumOff val="25000"/>
                  </a:schemeClr>
                </a:solidFill>
              </a:defRPr>
            </a:lvl4pPr>
            <a:lvl5pPr>
              <a:defRPr lang="en-US" sz="1200">
                <a:solidFill>
                  <a:schemeClr val="tx1">
                    <a:lumMod val="75000"/>
                    <a:lumOff val="25000"/>
                  </a:schemeClr>
                </a:solidFill>
              </a:defRPr>
            </a:lvl5pPr>
          </a:lstStyle>
          <a:p>
            <a:pPr marL="0" lvl="0" indent="0">
              <a:lnSpc>
                <a:spcPct val="150000"/>
              </a:lnSpc>
              <a:spcBef>
                <a:spcPts val="1000"/>
              </a:spcBef>
              <a:spcAft>
                <a:spcPts val="1200"/>
              </a:spcAft>
              <a:buNone/>
            </a:pPr>
            <a:r>
              <a:rPr lang="en-US" smtClean="0"/>
              <a:t>Edit Master text styles</a:t>
            </a:r>
          </a:p>
          <a:p>
            <a:pPr marL="0" lvl="1" indent="0">
              <a:lnSpc>
                <a:spcPct val="150000"/>
              </a:lnSpc>
              <a:spcBef>
                <a:spcPts val="1000"/>
              </a:spcBef>
              <a:spcAft>
                <a:spcPts val="1200"/>
              </a:spcAft>
              <a:buNone/>
            </a:pPr>
            <a:r>
              <a:rPr lang="en-US" smtClean="0"/>
              <a:t>Second level</a:t>
            </a:r>
          </a:p>
          <a:p>
            <a:pPr marL="0" lvl="2" indent="0">
              <a:lnSpc>
                <a:spcPct val="150000"/>
              </a:lnSpc>
              <a:spcBef>
                <a:spcPts val="1000"/>
              </a:spcBef>
              <a:spcAft>
                <a:spcPts val="1200"/>
              </a:spcAft>
              <a:buNone/>
            </a:pPr>
            <a:r>
              <a:rPr lang="en-US" smtClean="0"/>
              <a:t>Third level</a:t>
            </a:r>
          </a:p>
          <a:p>
            <a:pPr marL="0" lvl="3" indent="0">
              <a:lnSpc>
                <a:spcPct val="150000"/>
              </a:lnSpc>
              <a:spcBef>
                <a:spcPts val="1000"/>
              </a:spcBef>
              <a:spcAft>
                <a:spcPts val="1200"/>
              </a:spcAft>
              <a:buNone/>
            </a:pPr>
            <a:r>
              <a:rPr lang="en-US" smtClean="0"/>
              <a:t>Fourth level</a:t>
            </a:r>
          </a:p>
          <a:p>
            <a:pPr marL="0" lvl="4" indent="0">
              <a:lnSpc>
                <a:spcPct val="150000"/>
              </a:lnSpc>
              <a:spcBef>
                <a:spcPts val="1000"/>
              </a:spcBef>
              <a:spcAft>
                <a:spcPts val="1200"/>
              </a:spcAft>
              <a:buNone/>
            </a:pPr>
            <a:r>
              <a:rPr lang="en-US" smtClean="0"/>
              <a:t>Fifth level</a:t>
            </a:r>
            <a:endParaRPr lang="en-US" dirty="0"/>
          </a:p>
        </p:txBody>
      </p:sp>
      <p:sp>
        <p:nvSpPr>
          <p:cNvPr id="6" name="Date Placeholder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fld id="{8BEEBAAA-29B5-4AF5-BC5F-7E580C29002D}" type="datetimeFigureOut">
              <a:rPr lang="en-US" smtClean="0"/>
              <a:pPr/>
              <a:t>11/14/2025</a:t>
            </a:fld>
            <a:endParaRPr lang="en-US" dirty="0"/>
          </a:p>
        </p:txBody>
      </p:sp>
      <p:sp>
        <p:nvSpPr>
          <p:cNvPr id="7" name="Footer Placeholder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endParaRPr lang="en-US" dirty="0"/>
          </a:p>
        </p:txBody>
      </p:sp>
      <p:sp>
        <p:nvSpPr>
          <p:cNvPr id="8" name="Slide Number Placeholder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9" name="Rectangle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0" name="Rectangle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Title 1"/>
          <p:cNvSpPr>
            <a:spLocks noGrp="1"/>
          </p:cNvSpPr>
          <p:nvPr>
            <p:ph type="title"/>
          </p:nvPr>
        </p:nvSpPr>
        <p:spPr>
          <a:xfrm>
            <a:off x="521208" y="1536192"/>
            <a:ext cx="6876288" cy="640080"/>
          </a:xfrm>
        </p:spPr>
        <p:txBody>
          <a:bodyPr>
            <a:normAutofit/>
          </a:bodyPr>
          <a:lstStyle>
            <a:lvl1pPr>
              <a:defRPr sz="3600">
                <a:solidFill>
                  <a:schemeClr val="bg1"/>
                </a:solidFill>
              </a:defRPr>
            </a:lvl1pPr>
          </a:lstStyle>
          <a:p>
            <a:r>
              <a:rPr lang="en-US" smtClean="0"/>
              <a:t>Click to edit Master title style</a:t>
            </a:r>
            <a:endParaRPr lang="en-US" dirty="0"/>
          </a:p>
        </p:txBody>
      </p:sp>
      <p:sp>
        <p:nvSpPr>
          <p:cNvPr id="7" name="Content Placeholder 6"/>
          <p:cNvSpPr>
            <a:spLocks noGrp="1"/>
          </p:cNvSpPr>
          <p:nvPr>
            <p:ph sz="quarter" idx="13"/>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mj-lt"/>
              </a:defRPr>
            </a:lvl1pPr>
            <a:lvl2pPr>
              <a:defRPr lang="en-US" sz="1200" dirty="0" smtClean="0">
                <a:solidFill>
                  <a:schemeClr val="tx1">
                    <a:lumMod val="75000"/>
                    <a:lumOff val="25000"/>
                  </a:schemeClr>
                </a:solidFill>
              </a:defRPr>
            </a:lvl2pPr>
            <a:lvl3pPr>
              <a:defRPr lang="en-US" sz="1200" dirty="0" smtClean="0">
                <a:solidFill>
                  <a:schemeClr val="tx1">
                    <a:lumMod val="75000"/>
                    <a:lumOff val="25000"/>
                  </a:schemeClr>
                </a:solidFill>
              </a:defRPr>
            </a:lvl3pPr>
            <a:lvl4pPr>
              <a:defRPr lang="en-US" sz="1200" dirty="0" smtClean="0">
                <a:solidFill>
                  <a:schemeClr val="tx1">
                    <a:lumMod val="75000"/>
                    <a:lumOff val="25000"/>
                  </a:schemeClr>
                </a:solidFill>
              </a:defRPr>
            </a:lvl4pPr>
            <a:lvl5pPr>
              <a:defRPr lang="en-US" sz="1200" dirty="0">
                <a:solidFill>
                  <a:schemeClr val="tx1">
                    <a:lumMod val="75000"/>
                    <a:lumOff val="25000"/>
                  </a:schemeClr>
                </a:solidFill>
              </a:defRPr>
            </a:lvl5pPr>
          </a:lstStyle>
          <a:p>
            <a:pPr marL="0" lvl="0" indent="0">
              <a:lnSpc>
                <a:spcPct val="150000"/>
              </a:lnSpc>
              <a:spcBef>
                <a:spcPts val="1000"/>
              </a:spcBef>
              <a:spcAft>
                <a:spcPts val="1200"/>
              </a:spcAft>
              <a:buNone/>
            </a:pPr>
            <a:r>
              <a:rPr lang="en-US" smtClean="0"/>
              <a:t>Edit Master text styles</a:t>
            </a:r>
          </a:p>
          <a:p>
            <a:pPr marL="0" lvl="1" indent="0">
              <a:lnSpc>
                <a:spcPct val="150000"/>
              </a:lnSpc>
              <a:spcBef>
                <a:spcPts val="1000"/>
              </a:spcBef>
              <a:spcAft>
                <a:spcPts val="1200"/>
              </a:spcAft>
              <a:buNone/>
            </a:pPr>
            <a:r>
              <a:rPr lang="en-US" smtClean="0"/>
              <a:t>Second level</a:t>
            </a:r>
          </a:p>
          <a:p>
            <a:pPr marL="0" lvl="2" indent="0">
              <a:lnSpc>
                <a:spcPct val="150000"/>
              </a:lnSpc>
              <a:spcBef>
                <a:spcPts val="1000"/>
              </a:spcBef>
              <a:spcAft>
                <a:spcPts val="1200"/>
              </a:spcAft>
              <a:buNone/>
            </a:pPr>
            <a:r>
              <a:rPr lang="en-US" smtClean="0"/>
              <a:t>Third level</a:t>
            </a:r>
          </a:p>
          <a:p>
            <a:pPr marL="0" lvl="3" indent="0">
              <a:lnSpc>
                <a:spcPct val="150000"/>
              </a:lnSpc>
              <a:spcBef>
                <a:spcPts val="1000"/>
              </a:spcBef>
              <a:spcAft>
                <a:spcPts val="1200"/>
              </a:spcAft>
              <a:buNone/>
            </a:pPr>
            <a:r>
              <a:rPr lang="en-US" smtClean="0"/>
              <a:t>Fourth level</a:t>
            </a:r>
          </a:p>
          <a:p>
            <a:pPr marL="0" lvl="4" indent="0">
              <a:lnSpc>
                <a:spcPct val="150000"/>
              </a:lnSpc>
              <a:spcBef>
                <a:spcPts val="1000"/>
              </a:spcBef>
              <a:spcAft>
                <a:spcPts val="1200"/>
              </a:spcAft>
              <a:buNone/>
            </a:pPr>
            <a:r>
              <a:rPr lang="en-US" smtClean="0"/>
              <a:t>Fifth level</a:t>
            </a:r>
            <a:endParaRPr lang="en-US" dirty="0"/>
          </a:p>
        </p:txBody>
      </p:sp>
    </p:spTree>
    <p:extLst>
      <p:ext uri="{BB962C8B-B14F-4D97-AF65-F5344CB8AC3E}">
        <p14:creationId xmlns:p14="http://schemas.microsoft.com/office/powerpoint/2010/main" val="133565553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sp>
        <p:nvSpPr>
          <p:cNvPr id="2" name="Title Placeholder 1"/>
          <p:cNvSpPr>
            <a:spLocks noGrp="1"/>
          </p:cNvSpPr>
          <p:nvPr>
            <p:ph type="title"/>
          </p:nvPr>
        </p:nvSpPr>
        <p:spPr>
          <a:xfrm>
            <a:off x="521208" y="448056"/>
            <a:ext cx="6876288" cy="640080"/>
          </a:xfrm>
          <a:prstGeom prst="rect">
            <a:avLst/>
          </a:prstGeom>
        </p:spPr>
        <p:txBody>
          <a:bodyPr vert="horz" lIns="91440" tIns="45720" rIns="91440" bIns="45720" rtlCol="0" anchor="b" anchorCtr="0">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fld id="{8BEEBAAA-29B5-4AF5-BC5F-7E580C29002D}" type="datetimeFigureOut">
              <a:rPr lang="en-US" smtClean="0"/>
              <a:pPr/>
              <a:t>11/14/2025</a:t>
            </a:fld>
            <a:endParaRPr lang="en-US" dirty="0"/>
          </a:p>
        </p:txBody>
      </p:sp>
      <p:sp>
        <p:nvSpPr>
          <p:cNvPr id="5" name="Footer Placeholder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endParaRPr lang="en-US" dirty="0"/>
          </a:p>
        </p:txBody>
      </p:sp>
      <p:sp>
        <p:nvSpPr>
          <p:cNvPr id="6" name="Slide Number Placeholder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fld id="{9860EDB8-5305-433F-BE41-D7A86D811DB3}" type="slidenum">
              <a:rPr lang="en-US" smtClean="0"/>
              <a:pPr/>
              <a:t>‹#›</a:t>
            </a:fld>
            <a:endParaRPr lang="en-US" dirty="0"/>
          </a:p>
        </p:txBody>
      </p:sp>
      <p:cxnSp>
        <p:nvCxnSpPr>
          <p:cNvPr id="8" name="Straight Connector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txStyles>
    <p:titleStyle>
      <a:lvl1pPr algn="l" defTabSz="914400" rtl="0" eaLnBrk="1" latinLnBrk="0" hangingPunct="1">
        <a:spcBef>
          <a:spcPct val="0"/>
        </a:spcBef>
        <a:buNone/>
        <a:defRPr sz="2800" kern="1200">
          <a:solidFill>
            <a:schemeClr val="tx1"/>
          </a:solidFill>
          <a:latin typeface="+mj-lt"/>
          <a:ea typeface="+mj-ea"/>
          <a:cs typeface="+mj-cs"/>
        </a:defRPr>
      </a:lvl1pPr>
    </p:titleStyle>
    <p:bodyStyle>
      <a:lvl1pPr marL="0" indent="0" algn="l" defTabSz="914400" rtl="0" eaLnBrk="1" latinLnBrk="0" hangingPunct="1">
        <a:lnSpc>
          <a:spcPct val="150000"/>
        </a:lnSpc>
        <a:spcBef>
          <a:spcPts val="1000"/>
        </a:spcBef>
        <a:spcAft>
          <a:spcPts val="1200"/>
        </a:spcAft>
        <a:buFontTx/>
        <a:buNone/>
        <a:defRPr lang="en-US" sz="1200" kern="1200" dirty="0">
          <a:solidFill>
            <a:schemeClr val="tx1"/>
          </a:solidFill>
          <a:latin typeface="+mn-lt"/>
          <a:ea typeface="+mn-ea"/>
          <a:cs typeface="+mn-cs"/>
        </a:defRPr>
      </a:lvl1pPr>
      <a:lvl2pPr marL="228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2pPr>
      <a:lvl3pPr marL="685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3pPr>
      <a:lvl4pPr marL="11430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4pPr>
      <a:lvl5pPr marL="16002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hyperlink" Target="https://www.kaggle.com/c/house-prices-advanced-regression-techniques"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hyperlink" Target="https://kibosivy-property-prices-predictions-app-mqyip5.streamlit.app/"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745435" y="1614898"/>
            <a:ext cx="10515600" cy="4322076"/>
          </a:xfrm>
        </p:spPr>
        <p:txBody>
          <a:bodyPr anchor="ctr" anchorCtr="0">
            <a:normAutofit/>
          </a:bodyPr>
          <a:lstStyle/>
          <a:p>
            <a:pPr algn="ctr"/>
            <a:r>
              <a:rPr lang="en-US" sz="7200" b="1" dirty="0"/>
              <a:t>Property Price </a:t>
            </a:r>
            <a:r>
              <a:rPr lang="en-US" sz="7200" b="1" dirty="0" smtClean="0"/>
              <a:t>Predictions</a:t>
            </a:r>
            <a:br>
              <a:rPr lang="en-US" sz="7200" b="1" dirty="0" smtClean="0"/>
            </a:br>
            <a:r>
              <a:rPr lang="en-US" b="1" dirty="0"/>
              <a:t/>
            </a:r>
            <a:br>
              <a:rPr lang="en-US" b="1" dirty="0"/>
            </a:br>
            <a:r>
              <a:rPr lang="en-US" b="1" dirty="0"/>
              <a:t>Advanced Machine Learning for Real Estate Valuation</a:t>
            </a:r>
            <a:br>
              <a:rPr lang="en-US" b="1" dirty="0"/>
            </a:br>
            <a:endParaRPr lang="en-US" b="1" dirty="0"/>
          </a:p>
        </p:txBody>
      </p:sp>
    </p:spTree>
    <p:extLst>
      <p:ext uri="{BB962C8B-B14F-4D97-AF65-F5344CB8AC3E}">
        <p14:creationId xmlns:p14="http://schemas.microsoft.com/office/powerpoint/2010/main" val="247180773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p:txBody>
          <a:bodyPr>
            <a:noAutofit/>
          </a:bodyPr>
          <a:lstStyle/>
          <a:p>
            <a:r>
              <a:rPr lang="en-US" b="1" dirty="0" smtClean="0">
                <a:latin typeface="Segoe UI Light" panose="020B0502040204020203" pitchFamily="34" charset="0"/>
                <a:cs typeface="Segoe UI Light" panose="020B0502040204020203" pitchFamily="34" charset="0"/>
              </a:rPr>
              <a:t>Introduction</a:t>
            </a:r>
            <a:endParaRPr lang="en-US" b="1" dirty="0">
              <a:latin typeface="Segoe UI Light" panose="020B0502040204020203" pitchFamily="34" charset="0"/>
              <a:cs typeface="Segoe UI Light" panose="020B0502040204020203" pitchFamily="34" charset="0"/>
            </a:endParaRPr>
          </a:p>
        </p:txBody>
      </p:sp>
      <p:sp>
        <p:nvSpPr>
          <p:cNvPr id="2" name="TextBox 1"/>
          <p:cNvSpPr txBox="1"/>
          <p:nvPr/>
        </p:nvSpPr>
        <p:spPr>
          <a:xfrm>
            <a:off x="622852" y="1378226"/>
            <a:ext cx="10959548" cy="3970318"/>
          </a:xfrm>
          <a:prstGeom prst="rect">
            <a:avLst/>
          </a:prstGeom>
          <a:noFill/>
        </p:spPr>
        <p:txBody>
          <a:bodyPr wrap="square" rtlCol="0">
            <a:spAutoFit/>
          </a:bodyPr>
          <a:lstStyle/>
          <a:p>
            <a:r>
              <a:rPr lang="en-US" dirty="0"/>
              <a:t>Accurate property valuation is critical for homebuyers, sellers, lenders, and investors. Traditional appraisal methods can be time-consuming and subjective. Our goal is to build a data-driven model that can predict house prices with high accuracy</a:t>
            </a:r>
            <a:r>
              <a:rPr lang="en-US" dirty="0" smtClean="0"/>
              <a:t>.</a:t>
            </a:r>
          </a:p>
          <a:p>
            <a:endParaRPr lang="en-US" dirty="0"/>
          </a:p>
          <a:p>
            <a:r>
              <a:rPr lang="en-US" b="1" dirty="0"/>
              <a:t>Technical Challenges</a:t>
            </a:r>
          </a:p>
          <a:p>
            <a:r>
              <a:rPr lang="en-US" dirty="0"/>
              <a:t>•High-dimensional feature space (79 variables)</a:t>
            </a:r>
          </a:p>
          <a:p>
            <a:r>
              <a:rPr lang="en-US" dirty="0"/>
              <a:t>•Mixed data types requiring different encodings</a:t>
            </a:r>
          </a:p>
          <a:p>
            <a:r>
              <a:rPr lang="en-US" dirty="0"/>
              <a:t>•Significant missing values (structural &amp; random)</a:t>
            </a:r>
          </a:p>
          <a:p>
            <a:r>
              <a:rPr lang="en-US" dirty="0"/>
              <a:t>•Extreme outliers affecting model training</a:t>
            </a:r>
          </a:p>
          <a:p>
            <a:r>
              <a:rPr lang="en-US" b="1" dirty="0"/>
              <a:t>Business Requirements</a:t>
            </a:r>
          </a:p>
          <a:p>
            <a:r>
              <a:rPr lang="en-US" dirty="0"/>
              <a:t>•Minimize prediction error (RMSE/MAE)</a:t>
            </a:r>
          </a:p>
          <a:p>
            <a:r>
              <a:rPr lang="en-US" dirty="0"/>
              <a:t>•Handle diverse property types</a:t>
            </a:r>
          </a:p>
          <a:p>
            <a:r>
              <a:rPr lang="en-US" dirty="0"/>
              <a:t>•Provide interpretable predictions</a:t>
            </a:r>
          </a:p>
          <a:p>
            <a:r>
              <a:rPr lang="en-US" dirty="0"/>
              <a:t>•Deploy as production-ready </a:t>
            </a:r>
            <a:r>
              <a:rPr lang="en-US" dirty="0" smtClean="0"/>
              <a:t>system</a:t>
            </a:r>
            <a:endParaRPr lang="en-US" dirty="0"/>
          </a:p>
        </p:txBody>
      </p:sp>
    </p:spTree>
    <p:extLst>
      <p:ext uri="{BB962C8B-B14F-4D97-AF65-F5344CB8AC3E}">
        <p14:creationId xmlns:p14="http://schemas.microsoft.com/office/powerpoint/2010/main" val="34576161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Dataset overview</a:t>
            </a:r>
            <a:endParaRPr lang="en-US" dirty="0"/>
          </a:p>
        </p:txBody>
      </p:sp>
      <p:sp>
        <p:nvSpPr>
          <p:cNvPr id="12" name="TextBox 11"/>
          <p:cNvSpPr txBox="1"/>
          <p:nvPr/>
        </p:nvSpPr>
        <p:spPr>
          <a:xfrm>
            <a:off x="675861" y="1364974"/>
            <a:ext cx="11078817" cy="5078313"/>
          </a:xfrm>
          <a:prstGeom prst="rect">
            <a:avLst/>
          </a:prstGeom>
          <a:noFill/>
        </p:spPr>
        <p:txBody>
          <a:bodyPr wrap="square" rtlCol="0">
            <a:spAutoFit/>
          </a:bodyPr>
          <a:lstStyle/>
          <a:p>
            <a:pPr>
              <a:lnSpc>
                <a:spcPct val="120000"/>
              </a:lnSpc>
            </a:pPr>
            <a:r>
              <a:rPr lang="en-US" dirty="0"/>
              <a:t>-The project uses the </a:t>
            </a:r>
            <a:r>
              <a:rPr lang="en-US" dirty="0" err="1"/>
              <a:t>Kaggle</a:t>
            </a:r>
            <a:r>
              <a:rPr lang="en-US" dirty="0"/>
              <a:t> competition dataset: </a:t>
            </a:r>
            <a:r>
              <a:rPr lang="en-US" b="1" dirty="0"/>
              <a:t>House Prices – Advanced Regression Techniques</a:t>
            </a:r>
            <a:endParaRPr lang="en-US" dirty="0"/>
          </a:p>
          <a:p>
            <a:pPr>
              <a:lnSpc>
                <a:spcPct val="120000"/>
              </a:lnSpc>
            </a:pPr>
            <a:r>
              <a:rPr lang="en-US" dirty="0"/>
              <a:t>- </a:t>
            </a:r>
            <a:r>
              <a:rPr lang="en-US" b="1" dirty="0"/>
              <a:t>Dataset Link:</a:t>
            </a:r>
            <a:r>
              <a:rPr lang="en-US" dirty="0"/>
              <a:t> </a:t>
            </a:r>
            <a:r>
              <a:rPr lang="en-US" dirty="0">
                <a:hlinkClick r:id="rId2"/>
              </a:rPr>
              <a:t>https://www.kaggle.com/c/house-prices-advanced-regression-techniques</a:t>
            </a:r>
            <a:endParaRPr lang="en-US" dirty="0"/>
          </a:p>
          <a:p>
            <a:pPr>
              <a:lnSpc>
                <a:spcPct val="120000"/>
              </a:lnSpc>
            </a:pPr>
            <a:r>
              <a:rPr lang="en-US" b="1" dirty="0"/>
              <a:t>- Training set:</a:t>
            </a:r>
            <a:r>
              <a:rPr lang="en-US" dirty="0"/>
              <a:t> 1,460 houses </a:t>
            </a:r>
            <a:r>
              <a:rPr lang="en-US" dirty="0" smtClean="0"/>
              <a:t>(</a:t>
            </a:r>
            <a:r>
              <a:rPr lang="en-US" b="1" dirty="0" smtClean="0"/>
              <a:t>80</a:t>
            </a:r>
            <a:r>
              <a:rPr lang="en-US" dirty="0" smtClean="0"/>
              <a:t> </a:t>
            </a:r>
            <a:r>
              <a:rPr lang="en-US" dirty="0"/>
              <a:t>features, including </a:t>
            </a:r>
            <a:r>
              <a:rPr lang="en-US" dirty="0" err="1"/>
              <a:t>SalePrice</a:t>
            </a:r>
            <a:r>
              <a:rPr lang="en-US" dirty="0"/>
              <a:t>)</a:t>
            </a:r>
          </a:p>
          <a:p>
            <a:pPr>
              <a:lnSpc>
                <a:spcPct val="120000"/>
              </a:lnSpc>
            </a:pPr>
            <a:r>
              <a:rPr lang="en-US" b="1" dirty="0"/>
              <a:t>- Test set:</a:t>
            </a:r>
            <a:r>
              <a:rPr lang="en-US" dirty="0"/>
              <a:t> 1,459 houses </a:t>
            </a:r>
            <a:r>
              <a:rPr lang="en-US" dirty="0" smtClean="0"/>
              <a:t>(</a:t>
            </a:r>
            <a:r>
              <a:rPr lang="en-US" b="1" dirty="0"/>
              <a:t>79</a:t>
            </a:r>
            <a:r>
              <a:rPr lang="en-US" dirty="0" smtClean="0"/>
              <a:t> </a:t>
            </a:r>
            <a:r>
              <a:rPr lang="en-US" dirty="0"/>
              <a:t>predictive features)</a:t>
            </a:r>
          </a:p>
          <a:p>
            <a:pPr>
              <a:lnSpc>
                <a:spcPct val="100000"/>
              </a:lnSpc>
            </a:pPr>
            <a:r>
              <a:rPr lang="en-US" dirty="0"/>
              <a:t>- </a:t>
            </a:r>
            <a:r>
              <a:rPr lang="en-US" b="1" dirty="0"/>
              <a:t>Feature Types:</a:t>
            </a:r>
            <a:endParaRPr lang="en-US" dirty="0"/>
          </a:p>
          <a:p>
            <a:pPr marL="171450" indent="-171450">
              <a:lnSpc>
                <a:spcPct val="100000"/>
              </a:lnSpc>
              <a:buFont typeface="Arial" panose="020B0604020202020204" pitchFamily="34" charset="0"/>
              <a:buChar char="•"/>
            </a:pPr>
            <a:r>
              <a:rPr lang="en-US" dirty="0"/>
              <a:t>Numerical features (e.g., </a:t>
            </a:r>
            <a:r>
              <a:rPr lang="en-US" dirty="0" err="1"/>
              <a:t>LotArea</a:t>
            </a:r>
            <a:r>
              <a:rPr lang="en-US" dirty="0"/>
              <a:t>, </a:t>
            </a:r>
            <a:r>
              <a:rPr lang="en-US" dirty="0" err="1"/>
              <a:t>GrLivArea</a:t>
            </a:r>
            <a:r>
              <a:rPr lang="en-US" dirty="0"/>
              <a:t>, </a:t>
            </a:r>
            <a:r>
              <a:rPr lang="en-US" dirty="0" err="1"/>
              <a:t>GarageArea</a:t>
            </a:r>
            <a:r>
              <a:rPr lang="en-US" dirty="0"/>
              <a:t>)</a:t>
            </a:r>
          </a:p>
          <a:p>
            <a:pPr marL="171450" indent="-171450">
              <a:lnSpc>
                <a:spcPct val="100000"/>
              </a:lnSpc>
              <a:buFont typeface="Arial" panose="020B0604020202020204" pitchFamily="34" charset="0"/>
              <a:buChar char="•"/>
            </a:pPr>
            <a:r>
              <a:rPr lang="en-US" dirty="0"/>
              <a:t>Categorical nominal features (e.g., Neighborhood, </a:t>
            </a:r>
            <a:r>
              <a:rPr lang="en-US" dirty="0" err="1"/>
              <a:t>HouseStyle</a:t>
            </a:r>
            <a:r>
              <a:rPr lang="en-US" dirty="0"/>
              <a:t>)</a:t>
            </a:r>
          </a:p>
          <a:p>
            <a:pPr marL="171450" indent="-171450">
              <a:lnSpc>
                <a:spcPct val="100000"/>
              </a:lnSpc>
              <a:buFont typeface="Arial" panose="020B0604020202020204" pitchFamily="34" charset="0"/>
              <a:buChar char="•"/>
            </a:pPr>
            <a:r>
              <a:rPr lang="en-US" dirty="0"/>
              <a:t>Categorical ordinal features (e.g., </a:t>
            </a:r>
            <a:r>
              <a:rPr lang="en-US" dirty="0" err="1"/>
              <a:t>ExterQual</a:t>
            </a:r>
            <a:r>
              <a:rPr lang="en-US" dirty="0"/>
              <a:t>, </a:t>
            </a:r>
            <a:r>
              <a:rPr lang="en-US" dirty="0" err="1"/>
              <a:t>HeatingQC</a:t>
            </a:r>
            <a:r>
              <a:rPr lang="en-US" dirty="0"/>
              <a:t>)</a:t>
            </a:r>
          </a:p>
          <a:p>
            <a:pPr marL="171450" indent="-171450">
              <a:lnSpc>
                <a:spcPct val="100000"/>
              </a:lnSpc>
              <a:buFont typeface="Arial" panose="020B0604020202020204" pitchFamily="34" charset="0"/>
              <a:buChar char="•"/>
            </a:pPr>
            <a:r>
              <a:rPr lang="en-US" dirty="0"/>
              <a:t>Engineered features introduced during preprocessing</a:t>
            </a:r>
          </a:p>
          <a:p>
            <a:pPr marL="171450" indent="-171450">
              <a:lnSpc>
                <a:spcPct val="100000"/>
              </a:lnSpc>
              <a:buFont typeface="Arial" panose="020B0604020202020204" pitchFamily="34" charset="0"/>
              <a:buChar char="•"/>
            </a:pPr>
            <a:r>
              <a:rPr lang="en-US" dirty="0"/>
              <a:t>Binary indicators created through one-hot encoding</a:t>
            </a:r>
          </a:p>
          <a:p>
            <a:pPr>
              <a:lnSpc>
                <a:spcPct val="120000"/>
              </a:lnSpc>
            </a:pPr>
            <a:endParaRPr lang="en-US" dirty="0"/>
          </a:p>
          <a:p>
            <a:pPr>
              <a:lnSpc>
                <a:spcPct val="100000"/>
              </a:lnSpc>
            </a:pPr>
            <a:r>
              <a:rPr lang="en-US" b="1" dirty="0" smtClean="0"/>
              <a:t>Target </a:t>
            </a:r>
            <a:r>
              <a:rPr lang="en-US" b="1" dirty="0"/>
              <a:t>Variable</a:t>
            </a:r>
          </a:p>
          <a:p>
            <a:pPr marL="171450" indent="-171450">
              <a:buFont typeface="Arial" panose="020B0604020202020204" pitchFamily="34" charset="0"/>
              <a:buChar char="•"/>
            </a:pPr>
            <a:r>
              <a:rPr lang="en-US" dirty="0" err="1"/>
              <a:t>SalePrice</a:t>
            </a:r>
            <a:r>
              <a:rPr lang="en-US" dirty="0"/>
              <a:t>— the final house selling price (in dollars).</a:t>
            </a:r>
          </a:p>
          <a:p>
            <a:pPr marL="171450" indent="-171450">
              <a:buFont typeface="Arial" panose="020B0604020202020204" pitchFamily="34" charset="0"/>
              <a:buChar char="•"/>
            </a:pPr>
            <a:r>
              <a:rPr lang="en-US" dirty="0"/>
              <a:t>The target variable shows:</a:t>
            </a:r>
          </a:p>
          <a:p>
            <a:pPr marL="171450" indent="-171450">
              <a:buFont typeface="Arial" panose="020B0604020202020204" pitchFamily="34" charset="0"/>
              <a:buChar char="•"/>
            </a:pPr>
            <a:r>
              <a:rPr lang="en-US" dirty="0"/>
              <a:t>right-skewed distribution</a:t>
            </a:r>
          </a:p>
          <a:p>
            <a:pPr marL="171450" indent="-171450">
              <a:buFont typeface="Arial" panose="020B0604020202020204" pitchFamily="34" charset="0"/>
              <a:buChar char="•"/>
            </a:pPr>
            <a:r>
              <a:rPr lang="en-US" dirty="0"/>
              <a:t>high influence from quality, size, and location</a:t>
            </a:r>
          </a:p>
          <a:p>
            <a:pPr marL="171450" indent="-171450">
              <a:buFont typeface="Arial" panose="020B0604020202020204" pitchFamily="34" charset="0"/>
              <a:buChar char="•"/>
            </a:pPr>
            <a:r>
              <a:rPr lang="en-US" dirty="0"/>
              <a:t>significant variation across neighborhoods and </a:t>
            </a:r>
            <a:r>
              <a:rPr lang="en-US" dirty="0" smtClean="0"/>
              <a:t>conditions</a:t>
            </a:r>
            <a:endParaRPr lang="en-US" dirty="0"/>
          </a:p>
        </p:txBody>
      </p:sp>
    </p:spTree>
    <p:extLst>
      <p:ext uri="{BB962C8B-B14F-4D97-AF65-F5344CB8AC3E}">
        <p14:creationId xmlns:p14="http://schemas.microsoft.com/office/powerpoint/2010/main" val="2918081081"/>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Understanding</a:t>
            </a:r>
          </a:p>
        </p:txBody>
      </p:sp>
      <p:sp>
        <p:nvSpPr>
          <p:cNvPr id="4" name="TextBox 3"/>
          <p:cNvSpPr txBox="1"/>
          <p:nvPr/>
        </p:nvSpPr>
        <p:spPr>
          <a:xfrm>
            <a:off x="636104" y="1311965"/>
            <a:ext cx="11078818" cy="5355312"/>
          </a:xfrm>
          <a:prstGeom prst="rect">
            <a:avLst/>
          </a:prstGeom>
          <a:noFill/>
        </p:spPr>
        <p:txBody>
          <a:bodyPr wrap="square" rtlCol="0">
            <a:spAutoFit/>
          </a:bodyPr>
          <a:lstStyle/>
          <a:p>
            <a:pPr>
              <a:lnSpc>
                <a:spcPct val="100000"/>
              </a:lnSpc>
            </a:pPr>
            <a:r>
              <a:rPr lang="en-US" b="1" dirty="0"/>
              <a:t>Objective of EDA</a:t>
            </a:r>
          </a:p>
          <a:p>
            <a:pPr marL="171450" indent="-171450">
              <a:lnSpc>
                <a:spcPct val="100000"/>
              </a:lnSpc>
              <a:buFont typeface="Arial" panose="020B0604020202020204" pitchFamily="34" charset="0"/>
              <a:buChar char="•"/>
            </a:pPr>
            <a:r>
              <a:rPr lang="en-US" dirty="0"/>
              <a:t>To understand the structure, quality, and behavior of the dataset before applying machine learning. This step identifies:</a:t>
            </a:r>
          </a:p>
          <a:p>
            <a:pPr marL="171450" indent="-171450">
              <a:lnSpc>
                <a:spcPct val="100000"/>
              </a:lnSpc>
              <a:buFont typeface="Arial" panose="020B0604020202020204" pitchFamily="34" charset="0"/>
              <a:buChar char="•"/>
            </a:pPr>
            <a:r>
              <a:rPr lang="en-US" dirty="0"/>
              <a:t>Data types</a:t>
            </a:r>
          </a:p>
          <a:p>
            <a:pPr marL="171450" indent="-171450">
              <a:lnSpc>
                <a:spcPct val="100000"/>
              </a:lnSpc>
              <a:buFont typeface="Arial" panose="020B0604020202020204" pitchFamily="34" charset="0"/>
              <a:buChar char="•"/>
            </a:pPr>
            <a:r>
              <a:rPr lang="en-US" dirty="0"/>
              <a:t>Missing values</a:t>
            </a:r>
          </a:p>
          <a:p>
            <a:pPr marL="171450" indent="-171450">
              <a:lnSpc>
                <a:spcPct val="100000"/>
              </a:lnSpc>
              <a:buFont typeface="Arial" panose="020B0604020202020204" pitchFamily="34" charset="0"/>
              <a:buChar char="•"/>
            </a:pPr>
            <a:r>
              <a:rPr lang="en-US" dirty="0"/>
              <a:t>Outliers</a:t>
            </a:r>
          </a:p>
          <a:p>
            <a:pPr marL="171450" indent="-171450">
              <a:lnSpc>
                <a:spcPct val="100000"/>
              </a:lnSpc>
              <a:buFont typeface="Arial" panose="020B0604020202020204" pitchFamily="34" charset="0"/>
              <a:buChar char="•"/>
            </a:pPr>
            <a:r>
              <a:rPr lang="en-US" dirty="0"/>
              <a:t>Relationships between key features and the target</a:t>
            </a:r>
          </a:p>
          <a:p>
            <a:pPr marL="171450" indent="-171450">
              <a:lnSpc>
                <a:spcPct val="100000"/>
              </a:lnSpc>
              <a:buFont typeface="Arial" panose="020B0604020202020204" pitchFamily="34" charset="0"/>
              <a:buChar char="•"/>
            </a:pPr>
            <a:r>
              <a:rPr lang="en-US" dirty="0"/>
              <a:t>Patterns that guide preprocessing &amp; modeling</a:t>
            </a:r>
          </a:p>
          <a:p>
            <a:pPr>
              <a:lnSpc>
                <a:spcPct val="100000"/>
              </a:lnSpc>
            </a:pPr>
            <a:endParaRPr lang="en-US" dirty="0" smtClean="0"/>
          </a:p>
          <a:p>
            <a:pPr>
              <a:lnSpc>
                <a:spcPct val="100000"/>
              </a:lnSpc>
            </a:pPr>
            <a:r>
              <a:rPr lang="en-US" b="1" dirty="0" smtClean="0"/>
              <a:t>Data structure</a:t>
            </a:r>
          </a:p>
          <a:p>
            <a:r>
              <a:rPr lang="en-US" dirty="0"/>
              <a:t>We reviewed:</a:t>
            </a:r>
          </a:p>
          <a:p>
            <a:pPr marL="171450" indent="-171450">
              <a:buFont typeface="Arial" panose="020B0604020202020204" pitchFamily="34" charset="0"/>
              <a:buChar char="•"/>
            </a:pPr>
            <a:r>
              <a:rPr lang="en-US" dirty="0"/>
              <a:t>Numerical features (continuous &amp; discrete)</a:t>
            </a:r>
          </a:p>
          <a:p>
            <a:pPr marL="171450" indent="-171450">
              <a:buFont typeface="Arial" panose="020B0604020202020204" pitchFamily="34" charset="0"/>
              <a:buChar char="•"/>
            </a:pPr>
            <a:r>
              <a:rPr lang="en-US" dirty="0"/>
              <a:t>Categorical features (nominal &amp; ordinal)</a:t>
            </a:r>
          </a:p>
          <a:p>
            <a:pPr marL="171450" indent="-171450">
              <a:buFont typeface="Arial" panose="020B0604020202020204" pitchFamily="34" charset="0"/>
              <a:buChar char="•"/>
            </a:pPr>
            <a:r>
              <a:rPr lang="en-US" dirty="0"/>
              <a:t>Target variable (</a:t>
            </a:r>
            <a:r>
              <a:rPr lang="en-US" dirty="0" err="1"/>
              <a:t>SalePrice</a:t>
            </a:r>
            <a:r>
              <a:rPr lang="en-US" dirty="0"/>
              <a:t>) </a:t>
            </a:r>
            <a:r>
              <a:rPr lang="en-US" dirty="0" smtClean="0"/>
              <a:t>distribution</a:t>
            </a:r>
          </a:p>
          <a:p>
            <a:pPr marL="171450" indent="-171450">
              <a:buFont typeface="Arial" panose="020B0604020202020204" pitchFamily="34" charset="0"/>
              <a:buChar char="•"/>
            </a:pPr>
            <a:endParaRPr lang="en-US" dirty="0"/>
          </a:p>
          <a:p>
            <a:r>
              <a:rPr lang="en-US" b="1" dirty="0"/>
              <a:t>Key Findings:</a:t>
            </a:r>
            <a:endParaRPr lang="en-US" dirty="0"/>
          </a:p>
          <a:p>
            <a:pPr marL="171450" indent="-171450">
              <a:buFont typeface="Arial" panose="020B0604020202020204" pitchFamily="34" charset="0"/>
              <a:buChar char="•"/>
            </a:pPr>
            <a:r>
              <a:rPr lang="en-US" dirty="0"/>
              <a:t>Many categorical features represent quality ratings</a:t>
            </a:r>
          </a:p>
          <a:p>
            <a:pPr marL="171450" indent="-171450">
              <a:buFont typeface="Arial" panose="020B0604020202020204" pitchFamily="34" charset="0"/>
              <a:buChar char="•"/>
            </a:pPr>
            <a:r>
              <a:rPr lang="en-US" dirty="0"/>
              <a:t>Several features are ordinal, requiring proper encoding.</a:t>
            </a:r>
          </a:p>
          <a:p>
            <a:pPr marL="171450" indent="-171450">
              <a:buFont typeface="Arial" panose="020B0604020202020204" pitchFamily="34" charset="0"/>
              <a:buChar char="•"/>
            </a:pPr>
            <a:r>
              <a:rPr lang="en-US" dirty="0"/>
              <a:t>Some numeric fields represent absence </a:t>
            </a:r>
          </a:p>
        </p:txBody>
      </p:sp>
    </p:spTree>
    <p:extLst>
      <p:ext uri="{BB962C8B-B14F-4D97-AF65-F5344CB8AC3E}">
        <p14:creationId xmlns:p14="http://schemas.microsoft.com/office/powerpoint/2010/main" val="2563282882"/>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Missing Values Analysis</a:t>
            </a:r>
          </a:p>
        </p:txBody>
      </p:sp>
      <p:sp>
        <p:nvSpPr>
          <p:cNvPr id="15" name="TextBox 14"/>
          <p:cNvSpPr txBox="1"/>
          <p:nvPr/>
        </p:nvSpPr>
        <p:spPr>
          <a:xfrm>
            <a:off x="539497" y="1311965"/>
            <a:ext cx="11056155" cy="5016758"/>
          </a:xfrm>
          <a:prstGeom prst="rect">
            <a:avLst/>
          </a:prstGeom>
          <a:noFill/>
        </p:spPr>
        <p:txBody>
          <a:bodyPr wrap="square" rtlCol="0">
            <a:spAutoFit/>
          </a:bodyPr>
          <a:lstStyle/>
          <a:p>
            <a:r>
              <a:rPr lang="en-US" sz="1600" b="1" dirty="0"/>
              <a:t>1. Drop Columns with Excessive </a:t>
            </a:r>
            <a:r>
              <a:rPr lang="en-US" sz="1600" b="1" dirty="0" err="1"/>
              <a:t>Missingness</a:t>
            </a:r>
            <a:endParaRPr lang="en-US" sz="1600" b="1" dirty="0"/>
          </a:p>
          <a:p>
            <a:r>
              <a:rPr lang="en-US" sz="1600" dirty="0"/>
              <a:t>Rule: Removed features with &gt;50% missing values</a:t>
            </a:r>
            <a:br>
              <a:rPr lang="en-US" sz="1600" dirty="0"/>
            </a:br>
            <a:r>
              <a:rPr lang="en-US" sz="1600" dirty="0"/>
              <a:t>Examples: </a:t>
            </a:r>
            <a:r>
              <a:rPr lang="en-US" sz="1600" dirty="0" err="1"/>
              <a:t>PoolQC</a:t>
            </a:r>
            <a:r>
              <a:rPr lang="en-US" sz="1600" dirty="0"/>
              <a:t>, </a:t>
            </a:r>
            <a:r>
              <a:rPr lang="en-US" sz="1600" dirty="0" err="1"/>
              <a:t>MiscFeature</a:t>
            </a:r>
            <a:r>
              <a:rPr lang="en-US" sz="1600" dirty="0"/>
              <a:t>, Alley (extremely sparse)</a:t>
            </a:r>
            <a:br>
              <a:rPr lang="en-US" sz="1600" dirty="0"/>
            </a:br>
            <a:r>
              <a:rPr lang="en-US" sz="1600" dirty="0"/>
              <a:t>Reason: Too little information → adds noise, not value.</a:t>
            </a:r>
          </a:p>
          <a:p>
            <a:r>
              <a:rPr lang="en-US" sz="1600" b="1" dirty="0"/>
              <a:t>2. Structural Missing (Feature Not Present)</a:t>
            </a:r>
          </a:p>
          <a:p>
            <a:r>
              <a:rPr lang="en-US" sz="1600" dirty="0"/>
              <a:t>Filled </a:t>
            </a:r>
            <a:r>
              <a:rPr lang="en-US" sz="1600" dirty="0" err="1"/>
              <a:t>with:"None</a:t>
            </a:r>
            <a:r>
              <a:rPr lang="en-US" sz="1600" dirty="0"/>
              <a:t>“</a:t>
            </a:r>
            <a:br>
              <a:rPr lang="en-US" sz="1600" dirty="0"/>
            </a:br>
            <a:r>
              <a:rPr lang="en-US" sz="1600" dirty="0"/>
              <a:t>Examples: Basement features, </a:t>
            </a:r>
            <a:r>
              <a:rPr lang="en-US" sz="1600" dirty="0" err="1"/>
              <a:t>GarageType</a:t>
            </a:r>
            <a:r>
              <a:rPr lang="en-US" sz="1600" dirty="0"/>
              <a:t>, Fence, </a:t>
            </a:r>
            <a:r>
              <a:rPr lang="en-US" sz="1600" dirty="0" err="1"/>
              <a:t>FireplaceQu</a:t>
            </a:r>
            <a:r>
              <a:rPr lang="en-US" sz="1600" dirty="0"/>
              <a:t/>
            </a:r>
            <a:br>
              <a:rPr lang="en-US" sz="1600" dirty="0"/>
            </a:br>
            <a:r>
              <a:rPr lang="en-US" sz="1600" dirty="0"/>
              <a:t>Reason: Missing indicates </a:t>
            </a:r>
            <a:r>
              <a:rPr lang="en-US" sz="1600" i="1" dirty="0"/>
              <a:t>absence</a:t>
            </a:r>
            <a:r>
              <a:rPr lang="en-US" sz="1600" dirty="0"/>
              <a:t> of that house feature.</a:t>
            </a:r>
          </a:p>
          <a:p>
            <a:r>
              <a:rPr lang="en-US" sz="1600" b="1" dirty="0"/>
              <a:t>3. Structural Numeric Missing</a:t>
            </a:r>
          </a:p>
          <a:p>
            <a:r>
              <a:rPr lang="en-US" sz="1600" dirty="0"/>
              <a:t>Filled with: 0</a:t>
            </a:r>
            <a:br>
              <a:rPr lang="en-US" sz="1600" dirty="0"/>
            </a:br>
            <a:r>
              <a:rPr lang="en-US" sz="1600" dirty="0"/>
              <a:t>Examples: </a:t>
            </a:r>
            <a:r>
              <a:rPr lang="en-US" sz="1600" dirty="0" err="1"/>
              <a:t>GarageArea</a:t>
            </a:r>
            <a:r>
              <a:rPr lang="en-US" sz="1600" dirty="0"/>
              <a:t>, </a:t>
            </a:r>
            <a:r>
              <a:rPr lang="en-US" sz="1600" dirty="0" err="1"/>
              <a:t>GarageCars</a:t>
            </a:r>
            <a:r>
              <a:rPr lang="en-US" sz="1600" dirty="0"/>
              <a:t>, </a:t>
            </a:r>
            <a:r>
              <a:rPr lang="en-US" sz="1600" dirty="0" err="1"/>
              <a:t>BsmtBaths</a:t>
            </a:r>
            <a:r>
              <a:rPr lang="en-US" sz="1600" dirty="0"/>
              <a:t>, </a:t>
            </a:r>
            <a:r>
              <a:rPr lang="en-US" sz="1600" dirty="0" err="1"/>
              <a:t>MasVnrArea</a:t>
            </a:r>
            <a:r>
              <a:rPr lang="en-US" sz="1600" dirty="0"/>
              <a:t/>
            </a:r>
            <a:br>
              <a:rPr lang="en-US" sz="1600" dirty="0"/>
            </a:br>
            <a:r>
              <a:rPr lang="en-US" sz="1600" dirty="0"/>
              <a:t>Reason: Zero correctly represents “no area / no units</a:t>
            </a:r>
            <a:r>
              <a:rPr lang="en-US" sz="1600" dirty="0" smtClean="0"/>
              <a:t>.”</a:t>
            </a:r>
          </a:p>
          <a:p>
            <a:r>
              <a:rPr lang="en-US" sz="1600" b="1" dirty="0" smtClean="0"/>
              <a:t>4</a:t>
            </a:r>
            <a:r>
              <a:rPr lang="en-US" sz="1600" b="1" dirty="0"/>
              <a:t>. Neighborhood-Based Median Imputation</a:t>
            </a:r>
          </a:p>
          <a:p>
            <a:r>
              <a:rPr lang="en-US" sz="1600" dirty="0"/>
              <a:t>Applied to</a:t>
            </a:r>
            <a:r>
              <a:rPr lang="en-US" sz="1600" dirty="0" smtClean="0"/>
              <a:t>: </a:t>
            </a:r>
            <a:r>
              <a:rPr lang="en-US" sz="1600" dirty="0" err="1"/>
              <a:t>LotFrontage</a:t>
            </a:r>
            <a:r>
              <a:rPr lang="en-US" sz="1600" dirty="0"/>
              <a:t/>
            </a:r>
            <a:br>
              <a:rPr lang="en-US" sz="1600" dirty="0"/>
            </a:br>
            <a:r>
              <a:rPr lang="en-US" sz="1600" dirty="0"/>
              <a:t>Reason: Lot sizes differ by neighborhood; median preserves realism</a:t>
            </a:r>
            <a:r>
              <a:rPr lang="en-US" sz="1600" dirty="0" smtClean="0"/>
              <a:t>.</a:t>
            </a:r>
          </a:p>
          <a:p>
            <a:r>
              <a:rPr lang="en-US" sz="1600" b="1" dirty="0"/>
              <a:t>5. Mode Imputation (Rare </a:t>
            </a:r>
            <a:r>
              <a:rPr lang="en-US" sz="1600" b="1" dirty="0" err="1"/>
              <a:t>Missingness</a:t>
            </a:r>
            <a:r>
              <a:rPr lang="en-US" sz="1600" b="1" dirty="0"/>
              <a:t>)</a:t>
            </a:r>
          </a:p>
          <a:p>
            <a:r>
              <a:rPr lang="en-US" sz="1600" dirty="0"/>
              <a:t>Used for: </a:t>
            </a:r>
            <a:r>
              <a:rPr lang="en-US" sz="1600" dirty="0" err="1"/>
              <a:t>MSZoning</a:t>
            </a:r>
            <a:r>
              <a:rPr lang="en-US" sz="1600" dirty="0"/>
              <a:t>, </a:t>
            </a:r>
            <a:r>
              <a:rPr lang="en-US" sz="1600" dirty="0" err="1"/>
              <a:t>KitchenQual</a:t>
            </a:r>
            <a:r>
              <a:rPr lang="en-US" sz="1600" dirty="0"/>
              <a:t>, Electrical</a:t>
            </a:r>
            <a:br>
              <a:rPr lang="en-US" sz="1600" dirty="0"/>
            </a:br>
            <a:r>
              <a:rPr lang="en-US" sz="1600" dirty="0"/>
              <a:t>Reason: Only a few missing entries → mode maintains category stability.</a:t>
            </a:r>
          </a:p>
          <a:p>
            <a:r>
              <a:rPr lang="en-US" sz="1600" b="1" dirty="0"/>
              <a:t>6. Train–Test Alignment</a:t>
            </a:r>
          </a:p>
          <a:p>
            <a:r>
              <a:rPr lang="en-US" sz="1600" dirty="0"/>
              <a:t>Ensured identical encoded columns across </a:t>
            </a:r>
            <a:r>
              <a:rPr lang="en-US" sz="1600" dirty="0" smtClean="0"/>
              <a:t>datasets</a:t>
            </a:r>
            <a:endParaRPr lang="en-US" sz="1600" dirty="0"/>
          </a:p>
        </p:txBody>
      </p:sp>
    </p:spTree>
    <p:extLst>
      <p:ext uri="{BB962C8B-B14F-4D97-AF65-F5344CB8AC3E}">
        <p14:creationId xmlns:p14="http://schemas.microsoft.com/office/powerpoint/2010/main" val="3272032981"/>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Outlier detection and treatment</a:t>
            </a:r>
            <a:endParaRPr lang="en-US" b="1" dirty="0"/>
          </a:p>
        </p:txBody>
      </p:sp>
      <p:sp>
        <p:nvSpPr>
          <p:cNvPr id="4" name="TextBox 3"/>
          <p:cNvSpPr txBox="1"/>
          <p:nvPr/>
        </p:nvSpPr>
        <p:spPr>
          <a:xfrm>
            <a:off x="521207" y="1298713"/>
            <a:ext cx="11198088" cy="5355312"/>
          </a:xfrm>
          <a:prstGeom prst="rect">
            <a:avLst/>
          </a:prstGeom>
          <a:noFill/>
        </p:spPr>
        <p:txBody>
          <a:bodyPr wrap="square" rtlCol="0">
            <a:spAutoFit/>
          </a:bodyPr>
          <a:lstStyle/>
          <a:p>
            <a:r>
              <a:rPr lang="en-US" b="1" dirty="0"/>
              <a:t>Outlier Detection</a:t>
            </a:r>
          </a:p>
          <a:p>
            <a:r>
              <a:rPr lang="en-US" dirty="0" smtClean="0"/>
              <a:t>- Used boxplots to </a:t>
            </a:r>
            <a:r>
              <a:rPr lang="en-US" dirty="0"/>
              <a:t>identify extreme values.</a:t>
            </a:r>
          </a:p>
          <a:p>
            <a:pPr marL="285750" indent="-285750">
              <a:buFontTx/>
              <a:buChar char="-"/>
            </a:pPr>
            <a:r>
              <a:rPr lang="en-US" dirty="0" smtClean="0"/>
              <a:t>Applied </a:t>
            </a:r>
            <a:r>
              <a:rPr lang="en-US" dirty="0"/>
              <a:t>IQR method and 99th percentile checks for numeric features</a:t>
            </a:r>
            <a:r>
              <a:rPr lang="en-US" dirty="0" smtClean="0"/>
              <a:t>.</a:t>
            </a:r>
          </a:p>
          <a:p>
            <a:endParaRPr lang="en-US" dirty="0"/>
          </a:p>
          <a:p>
            <a:r>
              <a:rPr lang="en-US" b="1" dirty="0"/>
              <a:t>Outliers Found</a:t>
            </a:r>
          </a:p>
          <a:p>
            <a:r>
              <a:rPr lang="en-US" dirty="0" smtClean="0"/>
              <a:t>- Very </a:t>
            </a:r>
            <a:r>
              <a:rPr lang="en-US" dirty="0"/>
              <a:t>large </a:t>
            </a:r>
            <a:r>
              <a:rPr lang="en-US" dirty="0" err="1"/>
              <a:t>LotArea</a:t>
            </a:r>
            <a:r>
              <a:rPr lang="en-US" dirty="0"/>
              <a:t>, BsmtFinSF1, </a:t>
            </a:r>
            <a:r>
              <a:rPr lang="en-US" dirty="0" err="1"/>
              <a:t>BsmtUnfSF</a:t>
            </a:r>
            <a:r>
              <a:rPr lang="en-US" dirty="0"/>
              <a:t>, </a:t>
            </a:r>
            <a:r>
              <a:rPr lang="en-US" dirty="0" err="1"/>
              <a:t>TotalBsmtSF</a:t>
            </a:r>
            <a:r>
              <a:rPr lang="en-US" dirty="0"/>
              <a:t>, 1stFlrSF, </a:t>
            </a:r>
            <a:r>
              <a:rPr lang="en-US" dirty="0" err="1"/>
              <a:t>GrLivArea</a:t>
            </a:r>
            <a:r>
              <a:rPr lang="en-US" dirty="0"/>
              <a:t>, </a:t>
            </a:r>
            <a:r>
              <a:rPr lang="en-US" dirty="0" err="1"/>
              <a:t>GarageArea</a:t>
            </a:r>
            <a:r>
              <a:rPr lang="en-US" dirty="0"/>
              <a:t>, </a:t>
            </a:r>
            <a:r>
              <a:rPr lang="en-US" dirty="0" err="1"/>
              <a:t>TotalSF</a:t>
            </a:r>
            <a:r>
              <a:rPr lang="en-US" dirty="0"/>
              <a:t>, </a:t>
            </a:r>
            <a:r>
              <a:rPr lang="en-US" dirty="0" err="1"/>
              <a:t>WoodDeckSF</a:t>
            </a:r>
            <a:r>
              <a:rPr lang="en-US" dirty="0"/>
              <a:t>, </a:t>
            </a:r>
            <a:r>
              <a:rPr lang="en-US" dirty="0" err="1"/>
              <a:t>OpenPorchSF</a:t>
            </a:r>
            <a:r>
              <a:rPr lang="en-US" dirty="0"/>
              <a:t>, </a:t>
            </a:r>
            <a:r>
              <a:rPr lang="en-US" dirty="0" err="1"/>
              <a:t>MasVnrArea</a:t>
            </a:r>
            <a:r>
              <a:rPr lang="en-US" dirty="0"/>
              <a:t>, BsmtFinSF2.</a:t>
            </a:r>
          </a:p>
          <a:p>
            <a:pPr marL="285750" indent="-285750">
              <a:buFontTx/>
              <a:buChar char="-"/>
            </a:pPr>
            <a:r>
              <a:rPr lang="en-US" dirty="0" smtClean="0"/>
              <a:t>A </a:t>
            </a:r>
            <a:r>
              <a:rPr lang="en-US" dirty="0"/>
              <a:t>few properties with unrealistic combinations </a:t>
            </a:r>
            <a:r>
              <a:rPr lang="en-US" dirty="0" smtClean="0"/>
              <a:t>(</a:t>
            </a:r>
            <a:r>
              <a:rPr lang="en-US" dirty="0"/>
              <a:t>large size but very low price</a:t>
            </a:r>
            <a:r>
              <a:rPr lang="en-US" dirty="0" smtClean="0"/>
              <a:t>).</a:t>
            </a:r>
          </a:p>
          <a:p>
            <a:endParaRPr lang="en-US" dirty="0"/>
          </a:p>
          <a:p>
            <a:r>
              <a:rPr lang="en-US" b="1" dirty="0"/>
              <a:t>Treatment</a:t>
            </a:r>
          </a:p>
          <a:p>
            <a:r>
              <a:rPr lang="en-US" b="1" dirty="0" smtClean="0"/>
              <a:t>1. Removed </a:t>
            </a:r>
            <a:r>
              <a:rPr lang="en-US" b="1" dirty="0"/>
              <a:t>extreme unrealistic cases</a:t>
            </a:r>
            <a:endParaRPr lang="en-US" dirty="0"/>
          </a:p>
          <a:p>
            <a:r>
              <a:rPr lang="en-US" dirty="0"/>
              <a:t>Houses with </a:t>
            </a:r>
            <a:r>
              <a:rPr lang="en-US" dirty="0" err="1"/>
              <a:t>GrLivArea</a:t>
            </a:r>
            <a:r>
              <a:rPr lang="en-US" dirty="0"/>
              <a:t> &gt; 4500 but </a:t>
            </a:r>
            <a:r>
              <a:rPr lang="en-US" dirty="0" err="1"/>
              <a:t>SalePrice</a:t>
            </a:r>
            <a:r>
              <a:rPr lang="en-US" dirty="0"/>
              <a:t> &lt; </a:t>
            </a:r>
            <a:r>
              <a:rPr lang="en-US" dirty="0" smtClean="0"/>
              <a:t>700,000</a:t>
            </a:r>
            <a:endParaRPr lang="en-US" dirty="0"/>
          </a:p>
          <a:p>
            <a:r>
              <a:rPr lang="en-US" b="1" dirty="0" smtClean="0"/>
              <a:t>2. IQR-Based </a:t>
            </a:r>
            <a:r>
              <a:rPr lang="en-US" b="1" dirty="0"/>
              <a:t>Outlier Removal</a:t>
            </a:r>
            <a:r>
              <a:rPr lang="en-US" dirty="0"/>
              <a:t/>
            </a:r>
            <a:br>
              <a:rPr lang="en-US" dirty="0"/>
            </a:br>
            <a:r>
              <a:rPr lang="en-US" dirty="0"/>
              <a:t>Applied the 1.5 × IQR rule to main size-related features:</a:t>
            </a:r>
          </a:p>
          <a:p>
            <a:r>
              <a:rPr lang="en-US" dirty="0" err="1"/>
              <a:t>LotArea</a:t>
            </a:r>
            <a:r>
              <a:rPr lang="en-US" dirty="0"/>
              <a:t>, BsmtFinSF1, </a:t>
            </a:r>
            <a:r>
              <a:rPr lang="en-US" dirty="0" err="1"/>
              <a:t>BsmtUnfSF</a:t>
            </a:r>
            <a:r>
              <a:rPr lang="en-US" dirty="0"/>
              <a:t>, </a:t>
            </a:r>
            <a:r>
              <a:rPr lang="en-US" dirty="0" err="1"/>
              <a:t>TotalBsmtSF</a:t>
            </a:r>
            <a:endParaRPr lang="en-US" dirty="0"/>
          </a:p>
          <a:p>
            <a:r>
              <a:rPr lang="en-US" dirty="0"/>
              <a:t>1stFlrSF, </a:t>
            </a:r>
            <a:r>
              <a:rPr lang="en-US" dirty="0" err="1"/>
              <a:t>GrLivArea</a:t>
            </a:r>
            <a:r>
              <a:rPr lang="en-US" dirty="0"/>
              <a:t>, </a:t>
            </a:r>
            <a:r>
              <a:rPr lang="en-US" dirty="0" err="1"/>
              <a:t>GarageArea</a:t>
            </a:r>
            <a:r>
              <a:rPr lang="en-US" dirty="0"/>
              <a:t>, </a:t>
            </a:r>
            <a:r>
              <a:rPr lang="en-US" dirty="0" err="1"/>
              <a:t>TotalSF</a:t>
            </a:r>
            <a:r>
              <a:rPr lang="en-US" dirty="0"/>
              <a:t/>
            </a:r>
            <a:br>
              <a:rPr lang="en-US" dirty="0"/>
            </a:br>
            <a:r>
              <a:rPr lang="en-US" dirty="0"/>
              <a:t>This removed extreme values while preserving typical variation.</a:t>
            </a:r>
          </a:p>
          <a:p>
            <a:r>
              <a:rPr lang="en-US" b="1" dirty="0" smtClean="0"/>
              <a:t>3. </a:t>
            </a:r>
            <a:r>
              <a:rPr lang="en-US" b="1" dirty="0" err="1" smtClean="0"/>
              <a:t>Winsorization</a:t>
            </a:r>
            <a:r>
              <a:rPr lang="en-US" b="1" dirty="0" smtClean="0"/>
              <a:t> </a:t>
            </a:r>
            <a:r>
              <a:rPr lang="en-US" b="1" dirty="0"/>
              <a:t>(Capping)</a:t>
            </a:r>
            <a:r>
              <a:rPr lang="en-US" dirty="0"/>
              <a:t/>
            </a:r>
            <a:br>
              <a:rPr lang="en-US" dirty="0"/>
            </a:br>
            <a:r>
              <a:rPr lang="en-US" dirty="0"/>
              <a:t>For highly skewed features with many zeros, only the top 1% were capped</a:t>
            </a:r>
          </a:p>
        </p:txBody>
      </p:sp>
    </p:spTree>
    <p:extLst>
      <p:ext uri="{BB962C8B-B14F-4D97-AF65-F5344CB8AC3E}">
        <p14:creationId xmlns:p14="http://schemas.microsoft.com/office/powerpoint/2010/main" val="3182089114"/>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Target </a:t>
            </a:r>
            <a:r>
              <a:rPr lang="en-US" b="1" dirty="0" smtClean="0"/>
              <a:t>Distribution </a:t>
            </a:r>
            <a:r>
              <a:rPr lang="en-US" b="1" dirty="0"/>
              <a:t>Analysis</a:t>
            </a:r>
          </a:p>
        </p:txBody>
      </p:sp>
      <p:sp>
        <p:nvSpPr>
          <p:cNvPr id="4" name="TextBox 3"/>
          <p:cNvSpPr txBox="1"/>
          <p:nvPr/>
        </p:nvSpPr>
        <p:spPr>
          <a:xfrm>
            <a:off x="7050157" y="1728289"/>
            <a:ext cx="4638260" cy="1754326"/>
          </a:xfrm>
          <a:prstGeom prst="rect">
            <a:avLst/>
          </a:prstGeom>
          <a:noFill/>
        </p:spPr>
        <p:txBody>
          <a:bodyPr wrap="square" rtlCol="0">
            <a:spAutoFit/>
          </a:bodyPr>
          <a:lstStyle/>
          <a:p>
            <a:r>
              <a:rPr lang="en-US" b="1" dirty="0"/>
              <a:t>Target Variable: </a:t>
            </a:r>
            <a:r>
              <a:rPr lang="en-US" b="1" dirty="0" err="1"/>
              <a:t>SalePrice</a:t>
            </a:r>
            <a:endParaRPr lang="en-US" b="1" dirty="0"/>
          </a:p>
          <a:p>
            <a:r>
              <a:rPr lang="en-US" dirty="0"/>
              <a:t>Highly right-skewed distribution.</a:t>
            </a:r>
          </a:p>
          <a:p>
            <a:r>
              <a:rPr lang="en-US" dirty="0"/>
              <a:t>Log transformation (log1p) applied to stabilize variance and improve model performance.</a:t>
            </a:r>
          </a:p>
          <a:p>
            <a:endParaRPr lang="en-US" b="1" dirty="0" smtClean="0"/>
          </a:p>
        </p:txBody>
      </p:sp>
      <p:pic>
        <p:nvPicPr>
          <p:cNvPr id="7" name="Picture 6"/>
          <p:cNvPicPr>
            <a:picLocks noChangeAspect="1"/>
          </p:cNvPicPr>
          <p:nvPr/>
        </p:nvPicPr>
        <p:blipFill>
          <a:blip r:embed="rId2"/>
          <a:stretch>
            <a:fillRect/>
          </a:stretch>
        </p:blipFill>
        <p:spPr>
          <a:xfrm>
            <a:off x="649357" y="1728289"/>
            <a:ext cx="6248031" cy="4234277"/>
          </a:xfrm>
          <a:prstGeom prst="rect">
            <a:avLst/>
          </a:prstGeom>
        </p:spPr>
      </p:pic>
    </p:spTree>
    <p:extLst>
      <p:ext uri="{BB962C8B-B14F-4D97-AF65-F5344CB8AC3E}">
        <p14:creationId xmlns:p14="http://schemas.microsoft.com/office/powerpoint/2010/main" val="3550624626"/>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Feature Distribution</a:t>
            </a:r>
            <a:endParaRPr lang="en-US" b="1" dirty="0"/>
          </a:p>
        </p:txBody>
      </p:sp>
      <p:sp>
        <p:nvSpPr>
          <p:cNvPr id="4" name="TextBox 3"/>
          <p:cNvSpPr txBox="1"/>
          <p:nvPr/>
        </p:nvSpPr>
        <p:spPr>
          <a:xfrm>
            <a:off x="521207" y="1338470"/>
            <a:ext cx="11326236" cy="3139321"/>
          </a:xfrm>
          <a:prstGeom prst="rect">
            <a:avLst/>
          </a:prstGeom>
          <a:noFill/>
        </p:spPr>
        <p:txBody>
          <a:bodyPr wrap="square" rtlCol="0">
            <a:spAutoFit/>
          </a:bodyPr>
          <a:lstStyle/>
          <a:p>
            <a:r>
              <a:rPr lang="en-US" b="1" dirty="0"/>
              <a:t>Numeric Feature Distributions</a:t>
            </a:r>
          </a:p>
          <a:p>
            <a:r>
              <a:rPr lang="en-US" dirty="0"/>
              <a:t>• Skewed structural features:</a:t>
            </a:r>
            <a:br>
              <a:rPr lang="en-US" dirty="0"/>
            </a:br>
            <a:r>
              <a:rPr lang="en-US" dirty="0"/>
              <a:t>Variables like </a:t>
            </a:r>
            <a:r>
              <a:rPr lang="en-US" dirty="0" err="1"/>
              <a:t>LotArea</a:t>
            </a:r>
            <a:r>
              <a:rPr lang="en-US" dirty="0"/>
              <a:t>, </a:t>
            </a:r>
            <a:r>
              <a:rPr lang="en-US" dirty="0" err="1"/>
              <a:t>GrLivArea</a:t>
            </a:r>
            <a:r>
              <a:rPr lang="en-US" dirty="0"/>
              <a:t>, </a:t>
            </a:r>
            <a:r>
              <a:rPr lang="en-US" dirty="0" err="1"/>
              <a:t>TotalBsmtSF</a:t>
            </a:r>
            <a:r>
              <a:rPr lang="en-US" dirty="0"/>
              <a:t>, and 1stFlrSF are strongly right-skewed. Most homes fall in moderate size ranges, with a small number of very large, high-value properties extending the tail.</a:t>
            </a:r>
          </a:p>
          <a:p>
            <a:r>
              <a:rPr lang="en-US" dirty="0"/>
              <a:t>• Near-categorical numeric ratings:</a:t>
            </a:r>
            <a:br>
              <a:rPr lang="en-US" dirty="0"/>
            </a:br>
            <a:r>
              <a:rPr lang="en-US" dirty="0"/>
              <a:t>Features such as </a:t>
            </a:r>
            <a:r>
              <a:rPr lang="en-US" dirty="0" err="1"/>
              <a:t>OverallQual</a:t>
            </a:r>
            <a:r>
              <a:rPr lang="en-US" dirty="0"/>
              <a:t>, </a:t>
            </a:r>
            <a:r>
              <a:rPr lang="en-US" dirty="0" err="1"/>
              <a:t>OverallCond</a:t>
            </a:r>
            <a:r>
              <a:rPr lang="en-US" dirty="0"/>
              <a:t>, </a:t>
            </a:r>
            <a:r>
              <a:rPr lang="en-US" dirty="0" err="1"/>
              <a:t>BedroomAbvGr</a:t>
            </a:r>
            <a:r>
              <a:rPr lang="en-US" dirty="0"/>
              <a:t> behave like discrete categories rather than continuous values, reflecting standardized scoring systems used in real estate assessments.</a:t>
            </a:r>
          </a:p>
          <a:p>
            <a:r>
              <a:rPr lang="en-US" dirty="0"/>
              <a:t>• Zero-inflated amenity features:</a:t>
            </a:r>
            <a:br>
              <a:rPr lang="en-US" dirty="0"/>
            </a:br>
            <a:r>
              <a:rPr lang="en-US" dirty="0"/>
              <a:t>Columns like </a:t>
            </a:r>
            <a:r>
              <a:rPr lang="en-US" dirty="0" err="1"/>
              <a:t>PoolArea</a:t>
            </a:r>
            <a:r>
              <a:rPr lang="en-US" dirty="0"/>
              <a:t>, </a:t>
            </a:r>
            <a:r>
              <a:rPr lang="en-US" dirty="0" err="1"/>
              <a:t>MiscVal</a:t>
            </a:r>
            <a:r>
              <a:rPr lang="en-US" dirty="0"/>
              <a:t>, 3SsnPorch, </a:t>
            </a:r>
            <a:r>
              <a:rPr lang="en-US" dirty="0" err="1"/>
              <a:t>LowQualFinSF</a:t>
            </a:r>
            <a:r>
              <a:rPr lang="en-US" dirty="0"/>
              <a:t> contain mostly zeros, indicating that these amenities are rare and may require binary encoding. To handle this, we converted these sparse numeric features into binary indicators (1 = has feature, 0 = does not have </a:t>
            </a:r>
            <a:r>
              <a:rPr lang="en-US" dirty="0" smtClean="0"/>
              <a:t>feature)</a:t>
            </a:r>
            <a:endParaRPr lang="en-US" dirty="0"/>
          </a:p>
        </p:txBody>
      </p:sp>
    </p:spTree>
    <p:extLst>
      <p:ext uri="{BB962C8B-B14F-4D97-AF65-F5344CB8AC3E}">
        <p14:creationId xmlns:p14="http://schemas.microsoft.com/office/powerpoint/2010/main" val="4010704261"/>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Feature Distribution</a:t>
            </a:r>
            <a:endParaRPr lang="en-US" dirty="0"/>
          </a:p>
        </p:txBody>
      </p:sp>
      <p:sp>
        <p:nvSpPr>
          <p:cNvPr id="4" name="TextBox 3"/>
          <p:cNvSpPr txBox="1"/>
          <p:nvPr/>
        </p:nvSpPr>
        <p:spPr>
          <a:xfrm>
            <a:off x="521207" y="1457739"/>
            <a:ext cx="11140706" cy="3693319"/>
          </a:xfrm>
          <a:prstGeom prst="rect">
            <a:avLst/>
          </a:prstGeom>
          <a:noFill/>
        </p:spPr>
        <p:txBody>
          <a:bodyPr wrap="square" rtlCol="0">
            <a:spAutoFit/>
          </a:bodyPr>
          <a:lstStyle/>
          <a:p>
            <a:r>
              <a:rPr lang="en-US" b="1" dirty="0"/>
              <a:t>Categorical Feature </a:t>
            </a:r>
            <a:r>
              <a:rPr lang="en-US" b="1" dirty="0" smtClean="0"/>
              <a:t>Distributions</a:t>
            </a:r>
          </a:p>
          <a:p>
            <a:r>
              <a:rPr lang="en-US" b="1" dirty="0" smtClean="0"/>
              <a:t>Highly </a:t>
            </a:r>
            <a:r>
              <a:rPr lang="en-US" b="1" dirty="0"/>
              <a:t>Imbalanced Categories:</a:t>
            </a:r>
            <a:r>
              <a:rPr lang="en-US" dirty="0"/>
              <a:t/>
            </a:r>
            <a:br>
              <a:rPr lang="en-US" dirty="0"/>
            </a:br>
            <a:r>
              <a:rPr lang="en-US" dirty="0"/>
              <a:t>Many features dominate with one primary category (e.g., </a:t>
            </a:r>
            <a:r>
              <a:rPr lang="en-US" dirty="0" err="1"/>
              <a:t>MSZoning</a:t>
            </a:r>
            <a:r>
              <a:rPr lang="en-US" dirty="0"/>
              <a:t> = RL, Street = Pave), reflecting typical residential development patterns</a:t>
            </a:r>
            <a:r>
              <a:rPr lang="en-US" dirty="0" smtClean="0"/>
              <a:t>.</a:t>
            </a:r>
            <a:endParaRPr lang="en-US" dirty="0"/>
          </a:p>
          <a:p>
            <a:r>
              <a:rPr lang="en-US" b="1" dirty="0"/>
              <a:t>Location Effects:</a:t>
            </a:r>
            <a:r>
              <a:rPr lang="en-US" dirty="0"/>
              <a:t/>
            </a:r>
            <a:br>
              <a:rPr lang="en-US" dirty="0"/>
            </a:br>
            <a:r>
              <a:rPr lang="en-US" dirty="0"/>
              <a:t>Neighborhood distribution varies significantly—some neighborhoods appear far more frequently, suggesting location will be a major price driver</a:t>
            </a:r>
            <a:r>
              <a:rPr lang="en-US" dirty="0" smtClean="0"/>
              <a:t>.</a:t>
            </a:r>
          </a:p>
          <a:p>
            <a:r>
              <a:rPr lang="en-US" b="1" dirty="0"/>
              <a:t>Quality Ratings Concentrated in Mid-Range:</a:t>
            </a:r>
            <a:r>
              <a:rPr lang="en-US" dirty="0"/>
              <a:t/>
            </a:r>
            <a:br>
              <a:rPr lang="en-US" dirty="0"/>
            </a:br>
            <a:r>
              <a:rPr lang="en-US" dirty="0"/>
              <a:t>Features like </a:t>
            </a:r>
            <a:r>
              <a:rPr lang="en-US" dirty="0" err="1"/>
              <a:t>KitchenQual</a:t>
            </a:r>
            <a:r>
              <a:rPr lang="en-US" dirty="0"/>
              <a:t>, </a:t>
            </a:r>
            <a:r>
              <a:rPr lang="en-US" dirty="0" err="1"/>
              <a:t>ExterQual</a:t>
            </a:r>
            <a:r>
              <a:rPr lang="en-US" dirty="0"/>
              <a:t>, </a:t>
            </a:r>
            <a:r>
              <a:rPr lang="en-US" dirty="0" err="1"/>
              <a:t>BsmtQual</a:t>
            </a:r>
            <a:r>
              <a:rPr lang="en-US" dirty="0"/>
              <a:t> show most homes rated </a:t>
            </a:r>
            <a:r>
              <a:rPr lang="en-US" i="1" dirty="0"/>
              <a:t>Average to Good</a:t>
            </a:r>
            <a:r>
              <a:rPr lang="en-US" dirty="0"/>
              <a:t>, with very few extreme ratings</a:t>
            </a:r>
            <a:r>
              <a:rPr lang="en-US" dirty="0" smtClean="0"/>
              <a:t>.</a:t>
            </a:r>
          </a:p>
          <a:p>
            <a:r>
              <a:rPr lang="en-US" b="1" dirty="0"/>
              <a:t>Sparse Amenities:</a:t>
            </a:r>
            <a:r>
              <a:rPr lang="en-US" dirty="0"/>
              <a:t/>
            </a:r>
            <a:br>
              <a:rPr lang="en-US" dirty="0"/>
            </a:br>
            <a:r>
              <a:rPr lang="en-US" dirty="0"/>
              <a:t>Features linked to luxury or uncommon amenities (Pool, Porch types, specific garage types) appear rare or zero-inflated, making them less useful in raw categorical form.</a:t>
            </a:r>
          </a:p>
        </p:txBody>
      </p:sp>
    </p:spTree>
    <p:extLst>
      <p:ext uri="{BB962C8B-B14F-4D97-AF65-F5344CB8AC3E}">
        <p14:creationId xmlns:p14="http://schemas.microsoft.com/office/powerpoint/2010/main" val="14143251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Bivariate analysis</a:t>
            </a:r>
            <a:endParaRPr lang="en-US" dirty="0"/>
          </a:p>
        </p:txBody>
      </p:sp>
      <p:sp>
        <p:nvSpPr>
          <p:cNvPr id="4" name="TextBox 3"/>
          <p:cNvSpPr txBox="1"/>
          <p:nvPr/>
        </p:nvSpPr>
        <p:spPr>
          <a:xfrm>
            <a:off x="636104" y="1391478"/>
            <a:ext cx="10986053" cy="3693319"/>
          </a:xfrm>
          <a:prstGeom prst="rect">
            <a:avLst/>
          </a:prstGeom>
          <a:noFill/>
        </p:spPr>
        <p:txBody>
          <a:bodyPr wrap="square" rtlCol="0">
            <a:spAutoFit/>
          </a:bodyPr>
          <a:lstStyle/>
          <a:p>
            <a:r>
              <a:rPr lang="en-US" b="1" dirty="0" smtClean="0"/>
              <a:t>NUMERICAL</a:t>
            </a:r>
          </a:p>
          <a:p>
            <a:r>
              <a:rPr lang="en-US" b="1" dirty="0" smtClean="0"/>
              <a:t>Strong </a:t>
            </a:r>
            <a:r>
              <a:rPr lang="en-US" b="1" dirty="0"/>
              <a:t>Positive Relationships</a:t>
            </a:r>
          </a:p>
          <a:p>
            <a:r>
              <a:rPr lang="en-US" dirty="0"/>
              <a:t>Size-related features such as </a:t>
            </a:r>
            <a:r>
              <a:rPr lang="en-US" dirty="0" err="1"/>
              <a:t>GrLivArea</a:t>
            </a:r>
            <a:r>
              <a:rPr lang="en-US" dirty="0"/>
              <a:t>, </a:t>
            </a:r>
            <a:r>
              <a:rPr lang="en-US" dirty="0" err="1"/>
              <a:t>TotalBsmtSF</a:t>
            </a:r>
            <a:r>
              <a:rPr lang="en-US" dirty="0"/>
              <a:t>, 1stFlrSF, and </a:t>
            </a:r>
            <a:r>
              <a:rPr lang="en-US" dirty="0" err="1"/>
              <a:t>GarageArea</a:t>
            </a:r>
            <a:r>
              <a:rPr lang="en-US" dirty="0"/>
              <a:t> show strong upward trends with </a:t>
            </a:r>
            <a:r>
              <a:rPr lang="en-US" dirty="0" err="1"/>
              <a:t>SalePrice</a:t>
            </a:r>
            <a:r>
              <a:rPr lang="en-US" dirty="0"/>
              <a:t>.</a:t>
            </a:r>
            <a:br>
              <a:rPr lang="en-US" dirty="0"/>
            </a:br>
            <a:r>
              <a:rPr lang="en-US" dirty="0"/>
              <a:t>→ Larger homes consistently sell for higher prices.</a:t>
            </a:r>
          </a:p>
          <a:p>
            <a:r>
              <a:rPr lang="en-US" dirty="0" err="1"/>
              <a:t>OverallQual</a:t>
            </a:r>
            <a:r>
              <a:rPr lang="en-US" dirty="0"/>
              <a:t> shows the clearest step-wise increase in price, making it the single strongest predictor of home value.</a:t>
            </a:r>
          </a:p>
          <a:p>
            <a:r>
              <a:rPr lang="en-US" b="1" dirty="0"/>
              <a:t>Moderate Positive Relationships</a:t>
            </a:r>
          </a:p>
          <a:p>
            <a:r>
              <a:rPr lang="en-US" dirty="0" err="1"/>
              <a:t>YearBuilt</a:t>
            </a:r>
            <a:r>
              <a:rPr lang="en-US" dirty="0"/>
              <a:t> and </a:t>
            </a:r>
            <a:r>
              <a:rPr lang="en-US" dirty="0" err="1"/>
              <a:t>YearRemodAdd</a:t>
            </a:r>
            <a:r>
              <a:rPr lang="en-US" dirty="0"/>
              <a:t> indicate that newer or recently renovated homes tend to be more valuable, though the effect is less pronounced than quality and size.</a:t>
            </a:r>
          </a:p>
          <a:p>
            <a:r>
              <a:rPr lang="en-US" b="1" dirty="0"/>
              <a:t>Weak or No Relationships</a:t>
            </a:r>
          </a:p>
          <a:p>
            <a:r>
              <a:rPr lang="en-US" dirty="0"/>
              <a:t>Features dominated by zeros (</a:t>
            </a:r>
            <a:r>
              <a:rPr lang="en-US" dirty="0" err="1"/>
              <a:t>PoolArea</a:t>
            </a:r>
            <a:r>
              <a:rPr lang="en-US" dirty="0"/>
              <a:t>, 3SsnPorch, </a:t>
            </a:r>
            <a:r>
              <a:rPr lang="en-US" dirty="0" err="1"/>
              <a:t>MiscVal</a:t>
            </a:r>
            <a:r>
              <a:rPr lang="en-US" dirty="0"/>
              <a:t>) show almost no correlation with </a:t>
            </a:r>
            <a:r>
              <a:rPr lang="en-US" dirty="0" err="1"/>
              <a:t>SalePrice</a:t>
            </a:r>
            <a:r>
              <a:rPr lang="en-US" dirty="0"/>
              <a:t>.</a:t>
            </a:r>
          </a:p>
          <a:p>
            <a:endParaRPr lang="en-US" dirty="0"/>
          </a:p>
        </p:txBody>
      </p:sp>
    </p:spTree>
    <p:extLst>
      <p:ext uri="{BB962C8B-B14F-4D97-AF65-F5344CB8AC3E}">
        <p14:creationId xmlns:p14="http://schemas.microsoft.com/office/powerpoint/2010/main" val="8203660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Bivariate analysis</a:t>
            </a:r>
          </a:p>
        </p:txBody>
      </p:sp>
      <p:sp>
        <p:nvSpPr>
          <p:cNvPr id="4" name="TextBox 3"/>
          <p:cNvSpPr txBox="1"/>
          <p:nvPr/>
        </p:nvSpPr>
        <p:spPr>
          <a:xfrm>
            <a:off x="521207" y="1417983"/>
            <a:ext cx="11246723" cy="3416320"/>
          </a:xfrm>
          <a:prstGeom prst="rect">
            <a:avLst/>
          </a:prstGeom>
          <a:noFill/>
        </p:spPr>
        <p:txBody>
          <a:bodyPr wrap="square" rtlCol="0">
            <a:spAutoFit/>
          </a:bodyPr>
          <a:lstStyle/>
          <a:p>
            <a:r>
              <a:rPr lang="en-US" b="1" dirty="0" smtClean="0"/>
              <a:t>CATEGORICAL</a:t>
            </a:r>
          </a:p>
          <a:p>
            <a:r>
              <a:rPr lang="en-US" b="1" dirty="0" smtClean="0"/>
              <a:t>Location </a:t>
            </a:r>
            <a:r>
              <a:rPr lang="en-US" b="1" dirty="0"/>
              <a:t>Effects</a:t>
            </a:r>
          </a:p>
          <a:p>
            <a:r>
              <a:rPr lang="en-US" b="1" dirty="0"/>
              <a:t>Neighborhood</a:t>
            </a:r>
            <a:r>
              <a:rPr lang="en-US" dirty="0"/>
              <a:t> is one of the strongest categorical predictors of </a:t>
            </a:r>
            <a:r>
              <a:rPr lang="en-US" dirty="0" err="1"/>
              <a:t>SalePrice</a:t>
            </a:r>
            <a:r>
              <a:rPr lang="en-US" dirty="0"/>
              <a:t>.</a:t>
            </a:r>
          </a:p>
          <a:p>
            <a:pPr lvl="1"/>
            <a:r>
              <a:rPr lang="en-US" dirty="0"/>
              <a:t>High-value areas: </a:t>
            </a:r>
            <a:r>
              <a:rPr lang="en-US" dirty="0" err="1"/>
              <a:t>StoneBr</a:t>
            </a:r>
            <a:r>
              <a:rPr lang="en-US" dirty="0"/>
              <a:t>, </a:t>
            </a:r>
            <a:r>
              <a:rPr lang="en-US" dirty="0" err="1"/>
              <a:t>NridgHt</a:t>
            </a:r>
            <a:r>
              <a:rPr lang="en-US" dirty="0"/>
              <a:t>, </a:t>
            </a:r>
            <a:r>
              <a:rPr lang="en-US" dirty="0" err="1"/>
              <a:t>NoRidge</a:t>
            </a:r>
            <a:endParaRPr lang="en-US" dirty="0"/>
          </a:p>
          <a:p>
            <a:pPr lvl="1"/>
            <a:r>
              <a:rPr lang="en-US" dirty="0"/>
              <a:t>Lower-value areas: </a:t>
            </a:r>
            <a:r>
              <a:rPr lang="en-US" dirty="0" err="1"/>
              <a:t>MeadowV</a:t>
            </a:r>
            <a:r>
              <a:rPr lang="en-US" dirty="0"/>
              <a:t>, </a:t>
            </a:r>
            <a:r>
              <a:rPr lang="en-US" dirty="0" smtClean="0"/>
              <a:t>IDOTRR</a:t>
            </a:r>
          </a:p>
          <a:p>
            <a:r>
              <a:rPr lang="en-US" b="1" dirty="0" smtClean="0"/>
              <a:t>Quality-Driven Patterns</a:t>
            </a:r>
          </a:p>
          <a:p>
            <a:r>
              <a:rPr lang="en-US" dirty="0" smtClean="0"/>
              <a:t>Higher </a:t>
            </a:r>
            <a:r>
              <a:rPr lang="en-US" dirty="0"/>
              <a:t>ratings of </a:t>
            </a:r>
            <a:r>
              <a:rPr lang="en-US" dirty="0" err="1"/>
              <a:t>KitchenQual</a:t>
            </a:r>
            <a:r>
              <a:rPr lang="en-US" dirty="0"/>
              <a:t>, </a:t>
            </a:r>
            <a:r>
              <a:rPr lang="en-US" dirty="0" err="1"/>
              <a:t>ExterQual</a:t>
            </a:r>
            <a:r>
              <a:rPr lang="en-US" dirty="0"/>
              <a:t>, </a:t>
            </a:r>
            <a:r>
              <a:rPr lang="en-US" dirty="0" err="1"/>
              <a:t>BsmtQual</a:t>
            </a:r>
            <a:r>
              <a:rPr lang="en-US" dirty="0"/>
              <a:t>, </a:t>
            </a:r>
            <a:r>
              <a:rPr lang="en-US" dirty="0" err="1"/>
              <a:t>GarageQual</a:t>
            </a:r>
            <a:r>
              <a:rPr lang="en-US" dirty="0"/>
              <a:t> show consistently higher sale prices.</a:t>
            </a:r>
          </a:p>
          <a:p>
            <a:r>
              <a:rPr lang="en-US" dirty="0"/>
              <a:t>Confirms that material quality and finish levels strongly influence home value.</a:t>
            </a:r>
          </a:p>
          <a:p>
            <a:r>
              <a:rPr lang="en-US" b="1" dirty="0"/>
              <a:t>Low-Value Predictors</a:t>
            </a:r>
          </a:p>
          <a:p>
            <a:r>
              <a:rPr lang="en-US" dirty="0"/>
              <a:t>Some features show little variation because nearly all homes fall into the same category:</a:t>
            </a:r>
            <a:br>
              <a:rPr lang="en-US" dirty="0"/>
            </a:br>
            <a:r>
              <a:rPr lang="en-US" dirty="0"/>
              <a:t>Utilities, Street → minimal predictive power.</a:t>
            </a:r>
          </a:p>
          <a:p>
            <a:r>
              <a:rPr lang="en-US" dirty="0"/>
              <a:t>Others such as </a:t>
            </a:r>
            <a:r>
              <a:rPr lang="en-US" dirty="0" err="1"/>
              <a:t>RoofStyle</a:t>
            </a:r>
            <a:r>
              <a:rPr lang="en-US" dirty="0"/>
              <a:t>, Heating, Functional show weak differentiation and limited impact</a:t>
            </a:r>
            <a:r>
              <a:rPr lang="en-US" dirty="0" smtClean="0"/>
              <a:t>.</a:t>
            </a:r>
            <a:endParaRPr lang="en-US" dirty="0"/>
          </a:p>
        </p:txBody>
      </p:sp>
    </p:spTree>
    <p:extLst>
      <p:ext uri="{BB962C8B-B14F-4D97-AF65-F5344CB8AC3E}">
        <p14:creationId xmlns:p14="http://schemas.microsoft.com/office/powerpoint/2010/main" val="35761090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Correlation matrix</a:t>
            </a:r>
            <a:endParaRPr lang="en-US" b="1" dirty="0"/>
          </a:p>
        </p:txBody>
      </p:sp>
      <p:pic>
        <p:nvPicPr>
          <p:cNvPr id="4" name="Content Placeholder 3"/>
          <p:cNvPicPr>
            <a:picLocks noGrp="1" noChangeAspect="1"/>
          </p:cNvPicPr>
          <p:nvPr>
            <p:ph sz="quarter" idx="10"/>
          </p:nvPr>
        </p:nvPicPr>
        <p:blipFill>
          <a:blip r:embed="rId2"/>
          <a:stretch>
            <a:fillRect/>
          </a:stretch>
        </p:blipFill>
        <p:spPr>
          <a:xfrm>
            <a:off x="622652" y="1408596"/>
            <a:ext cx="6775674" cy="5218113"/>
          </a:xfrm>
          <a:prstGeom prst="rect">
            <a:avLst/>
          </a:prstGeom>
        </p:spPr>
      </p:pic>
      <p:sp>
        <p:nvSpPr>
          <p:cNvPr id="5" name="TextBox 4"/>
          <p:cNvSpPr txBox="1"/>
          <p:nvPr/>
        </p:nvSpPr>
        <p:spPr>
          <a:xfrm>
            <a:off x="7580243" y="1378226"/>
            <a:ext cx="4386470" cy="2585323"/>
          </a:xfrm>
          <a:prstGeom prst="rect">
            <a:avLst/>
          </a:prstGeom>
          <a:noFill/>
        </p:spPr>
        <p:txBody>
          <a:bodyPr wrap="square" rtlCol="0">
            <a:spAutoFit/>
          </a:bodyPr>
          <a:lstStyle/>
          <a:p>
            <a:r>
              <a:rPr lang="en-US" b="1" dirty="0"/>
              <a:t>Correlation Analysis</a:t>
            </a:r>
          </a:p>
          <a:p>
            <a:r>
              <a:rPr lang="en-US" dirty="0"/>
              <a:t>Generated a full correlation </a:t>
            </a:r>
            <a:r>
              <a:rPr lang="en-US" dirty="0" err="1"/>
              <a:t>heatmap</a:t>
            </a:r>
            <a:r>
              <a:rPr lang="en-US" dirty="0"/>
              <a:t> for numerical features.</a:t>
            </a:r>
          </a:p>
          <a:p>
            <a:r>
              <a:rPr lang="en-US" dirty="0"/>
              <a:t>Strong positive correlations with </a:t>
            </a:r>
            <a:r>
              <a:rPr lang="en-US" dirty="0" err="1"/>
              <a:t>SalePrice</a:t>
            </a:r>
            <a:r>
              <a:rPr lang="en-US" dirty="0"/>
              <a:t> observed for:</a:t>
            </a:r>
            <a:br>
              <a:rPr lang="en-US" dirty="0"/>
            </a:br>
            <a:r>
              <a:rPr lang="en-US" dirty="0" err="1"/>
              <a:t>OverallQual</a:t>
            </a:r>
            <a:r>
              <a:rPr lang="en-US" dirty="0"/>
              <a:t>, </a:t>
            </a:r>
            <a:r>
              <a:rPr lang="en-US" dirty="0" err="1"/>
              <a:t>GrLivArea</a:t>
            </a:r>
            <a:r>
              <a:rPr lang="en-US" dirty="0"/>
              <a:t>, </a:t>
            </a:r>
            <a:r>
              <a:rPr lang="en-US" dirty="0" err="1"/>
              <a:t>TotalSF</a:t>
            </a:r>
            <a:r>
              <a:rPr lang="en-US" dirty="0"/>
              <a:t>, </a:t>
            </a:r>
            <a:r>
              <a:rPr lang="en-US" dirty="0" err="1"/>
              <a:t>GarageCars</a:t>
            </a:r>
            <a:r>
              <a:rPr lang="en-US" dirty="0"/>
              <a:t>, </a:t>
            </a:r>
            <a:r>
              <a:rPr lang="en-US" dirty="0" err="1"/>
              <a:t>GarageArea</a:t>
            </a:r>
            <a:r>
              <a:rPr lang="en-US" dirty="0"/>
              <a:t>, </a:t>
            </a:r>
            <a:r>
              <a:rPr lang="en-US" dirty="0" err="1"/>
              <a:t>TotalBsmtSF</a:t>
            </a:r>
            <a:r>
              <a:rPr lang="en-US" dirty="0"/>
              <a:t>.</a:t>
            </a:r>
          </a:p>
          <a:p>
            <a:r>
              <a:rPr lang="en-US" dirty="0"/>
              <a:t>Negative correlations seen for </a:t>
            </a:r>
            <a:r>
              <a:rPr lang="en-US" dirty="0" err="1"/>
              <a:t>HouseAge</a:t>
            </a:r>
            <a:r>
              <a:rPr lang="en-US" dirty="0"/>
              <a:t> and </a:t>
            </a:r>
            <a:r>
              <a:rPr lang="en-US" dirty="0" err="1"/>
              <a:t>OverallCond</a:t>
            </a:r>
            <a:r>
              <a:rPr lang="en-US" dirty="0" smtClean="0"/>
              <a:t>.</a:t>
            </a:r>
            <a:endParaRPr lang="en-US" dirty="0"/>
          </a:p>
        </p:txBody>
      </p:sp>
    </p:spTree>
    <p:extLst>
      <p:ext uri="{BB962C8B-B14F-4D97-AF65-F5344CB8AC3E}">
        <p14:creationId xmlns:p14="http://schemas.microsoft.com/office/powerpoint/2010/main" val="138999179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Multivariate Analysis &amp; </a:t>
            </a:r>
            <a:r>
              <a:rPr lang="en-US" b="1" dirty="0" err="1"/>
              <a:t>Multicollinearity</a:t>
            </a:r>
            <a:endParaRPr lang="en-US" dirty="0"/>
          </a:p>
        </p:txBody>
      </p:sp>
      <p:pic>
        <p:nvPicPr>
          <p:cNvPr id="4" name="Content Placeholder 3"/>
          <p:cNvPicPr>
            <a:picLocks noGrp="1" noChangeAspect="1"/>
          </p:cNvPicPr>
          <p:nvPr>
            <p:ph sz="quarter" idx="10"/>
          </p:nvPr>
        </p:nvPicPr>
        <p:blipFill>
          <a:blip r:embed="rId2"/>
          <a:stretch>
            <a:fillRect/>
          </a:stretch>
        </p:blipFill>
        <p:spPr>
          <a:xfrm>
            <a:off x="627768" y="1435100"/>
            <a:ext cx="5141742" cy="5322888"/>
          </a:xfrm>
          <a:prstGeom prst="rect">
            <a:avLst/>
          </a:prstGeom>
        </p:spPr>
      </p:pic>
      <p:sp>
        <p:nvSpPr>
          <p:cNvPr id="5" name="TextBox 4"/>
          <p:cNvSpPr txBox="1"/>
          <p:nvPr/>
        </p:nvSpPr>
        <p:spPr>
          <a:xfrm>
            <a:off x="5936974" y="1404730"/>
            <a:ext cx="5976730" cy="4801314"/>
          </a:xfrm>
          <a:prstGeom prst="rect">
            <a:avLst/>
          </a:prstGeom>
          <a:noFill/>
        </p:spPr>
        <p:txBody>
          <a:bodyPr wrap="square" rtlCol="0">
            <a:spAutoFit/>
          </a:bodyPr>
          <a:lstStyle/>
          <a:p>
            <a:r>
              <a:rPr lang="en-US" b="1"/>
              <a:t>Multivariate Analysis</a:t>
            </a:r>
          </a:p>
          <a:p>
            <a:r>
              <a:rPr lang="en-US"/>
              <a:t>Scatterplots and pairplots used to explore interactions:</a:t>
            </a:r>
          </a:p>
          <a:p>
            <a:pPr lvl="1"/>
            <a:r>
              <a:rPr lang="en-US"/>
              <a:t>Quality × Size relationships strongly boosted price.</a:t>
            </a:r>
          </a:p>
          <a:p>
            <a:pPr lvl="1"/>
            <a:r>
              <a:rPr lang="en-US"/>
              <a:t>Neighborhood × Size showed clear price clusters.</a:t>
            </a:r>
          </a:p>
          <a:p>
            <a:pPr lvl="1"/>
            <a:r>
              <a:rPr lang="en-US"/>
              <a:t>TotalSF vs SalePrice revealed near-linear relationship (after log-transform).</a:t>
            </a:r>
          </a:p>
          <a:p>
            <a:endParaRPr lang="en-US" b="1"/>
          </a:p>
          <a:p>
            <a:r>
              <a:rPr lang="en-US" b="1"/>
              <a:t>Multicollinearity Handling</a:t>
            </a:r>
          </a:p>
          <a:p>
            <a:r>
              <a:rPr lang="en-US"/>
              <a:t>Variance Inflation Factors (VIF) and correlation thresholding identified redundancies.</a:t>
            </a:r>
          </a:p>
          <a:p>
            <a:r>
              <a:rPr lang="en-US"/>
              <a:t>Highly collinear features combined into engineered features:</a:t>
            </a:r>
          </a:p>
          <a:p>
            <a:pPr lvl="1"/>
            <a:r>
              <a:rPr lang="en-US"/>
              <a:t>TotalSF (from 3 separate floor/basement area features)</a:t>
            </a:r>
          </a:p>
          <a:p>
            <a:pPr lvl="1"/>
            <a:r>
              <a:rPr lang="en-US"/>
              <a:t>TotalBathrooms (standardized aggregation)</a:t>
            </a:r>
          </a:p>
          <a:p>
            <a:pPr lvl="1"/>
            <a:r>
              <a:rPr lang="en-US"/>
              <a:t>OverallQualArea (quality × size interaction)</a:t>
            </a:r>
          </a:p>
          <a:p>
            <a:r>
              <a:rPr lang="en-US"/>
              <a:t>Reduced model instability and improved generalization.</a:t>
            </a:r>
            <a:endParaRPr lang="en-US" dirty="0"/>
          </a:p>
        </p:txBody>
      </p:sp>
    </p:spTree>
    <p:extLst>
      <p:ext uri="{BB962C8B-B14F-4D97-AF65-F5344CB8AC3E}">
        <p14:creationId xmlns:p14="http://schemas.microsoft.com/office/powerpoint/2010/main" val="3570073361"/>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Encoding</a:t>
            </a:r>
          </a:p>
        </p:txBody>
      </p:sp>
      <p:sp>
        <p:nvSpPr>
          <p:cNvPr id="4" name="TextBox 3"/>
          <p:cNvSpPr txBox="1"/>
          <p:nvPr/>
        </p:nvSpPr>
        <p:spPr>
          <a:xfrm>
            <a:off x="622852" y="1497496"/>
            <a:ext cx="10853531" cy="3139321"/>
          </a:xfrm>
          <a:prstGeom prst="rect">
            <a:avLst/>
          </a:prstGeom>
          <a:noFill/>
        </p:spPr>
        <p:txBody>
          <a:bodyPr wrap="square" rtlCol="0">
            <a:spAutoFit/>
          </a:bodyPr>
          <a:lstStyle/>
          <a:p>
            <a:r>
              <a:rPr lang="en-US" b="1" dirty="0"/>
              <a:t>1. Ordinal Encoding</a:t>
            </a:r>
          </a:p>
          <a:p>
            <a:r>
              <a:rPr lang="en-US" dirty="0"/>
              <a:t>Applied to ordered quality/condition features:</a:t>
            </a:r>
            <a:br>
              <a:rPr lang="en-US" dirty="0"/>
            </a:br>
            <a:r>
              <a:rPr lang="en-US" dirty="0" err="1"/>
              <a:t>ExterQual</a:t>
            </a:r>
            <a:r>
              <a:rPr lang="en-US" dirty="0"/>
              <a:t>, </a:t>
            </a:r>
            <a:r>
              <a:rPr lang="en-US" dirty="0" err="1"/>
              <a:t>ExterCond</a:t>
            </a:r>
            <a:r>
              <a:rPr lang="en-US" dirty="0"/>
              <a:t>, </a:t>
            </a:r>
            <a:r>
              <a:rPr lang="en-US" dirty="0" err="1"/>
              <a:t>BsmtQual</a:t>
            </a:r>
            <a:r>
              <a:rPr lang="en-US" dirty="0"/>
              <a:t>, </a:t>
            </a:r>
            <a:r>
              <a:rPr lang="en-US" dirty="0" err="1"/>
              <a:t>BsmtCond</a:t>
            </a:r>
            <a:r>
              <a:rPr lang="en-US" dirty="0"/>
              <a:t>, </a:t>
            </a:r>
            <a:r>
              <a:rPr lang="en-US" dirty="0" err="1"/>
              <a:t>HeatingQC</a:t>
            </a:r>
            <a:r>
              <a:rPr lang="en-US" dirty="0"/>
              <a:t>, </a:t>
            </a:r>
            <a:r>
              <a:rPr lang="en-US" dirty="0" err="1"/>
              <a:t>KitchenQual</a:t>
            </a:r>
            <a:r>
              <a:rPr lang="en-US" dirty="0"/>
              <a:t>, </a:t>
            </a:r>
            <a:r>
              <a:rPr lang="en-US" dirty="0" err="1"/>
              <a:t>FireplaceQu</a:t>
            </a:r>
            <a:r>
              <a:rPr lang="en-US" dirty="0"/>
              <a:t>, </a:t>
            </a:r>
            <a:r>
              <a:rPr lang="en-US" dirty="0" err="1"/>
              <a:t>GarageQual</a:t>
            </a:r>
            <a:r>
              <a:rPr lang="en-US" dirty="0"/>
              <a:t>, </a:t>
            </a:r>
            <a:r>
              <a:rPr lang="en-US" dirty="0" err="1"/>
              <a:t>GarageCond</a:t>
            </a:r>
            <a:r>
              <a:rPr lang="en-US" dirty="0"/>
              <a:t>, etc.</a:t>
            </a:r>
          </a:p>
          <a:p>
            <a:r>
              <a:rPr lang="en-US" dirty="0"/>
              <a:t>Mapping Example: Ex &gt; </a:t>
            </a:r>
            <a:r>
              <a:rPr lang="en-US" dirty="0" err="1"/>
              <a:t>Gd</a:t>
            </a:r>
            <a:r>
              <a:rPr lang="en-US" dirty="0"/>
              <a:t> &gt; TA &gt; Fa &gt; Po</a:t>
            </a:r>
            <a:br>
              <a:rPr lang="en-US" dirty="0"/>
            </a:br>
            <a:r>
              <a:rPr lang="en-US" dirty="0"/>
              <a:t>(5 → 1 scale)</a:t>
            </a:r>
          </a:p>
          <a:p>
            <a:endParaRPr lang="en-US" dirty="0" smtClean="0"/>
          </a:p>
          <a:p>
            <a:r>
              <a:rPr lang="en-US" b="1" dirty="0"/>
              <a:t>2. One-Hot Encoding</a:t>
            </a:r>
          </a:p>
          <a:p>
            <a:r>
              <a:rPr lang="en-US" dirty="0"/>
              <a:t>Used for non-ordered categorical features:</a:t>
            </a:r>
            <a:br>
              <a:rPr lang="en-US" dirty="0"/>
            </a:br>
            <a:r>
              <a:rPr lang="en-US" dirty="0"/>
              <a:t>Neighborhood, </a:t>
            </a:r>
            <a:r>
              <a:rPr lang="en-US" dirty="0" err="1"/>
              <a:t>MSZoning</a:t>
            </a:r>
            <a:r>
              <a:rPr lang="en-US" dirty="0"/>
              <a:t>, </a:t>
            </a:r>
            <a:r>
              <a:rPr lang="en-US" dirty="0" err="1"/>
              <a:t>HouseStyle</a:t>
            </a:r>
            <a:r>
              <a:rPr lang="en-US" dirty="0"/>
              <a:t>, </a:t>
            </a:r>
            <a:r>
              <a:rPr lang="en-US" dirty="0" err="1"/>
              <a:t>RoofStyle</a:t>
            </a:r>
            <a:r>
              <a:rPr lang="en-US" dirty="0"/>
              <a:t>, Exterior1st/2nd, Foundation, </a:t>
            </a:r>
            <a:r>
              <a:rPr lang="en-US" dirty="0" err="1"/>
              <a:t>GarageType</a:t>
            </a:r>
            <a:r>
              <a:rPr lang="en-US" dirty="0"/>
              <a:t>, </a:t>
            </a:r>
            <a:r>
              <a:rPr lang="en-US" dirty="0" err="1"/>
              <a:t>SaleType</a:t>
            </a:r>
            <a:r>
              <a:rPr lang="en-US" dirty="0"/>
              <a:t>, </a:t>
            </a:r>
            <a:r>
              <a:rPr lang="en-US" dirty="0" err="1"/>
              <a:t>SaleCondition</a:t>
            </a:r>
            <a:r>
              <a:rPr lang="en-US" dirty="0"/>
              <a:t>, etc</a:t>
            </a:r>
            <a:r>
              <a:rPr lang="en-US" dirty="0" smtClean="0"/>
              <a:t>.</a:t>
            </a:r>
            <a:endParaRPr lang="en-US" dirty="0"/>
          </a:p>
        </p:txBody>
      </p:sp>
    </p:spTree>
    <p:extLst>
      <p:ext uri="{BB962C8B-B14F-4D97-AF65-F5344CB8AC3E}">
        <p14:creationId xmlns:p14="http://schemas.microsoft.com/office/powerpoint/2010/main" val="55568551"/>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dirty="0" smtClean="0"/>
              <a:t>Feature engineering and </a:t>
            </a:r>
            <a:r>
              <a:rPr lang="en-US" b="1" dirty="0"/>
              <a:t>Feature </a:t>
            </a:r>
            <a:r>
              <a:rPr lang="en-US" b="1" dirty="0" smtClean="0"/>
              <a:t>Selection</a:t>
            </a:r>
            <a:endParaRPr lang="en-US" b="1" dirty="0"/>
          </a:p>
        </p:txBody>
      </p:sp>
      <p:sp>
        <p:nvSpPr>
          <p:cNvPr id="4" name="TextBox 3"/>
          <p:cNvSpPr txBox="1"/>
          <p:nvPr/>
        </p:nvSpPr>
        <p:spPr>
          <a:xfrm>
            <a:off x="622852" y="1404730"/>
            <a:ext cx="10906539" cy="4801314"/>
          </a:xfrm>
          <a:prstGeom prst="rect">
            <a:avLst/>
          </a:prstGeom>
          <a:noFill/>
        </p:spPr>
        <p:txBody>
          <a:bodyPr wrap="square" rtlCol="0">
            <a:spAutoFit/>
          </a:bodyPr>
          <a:lstStyle/>
          <a:p>
            <a:r>
              <a:rPr lang="en-US" b="1" dirty="0" smtClean="0"/>
              <a:t>Feature Engineering</a:t>
            </a:r>
          </a:p>
          <a:p>
            <a:pPr marL="342900" indent="-342900">
              <a:buAutoNum type="arabicPeriod"/>
            </a:pPr>
            <a:r>
              <a:rPr lang="en-US" dirty="0" smtClean="0"/>
              <a:t>Total </a:t>
            </a:r>
            <a:r>
              <a:rPr lang="en-US" dirty="0"/>
              <a:t>Living Area- </a:t>
            </a:r>
            <a:r>
              <a:rPr lang="en-US" dirty="0" err="1"/>
              <a:t>TotalSF</a:t>
            </a:r>
            <a:r>
              <a:rPr lang="en-US" dirty="0"/>
              <a:t> = </a:t>
            </a:r>
            <a:r>
              <a:rPr lang="en-US" dirty="0" err="1"/>
              <a:t>TotalBsmtSF</a:t>
            </a:r>
            <a:r>
              <a:rPr lang="en-US" dirty="0"/>
              <a:t> + 1stFlrSF + </a:t>
            </a:r>
            <a:r>
              <a:rPr lang="en-US" dirty="0" smtClean="0"/>
              <a:t>2ndFlrSF</a:t>
            </a:r>
          </a:p>
          <a:p>
            <a:pPr marL="285750" indent="-285750">
              <a:buFontTx/>
              <a:buChar char="-"/>
            </a:pPr>
            <a:r>
              <a:rPr lang="en-US" dirty="0" smtClean="0"/>
              <a:t>Strongest </a:t>
            </a:r>
            <a:r>
              <a:rPr lang="en-US" dirty="0"/>
              <a:t>size-related predictor of price</a:t>
            </a:r>
            <a:r>
              <a:rPr lang="en-US" dirty="0" smtClean="0"/>
              <a:t>.</a:t>
            </a:r>
          </a:p>
          <a:p>
            <a:r>
              <a:rPr lang="en-US" dirty="0"/>
              <a:t>2. Total Bathrooms- </a:t>
            </a:r>
            <a:r>
              <a:rPr lang="en-US" dirty="0" err="1"/>
              <a:t>Total_Bathrooms</a:t>
            </a:r>
            <a:r>
              <a:rPr lang="en-US" dirty="0"/>
              <a:t> = </a:t>
            </a:r>
            <a:r>
              <a:rPr lang="en-US" dirty="0" err="1"/>
              <a:t>FullBath</a:t>
            </a:r>
            <a:r>
              <a:rPr lang="en-US" dirty="0"/>
              <a:t> + 0.5*</a:t>
            </a:r>
            <a:r>
              <a:rPr lang="en-US" dirty="0" err="1"/>
              <a:t>HalfBath</a:t>
            </a:r>
            <a:r>
              <a:rPr lang="en-US" dirty="0"/>
              <a:t> + </a:t>
            </a:r>
            <a:r>
              <a:rPr lang="en-US" dirty="0" err="1"/>
              <a:t>BsmtFullBath</a:t>
            </a:r>
            <a:r>
              <a:rPr lang="en-US" dirty="0"/>
              <a:t> + </a:t>
            </a:r>
            <a:r>
              <a:rPr lang="en-US" dirty="0" smtClean="0"/>
              <a:t>0.5*</a:t>
            </a:r>
            <a:r>
              <a:rPr lang="en-US" dirty="0" err="1" smtClean="0"/>
              <a:t>BsmtHalfBath</a:t>
            </a:r>
            <a:endParaRPr lang="en-US" b="1" dirty="0" smtClean="0"/>
          </a:p>
          <a:p>
            <a:pPr marL="285750" indent="-285750">
              <a:buFontTx/>
              <a:buChar char="-"/>
            </a:pPr>
            <a:r>
              <a:rPr lang="en-US" dirty="0" smtClean="0"/>
              <a:t>Combines </a:t>
            </a:r>
            <a:r>
              <a:rPr lang="en-US" dirty="0"/>
              <a:t>all bathrooms into one meaningful metric</a:t>
            </a:r>
            <a:r>
              <a:rPr lang="en-US" dirty="0" smtClean="0"/>
              <a:t>.</a:t>
            </a:r>
          </a:p>
          <a:p>
            <a:r>
              <a:rPr lang="en-US" dirty="0"/>
              <a:t>3. House Age &amp; Remodel </a:t>
            </a:r>
            <a:r>
              <a:rPr lang="en-US" dirty="0" smtClean="0"/>
              <a:t>Age</a:t>
            </a:r>
          </a:p>
          <a:p>
            <a:r>
              <a:rPr lang="en-US" dirty="0" smtClean="0"/>
              <a:t>- </a:t>
            </a:r>
            <a:r>
              <a:rPr lang="en-US" dirty="0" err="1"/>
              <a:t>HouseAge</a:t>
            </a:r>
            <a:r>
              <a:rPr lang="en-US" dirty="0"/>
              <a:t> = </a:t>
            </a:r>
            <a:r>
              <a:rPr lang="en-US" dirty="0" err="1"/>
              <a:t>YrSold</a:t>
            </a:r>
            <a:r>
              <a:rPr lang="en-US" dirty="0"/>
              <a:t> - </a:t>
            </a:r>
            <a:r>
              <a:rPr lang="en-US" dirty="0" err="1"/>
              <a:t>YearBuilt</a:t>
            </a:r>
            <a:endParaRPr lang="en-US" dirty="0" smtClean="0"/>
          </a:p>
          <a:p>
            <a:pPr marL="285750" indent="-285750">
              <a:buFontTx/>
              <a:buChar char="-"/>
            </a:pPr>
            <a:r>
              <a:rPr lang="en-US" dirty="0" err="1" smtClean="0"/>
              <a:t>RemodAge</a:t>
            </a:r>
            <a:r>
              <a:rPr lang="en-US" dirty="0" smtClean="0"/>
              <a:t> </a:t>
            </a:r>
            <a:r>
              <a:rPr lang="en-US" dirty="0"/>
              <a:t>= </a:t>
            </a:r>
            <a:r>
              <a:rPr lang="en-US" dirty="0" err="1"/>
              <a:t>YrSold</a:t>
            </a:r>
            <a:r>
              <a:rPr lang="en-US" dirty="0"/>
              <a:t> </a:t>
            </a:r>
            <a:r>
              <a:rPr lang="en-US" dirty="0" smtClean="0"/>
              <a:t>– </a:t>
            </a:r>
            <a:r>
              <a:rPr lang="en-US" dirty="0" err="1" smtClean="0"/>
              <a:t>YearRemodAdd</a:t>
            </a:r>
            <a:endParaRPr lang="en-US" dirty="0" smtClean="0"/>
          </a:p>
          <a:p>
            <a:pPr marL="285750" indent="-285750">
              <a:buFontTx/>
              <a:buChar char="-"/>
            </a:pPr>
            <a:r>
              <a:rPr lang="en-US" dirty="0"/>
              <a:t>Distinguishes new vs. older homes and recent renovations</a:t>
            </a:r>
            <a:r>
              <a:rPr lang="en-US" dirty="0" smtClean="0"/>
              <a:t>.</a:t>
            </a:r>
          </a:p>
          <a:p>
            <a:r>
              <a:rPr lang="en-US" dirty="0"/>
              <a:t>4. Quality Interaction </a:t>
            </a:r>
            <a:r>
              <a:rPr lang="en-US" dirty="0" smtClean="0"/>
              <a:t>Features</a:t>
            </a:r>
          </a:p>
          <a:p>
            <a:r>
              <a:rPr lang="en-US" dirty="0" smtClean="0"/>
              <a:t>- train</a:t>
            </a:r>
            <a:r>
              <a:rPr lang="en-US" dirty="0"/>
              <a:t>['</a:t>
            </a:r>
            <a:r>
              <a:rPr lang="en-US" dirty="0" err="1"/>
              <a:t>OverallQualArea</a:t>
            </a:r>
            <a:r>
              <a:rPr lang="en-US" dirty="0"/>
              <a:t>'] = train['</a:t>
            </a:r>
            <a:r>
              <a:rPr lang="en-US" dirty="0" err="1"/>
              <a:t>OverallQual</a:t>
            </a:r>
            <a:r>
              <a:rPr lang="en-US" dirty="0"/>
              <a:t>'] * train['</a:t>
            </a:r>
            <a:r>
              <a:rPr lang="en-US" dirty="0" err="1"/>
              <a:t>TotalSF</a:t>
            </a:r>
            <a:r>
              <a:rPr lang="en-US" dirty="0"/>
              <a:t>']</a:t>
            </a:r>
          </a:p>
          <a:p>
            <a:r>
              <a:rPr lang="en-US" dirty="0" smtClean="0"/>
              <a:t>- train</a:t>
            </a:r>
            <a:r>
              <a:rPr lang="en-US" dirty="0"/>
              <a:t>["</a:t>
            </a:r>
            <a:r>
              <a:rPr lang="en-US" dirty="0" err="1"/>
              <a:t>QualityScore</a:t>
            </a:r>
            <a:r>
              <a:rPr lang="en-US" dirty="0"/>
              <a:t>"] = train["</a:t>
            </a:r>
            <a:r>
              <a:rPr lang="en-US" dirty="0" err="1"/>
              <a:t>OverallQual</a:t>
            </a:r>
            <a:r>
              <a:rPr lang="en-US" dirty="0"/>
              <a:t>"] * train["</a:t>
            </a:r>
            <a:r>
              <a:rPr lang="en-US" dirty="0" err="1"/>
              <a:t>OverallCond</a:t>
            </a:r>
            <a:r>
              <a:rPr lang="en-US" dirty="0"/>
              <a:t>"]</a:t>
            </a:r>
          </a:p>
          <a:p>
            <a:r>
              <a:rPr lang="en-US" dirty="0" smtClean="0"/>
              <a:t>- train</a:t>
            </a:r>
            <a:r>
              <a:rPr lang="en-US" dirty="0"/>
              <a:t>["</a:t>
            </a:r>
            <a:r>
              <a:rPr lang="en-US" dirty="0" err="1"/>
              <a:t>TotalPorch</a:t>
            </a:r>
            <a:r>
              <a:rPr lang="en-US" dirty="0"/>
              <a:t>"] = train["</a:t>
            </a:r>
            <a:r>
              <a:rPr lang="en-US" dirty="0" err="1"/>
              <a:t>OpenPorchSF</a:t>
            </a:r>
            <a:r>
              <a:rPr lang="en-US" dirty="0"/>
              <a:t>"] + train["</a:t>
            </a:r>
            <a:r>
              <a:rPr lang="en-US" dirty="0" err="1"/>
              <a:t>EnclosedPorch</a:t>
            </a:r>
            <a:r>
              <a:rPr lang="en-US" dirty="0"/>
              <a:t>"] + train["</a:t>
            </a:r>
            <a:r>
              <a:rPr lang="en-US" dirty="0" err="1"/>
              <a:t>ScreenPorch</a:t>
            </a:r>
            <a:r>
              <a:rPr lang="en-US" dirty="0"/>
              <a:t>"] + train["3SsnPorch"]</a:t>
            </a:r>
          </a:p>
          <a:p>
            <a:endParaRPr lang="en-US" dirty="0" smtClean="0"/>
          </a:p>
          <a:p>
            <a:r>
              <a:rPr lang="en-US" b="1" dirty="0"/>
              <a:t>Feature </a:t>
            </a:r>
            <a:r>
              <a:rPr lang="en-US" b="1" dirty="0" smtClean="0"/>
              <a:t>Selection</a:t>
            </a:r>
          </a:p>
          <a:p>
            <a:r>
              <a:rPr lang="en-US" dirty="0"/>
              <a:t>Removed columns with extremely low </a:t>
            </a:r>
            <a:r>
              <a:rPr lang="en-US" dirty="0" smtClean="0"/>
              <a:t>variance- Features </a:t>
            </a:r>
            <a:r>
              <a:rPr lang="en-US" dirty="0"/>
              <a:t>offering little predictive value.</a:t>
            </a:r>
            <a:endParaRPr lang="en-US" b="1" dirty="0"/>
          </a:p>
        </p:txBody>
      </p:sp>
    </p:spTree>
    <p:extLst>
      <p:ext uri="{BB962C8B-B14F-4D97-AF65-F5344CB8AC3E}">
        <p14:creationId xmlns:p14="http://schemas.microsoft.com/office/powerpoint/2010/main" val="1746857132"/>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Modeling Approach</a:t>
            </a:r>
          </a:p>
        </p:txBody>
      </p:sp>
      <p:graphicFrame>
        <p:nvGraphicFramePr>
          <p:cNvPr id="5" name="Content Placeholder 4"/>
          <p:cNvGraphicFramePr>
            <a:graphicFrameLocks noGrp="1"/>
          </p:cNvGraphicFramePr>
          <p:nvPr>
            <p:ph sz="quarter" idx="10"/>
            <p:extLst>
              <p:ext uri="{D42A27DB-BD31-4B8C-83A1-F6EECF244321}">
                <p14:modId xmlns:p14="http://schemas.microsoft.com/office/powerpoint/2010/main" val="1006784547"/>
              </p:ext>
            </p:extLst>
          </p:nvPr>
        </p:nvGraphicFramePr>
        <p:xfrm>
          <a:off x="662609" y="4199614"/>
          <a:ext cx="4416424" cy="2194560"/>
        </p:xfrm>
        <a:graphic>
          <a:graphicData uri="http://schemas.openxmlformats.org/drawingml/2006/table">
            <a:tbl>
              <a:tblPr/>
              <a:tblGrid>
                <a:gridCol w="2208212">
                  <a:extLst>
                    <a:ext uri="{9D8B030D-6E8A-4147-A177-3AD203B41FA5}">
                      <a16:colId xmlns:a16="http://schemas.microsoft.com/office/drawing/2014/main" val="619949429"/>
                    </a:ext>
                  </a:extLst>
                </a:gridCol>
                <a:gridCol w="2208212">
                  <a:extLst>
                    <a:ext uri="{9D8B030D-6E8A-4147-A177-3AD203B41FA5}">
                      <a16:colId xmlns:a16="http://schemas.microsoft.com/office/drawing/2014/main" val="834135123"/>
                    </a:ext>
                  </a:extLst>
                </a:gridCol>
              </a:tblGrid>
              <a:tr h="365760">
                <a:tc>
                  <a:txBody>
                    <a:bodyPr/>
                    <a:lstStyle/>
                    <a:p>
                      <a:r>
                        <a:rPr lang="en-US" sz="1800" dirty="0"/>
                        <a:t>Model</a:t>
                      </a:r>
                    </a:p>
                  </a:txBody>
                  <a:tcPr anchor="ctr">
                    <a:lnL>
                      <a:noFill/>
                    </a:lnL>
                    <a:lnR>
                      <a:noFill/>
                    </a:lnR>
                    <a:lnT>
                      <a:noFill/>
                    </a:lnT>
                    <a:lnB>
                      <a:noFill/>
                    </a:lnB>
                  </a:tcPr>
                </a:tc>
                <a:tc>
                  <a:txBody>
                    <a:bodyPr/>
                    <a:lstStyle/>
                    <a:p>
                      <a:r>
                        <a:rPr lang="en-US" sz="1800"/>
                        <a:t>Mean R²</a:t>
                      </a:r>
                    </a:p>
                  </a:txBody>
                  <a:tcPr anchor="ctr">
                    <a:lnL>
                      <a:noFill/>
                    </a:lnL>
                    <a:lnR>
                      <a:noFill/>
                    </a:lnR>
                    <a:lnT>
                      <a:noFill/>
                    </a:lnT>
                    <a:lnB>
                      <a:noFill/>
                    </a:lnB>
                  </a:tcPr>
                </a:tc>
                <a:extLst>
                  <a:ext uri="{0D108BD9-81ED-4DB2-BD59-A6C34878D82A}">
                    <a16:rowId xmlns:a16="http://schemas.microsoft.com/office/drawing/2014/main" val="1199669229"/>
                  </a:ext>
                </a:extLst>
              </a:tr>
              <a:tr h="365760">
                <a:tc>
                  <a:txBody>
                    <a:bodyPr/>
                    <a:lstStyle/>
                    <a:p>
                      <a:r>
                        <a:rPr lang="en-US" sz="1800"/>
                        <a:t>Random Forest</a:t>
                      </a:r>
                    </a:p>
                  </a:txBody>
                  <a:tcPr anchor="ctr">
                    <a:lnL>
                      <a:noFill/>
                    </a:lnL>
                    <a:lnR>
                      <a:noFill/>
                    </a:lnR>
                    <a:lnT>
                      <a:noFill/>
                    </a:lnT>
                    <a:lnB>
                      <a:noFill/>
                    </a:lnB>
                  </a:tcPr>
                </a:tc>
                <a:tc>
                  <a:txBody>
                    <a:bodyPr/>
                    <a:lstStyle/>
                    <a:p>
                      <a:r>
                        <a:rPr lang="en-US" sz="1800"/>
                        <a:t>0.8778</a:t>
                      </a:r>
                    </a:p>
                  </a:txBody>
                  <a:tcPr anchor="ctr">
                    <a:lnL>
                      <a:noFill/>
                    </a:lnL>
                    <a:lnR>
                      <a:noFill/>
                    </a:lnR>
                    <a:lnT>
                      <a:noFill/>
                    </a:lnT>
                    <a:lnB>
                      <a:noFill/>
                    </a:lnB>
                  </a:tcPr>
                </a:tc>
                <a:extLst>
                  <a:ext uri="{0D108BD9-81ED-4DB2-BD59-A6C34878D82A}">
                    <a16:rowId xmlns:a16="http://schemas.microsoft.com/office/drawing/2014/main" val="2723333458"/>
                  </a:ext>
                </a:extLst>
              </a:tr>
              <a:tr h="365760">
                <a:tc>
                  <a:txBody>
                    <a:bodyPr/>
                    <a:lstStyle/>
                    <a:p>
                      <a:r>
                        <a:rPr lang="en-US" sz="1800"/>
                        <a:t>Gradient Boosting</a:t>
                      </a:r>
                    </a:p>
                  </a:txBody>
                  <a:tcPr anchor="ctr">
                    <a:lnL>
                      <a:noFill/>
                    </a:lnL>
                    <a:lnR>
                      <a:noFill/>
                    </a:lnR>
                    <a:lnT>
                      <a:noFill/>
                    </a:lnT>
                    <a:lnB>
                      <a:noFill/>
                    </a:lnB>
                  </a:tcPr>
                </a:tc>
                <a:tc>
                  <a:txBody>
                    <a:bodyPr/>
                    <a:lstStyle/>
                    <a:p>
                      <a:r>
                        <a:rPr lang="en-US" sz="1800"/>
                        <a:t>0.8889</a:t>
                      </a:r>
                    </a:p>
                  </a:txBody>
                  <a:tcPr anchor="ctr">
                    <a:lnL>
                      <a:noFill/>
                    </a:lnL>
                    <a:lnR>
                      <a:noFill/>
                    </a:lnR>
                    <a:lnT>
                      <a:noFill/>
                    </a:lnT>
                    <a:lnB>
                      <a:noFill/>
                    </a:lnB>
                  </a:tcPr>
                </a:tc>
                <a:extLst>
                  <a:ext uri="{0D108BD9-81ED-4DB2-BD59-A6C34878D82A}">
                    <a16:rowId xmlns:a16="http://schemas.microsoft.com/office/drawing/2014/main" val="27481955"/>
                  </a:ext>
                </a:extLst>
              </a:tr>
              <a:tr h="365760">
                <a:tc>
                  <a:txBody>
                    <a:bodyPr/>
                    <a:lstStyle/>
                    <a:p>
                      <a:r>
                        <a:rPr lang="en-US" sz="1800" b="1"/>
                        <a:t>XGBoost</a:t>
                      </a:r>
                      <a:endParaRPr lang="en-US" sz="1800"/>
                    </a:p>
                  </a:txBody>
                  <a:tcPr anchor="ctr">
                    <a:lnL>
                      <a:noFill/>
                    </a:lnL>
                    <a:lnR>
                      <a:noFill/>
                    </a:lnR>
                    <a:lnT>
                      <a:noFill/>
                    </a:lnT>
                    <a:lnB>
                      <a:noFill/>
                    </a:lnB>
                  </a:tcPr>
                </a:tc>
                <a:tc>
                  <a:txBody>
                    <a:bodyPr/>
                    <a:lstStyle/>
                    <a:p>
                      <a:r>
                        <a:rPr lang="en-US" sz="1800" b="1"/>
                        <a:t>0.8946</a:t>
                      </a:r>
                      <a:endParaRPr lang="en-US" sz="1800"/>
                    </a:p>
                  </a:txBody>
                  <a:tcPr anchor="ctr">
                    <a:lnL>
                      <a:noFill/>
                    </a:lnL>
                    <a:lnR>
                      <a:noFill/>
                    </a:lnR>
                    <a:lnT>
                      <a:noFill/>
                    </a:lnT>
                    <a:lnB>
                      <a:noFill/>
                    </a:lnB>
                  </a:tcPr>
                </a:tc>
                <a:extLst>
                  <a:ext uri="{0D108BD9-81ED-4DB2-BD59-A6C34878D82A}">
                    <a16:rowId xmlns:a16="http://schemas.microsoft.com/office/drawing/2014/main" val="1505496470"/>
                  </a:ext>
                </a:extLst>
              </a:tr>
              <a:tr h="365760">
                <a:tc>
                  <a:txBody>
                    <a:bodyPr/>
                    <a:lstStyle/>
                    <a:p>
                      <a:r>
                        <a:rPr lang="en-US" sz="1800"/>
                        <a:t>Stacked Ensemble</a:t>
                      </a:r>
                    </a:p>
                  </a:txBody>
                  <a:tcPr anchor="ctr">
                    <a:lnL>
                      <a:noFill/>
                    </a:lnL>
                    <a:lnR>
                      <a:noFill/>
                    </a:lnR>
                    <a:lnT>
                      <a:noFill/>
                    </a:lnT>
                    <a:lnB>
                      <a:noFill/>
                    </a:lnB>
                  </a:tcPr>
                </a:tc>
                <a:tc>
                  <a:txBody>
                    <a:bodyPr/>
                    <a:lstStyle/>
                    <a:p>
                      <a:r>
                        <a:rPr lang="en-US" sz="1800"/>
                        <a:t>0.8812</a:t>
                      </a:r>
                    </a:p>
                  </a:txBody>
                  <a:tcPr anchor="ctr">
                    <a:lnL>
                      <a:noFill/>
                    </a:lnL>
                    <a:lnR>
                      <a:noFill/>
                    </a:lnR>
                    <a:lnT>
                      <a:noFill/>
                    </a:lnT>
                    <a:lnB>
                      <a:noFill/>
                    </a:lnB>
                  </a:tcPr>
                </a:tc>
                <a:extLst>
                  <a:ext uri="{0D108BD9-81ED-4DB2-BD59-A6C34878D82A}">
                    <a16:rowId xmlns:a16="http://schemas.microsoft.com/office/drawing/2014/main" val="866546016"/>
                  </a:ext>
                </a:extLst>
              </a:tr>
              <a:tr h="365760">
                <a:tc>
                  <a:txBody>
                    <a:bodyPr/>
                    <a:lstStyle/>
                    <a:p>
                      <a:r>
                        <a:rPr lang="en-US" sz="1800"/>
                        <a:t>DNN</a:t>
                      </a:r>
                    </a:p>
                  </a:txBody>
                  <a:tcPr anchor="ctr">
                    <a:lnL>
                      <a:noFill/>
                    </a:lnL>
                    <a:lnR>
                      <a:noFill/>
                    </a:lnR>
                    <a:lnT>
                      <a:noFill/>
                    </a:lnT>
                    <a:lnB>
                      <a:noFill/>
                    </a:lnB>
                  </a:tcPr>
                </a:tc>
                <a:tc>
                  <a:txBody>
                    <a:bodyPr/>
                    <a:lstStyle/>
                    <a:p>
                      <a:r>
                        <a:rPr lang="en-US" sz="1800" dirty="0"/>
                        <a:t>0.8342</a:t>
                      </a:r>
                    </a:p>
                  </a:txBody>
                  <a:tcPr anchor="ctr">
                    <a:lnL>
                      <a:noFill/>
                    </a:lnL>
                    <a:lnR>
                      <a:noFill/>
                    </a:lnR>
                    <a:lnT>
                      <a:noFill/>
                    </a:lnT>
                    <a:lnB>
                      <a:noFill/>
                    </a:lnB>
                  </a:tcPr>
                </a:tc>
                <a:extLst>
                  <a:ext uri="{0D108BD9-81ED-4DB2-BD59-A6C34878D82A}">
                    <a16:rowId xmlns:a16="http://schemas.microsoft.com/office/drawing/2014/main" val="4145557998"/>
                  </a:ext>
                </a:extLst>
              </a:tr>
            </a:tbl>
          </a:graphicData>
        </a:graphic>
      </p:graphicFrame>
      <p:sp>
        <p:nvSpPr>
          <p:cNvPr id="4" name="TextBox 3"/>
          <p:cNvSpPr txBox="1"/>
          <p:nvPr/>
        </p:nvSpPr>
        <p:spPr>
          <a:xfrm>
            <a:off x="662609" y="1351722"/>
            <a:ext cx="11065565" cy="3139321"/>
          </a:xfrm>
          <a:prstGeom prst="rect">
            <a:avLst/>
          </a:prstGeom>
          <a:noFill/>
        </p:spPr>
        <p:txBody>
          <a:bodyPr wrap="square" rtlCol="0">
            <a:spAutoFit/>
          </a:bodyPr>
          <a:lstStyle/>
          <a:p>
            <a:r>
              <a:rPr lang="en-US" dirty="0"/>
              <a:t>A variety of machine learning models were implemented to capture both linear and non-linear relationships in housing data. The workflow included model selection, </a:t>
            </a:r>
            <a:r>
              <a:rPr lang="en-US" dirty="0" err="1"/>
              <a:t>hyperparameter</a:t>
            </a:r>
            <a:r>
              <a:rPr lang="en-US" dirty="0"/>
              <a:t> tuning, evaluation, </a:t>
            </a:r>
            <a:r>
              <a:rPr lang="en-US" dirty="0" err="1"/>
              <a:t>explainability</a:t>
            </a:r>
            <a:r>
              <a:rPr lang="en-US" dirty="0"/>
              <a:t>, and final prediction</a:t>
            </a:r>
            <a:r>
              <a:rPr lang="en-US" dirty="0" smtClean="0"/>
              <a:t>.</a:t>
            </a:r>
          </a:p>
          <a:p>
            <a:endParaRPr lang="en-US" dirty="0" smtClean="0"/>
          </a:p>
          <a:p>
            <a:r>
              <a:rPr lang="en-US" b="1" dirty="0"/>
              <a:t>Models Evaluated</a:t>
            </a:r>
          </a:p>
          <a:p>
            <a:r>
              <a:rPr lang="en-US" dirty="0"/>
              <a:t>Random Forest </a:t>
            </a:r>
            <a:r>
              <a:rPr lang="en-US" dirty="0" err="1"/>
              <a:t>Regressor</a:t>
            </a:r>
            <a:r>
              <a:rPr lang="en-US" dirty="0"/>
              <a:t> – bagging-based tree ensemble</a:t>
            </a:r>
          </a:p>
          <a:p>
            <a:r>
              <a:rPr lang="en-US" dirty="0"/>
              <a:t>Gradient Boosting </a:t>
            </a:r>
            <a:r>
              <a:rPr lang="en-US" dirty="0" err="1"/>
              <a:t>Regressor</a:t>
            </a:r>
            <a:r>
              <a:rPr lang="en-US" dirty="0"/>
              <a:t> – sequential boosting</a:t>
            </a:r>
          </a:p>
          <a:p>
            <a:r>
              <a:rPr lang="en-US" dirty="0" err="1"/>
              <a:t>XGBoost</a:t>
            </a:r>
            <a:r>
              <a:rPr lang="en-US" dirty="0"/>
              <a:t> </a:t>
            </a:r>
            <a:r>
              <a:rPr lang="en-US" dirty="0" err="1"/>
              <a:t>Regressor</a:t>
            </a:r>
            <a:r>
              <a:rPr lang="en-US" dirty="0"/>
              <a:t> – gradient boosting with strong regularization</a:t>
            </a:r>
          </a:p>
          <a:p>
            <a:r>
              <a:rPr lang="en-US" dirty="0"/>
              <a:t>Stacked Ensemble – Ridge + Lasso + </a:t>
            </a:r>
            <a:r>
              <a:rPr lang="en-US" dirty="0" err="1"/>
              <a:t>XGBoost</a:t>
            </a:r>
            <a:r>
              <a:rPr lang="en-US" dirty="0"/>
              <a:t> meta-model</a:t>
            </a:r>
          </a:p>
          <a:p>
            <a:r>
              <a:rPr lang="en-US" dirty="0"/>
              <a:t>Deep Neural Network (DNN) – 3-layer feedforward network with </a:t>
            </a:r>
            <a:r>
              <a:rPr lang="en-US" dirty="0" err="1"/>
              <a:t>BatchNorm</a:t>
            </a:r>
            <a:r>
              <a:rPr lang="en-US" dirty="0"/>
              <a:t> + Dropout</a:t>
            </a:r>
          </a:p>
          <a:p>
            <a:endParaRPr lang="en-US" dirty="0"/>
          </a:p>
        </p:txBody>
      </p:sp>
    </p:spTree>
    <p:extLst>
      <p:ext uri="{BB962C8B-B14F-4D97-AF65-F5344CB8AC3E}">
        <p14:creationId xmlns:p14="http://schemas.microsoft.com/office/powerpoint/2010/main" val="1675903141"/>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err="1" smtClean="0"/>
              <a:t>Hyperparameter</a:t>
            </a:r>
            <a:r>
              <a:rPr lang="en-US" b="1" dirty="0" smtClean="0"/>
              <a:t> tuning</a:t>
            </a:r>
            <a:endParaRPr lang="en-US" b="1" dirty="0"/>
          </a:p>
        </p:txBody>
      </p:sp>
      <p:sp>
        <p:nvSpPr>
          <p:cNvPr id="4" name="TextBox 3"/>
          <p:cNvSpPr txBox="1"/>
          <p:nvPr/>
        </p:nvSpPr>
        <p:spPr>
          <a:xfrm>
            <a:off x="521207" y="1311965"/>
            <a:ext cx="11233471" cy="5078313"/>
          </a:xfrm>
          <a:prstGeom prst="rect">
            <a:avLst/>
          </a:prstGeom>
          <a:noFill/>
        </p:spPr>
        <p:txBody>
          <a:bodyPr wrap="square" rtlCol="0">
            <a:spAutoFit/>
          </a:bodyPr>
          <a:lstStyle/>
          <a:p>
            <a:r>
              <a:rPr lang="en-US" b="1" dirty="0" err="1"/>
              <a:t>XGBoost</a:t>
            </a:r>
            <a:r>
              <a:rPr lang="en-US" b="1" dirty="0"/>
              <a:t> delivered the strongest CV performance</a:t>
            </a:r>
            <a:r>
              <a:rPr lang="en-US" dirty="0"/>
              <a:t>, making it the primary model selected for tuning and final prediction</a:t>
            </a:r>
            <a:r>
              <a:rPr lang="en-US" dirty="0" smtClean="0"/>
              <a:t>.</a:t>
            </a:r>
          </a:p>
          <a:p>
            <a:endParaRPr lang="en-US" dirty="0"/>
          </a:p>
          <a:p>
            <a:r>
              <a:rPr lang="en-US" b="1" dirty="0" err="1"/>
              <a:t>Hyperparameter</a:t>
            </a:r>
            <a:r>
              <a:rPr lang="en-US" b="1" dirty="0"/>
              <a:t> Tuning</a:t>
            </a:r>
          </a:p>
          <a:p>
            <a:r>
              <a:rPr lang="en-US" dirty="0"/>
              <a:t>Two-stage tuning strategy:</a:t>
            </a:r>
          </a:p>
          <a:p>
            <a:r>
              <a:rPr lang="en-US" dirty="0" err="1"/>
              <a:t>RandomizedSearchCV</a:t>
            </a:r>
            <a:endParaRPr lang="en-US" dirty="0"/>
          </a:p>
          <a:p>
            <a:pPr lvl="1"/>
            <a:r>
              <a:rPr lang="en-US" dirty="0"/>
              <a:t>Explored a wide parameter space</a:t>
            </a:r>
          </a:p>
          <a:p>
            <a:pPr lvl="1"/>
            <a:r>
              <a:rPr lang="en-US" dirty="0"/>
              <a:t>Best CV R²: 0.8965</a:t>
            </a:r>
          </a:p>
          <a:p>
            <a:r>
              <a:rPr lang="en-US" dirty="0" err="1"/>
              <a:t>GridSearchCV</a:t>
            </a:r>
            <a:r>
              <a:rPr lang="en-US" dirty="0"/>
              <a:t> (refinement)</a:t>
            </a:r>
          </a:p>
          <a:p>
            <a:pPr lvl="1"/>
            <a:r>
              <a:rPr lang="en-US" dirty="0"/>
              <a:t>Searched around best zone</a:t>
            </a:r>
          </a:p>
          <a:p>
            <a:pPr lvl="1"/>
            <a:r>
              <a:rPr lang="en-US" dirty="0"/>
              <a:t>Fine-tuned CV R²: 0.8998</a:t>
            </a:r>
          </a:p>
          <a:p>
            <a:pPr marL="285750" indent="-285750">
              <a:buFontTx/>
              <a:buChar char="-"/>
            </a:pPr>
            <a:r>
              <a:rPr lang="en-US" dirty="0" smtClean="0"/>
              <a:t>Final </a:t>
            </a:r>
            <a:r>
              <a:rPr lang="en-US" dirty="0"/>
              <a:t>Best Parameters (</a:t>
            </a:r>
            <a:r>
              <a:rPr lang="en-US" dirty="0" err="1"/>
              <a:t>XGBoost</a:t>
            </a:r>
            <a:r>
              <a:rPr lang="en-US" dirty="0" smtClean="0"/>
              <a:t>): </a:t>
            </a:r>
            <a:r>
              <a:rPr lang="en-US" dirty="0" err="1" smtClean="0"/>
              <a:t>n_estimators</a:t>
            </a:r>
            <a:r>
              <a:rPr lang="en-US" dirty="0" smtClean="0"/>
              <a:t> </a:t>
            </a:r>
            <a:r>
              <a:rPr lang="en-US" dirty="0"/>
              <a:t>= </a:t>
            </a:r>
            <a:r>
              <a:rPr lang="en-US" dirty="0" smtClean="0"/>
              <a:t>1000, </a:t>
            </a:r>
            <a:r>
              <a:rPr lang="en-US" dirty="0" err="1" smtClean="0"/>
              <a:t>learning_rate</a:t>
            </a:r>
            <a:r>
              <a:rPr lang="en-US" dirty="0" smtClean="0"/>
              <a:t> </a:t>
            </a:r>
            <a:r>
              <a:rPr lang="en-US" dirty="0"/>
              <a:t>= </a:t>
            </a:r>
            <a:r>
              <a:rPr lang="en-US" dirty="0" smtClean="0"/>
              <a:t>0.04, </a:t>
            </a:r>
            <a:r>
              <a:rPr lang="en-US" dirty="0" err="1" smtClean="0"/>
              <a:t>max_depth</a:t>
            </a:r>
            <a:r>
              <a:rPr lang="en-US" dirty="0" smtClean="0"/>
              <a:t> </a:t>
            </a:r>
            <a:r>
              <a:rPr lang="en-US" dirty="0"/>
              <a:t>= </a:t>
            </a:r>
            <a:r>
              <a:rPr lang="en-US" dirty="0" smtClean="0"/>
              <a:t>2, subsample </a:t>
            </a:r>
            <a:r>
              <a:rPr lang="en-US" dirty="0"/>
              <a:t>= </a:t>
            </a:r>
            <a:r>
              <a:rPr lang="en-US" dirty="0" smtClean="0"/>
              <a:t>0.7, </a:t>
            </a:r>
            <a:r>
              <a:rPr lang="en-US" dirty="0" err="1" smtClean="0"/>
              <a:t>colsample_bytree</a:t>
            </a:r>
            <a:r>
              <a:rPr lang="en-US" dirty="0" smtClean="0"/>
              <a:t> </a:t>
            </a:r>
            <a:r>
              <a:rPr lang="en-US" dirty="0"/>
              <a:t>= </a:t>
            </a:r>
            <a:r>
              <a:rPr lang="en-US" dirty="0" smtClean="0"/>
              <a:t>0.7, </a:t>
            </a:r>
            <a:r>
              <a:rPr lang="en-US" dirty="0" err="1" smtClean="0"/>
              <a:t>reg_lambda</a:t>
            </a:r>
            <a:r>
              <a:rPr lang="en-US" dirty="0" smtClean="0"/>
              <a:t> </a:t>
            </a:r>
            <a:r>
              <a:rPr lang="en-US" dirty="0"/>
              <a:t>= </a:t>
            </a:r>
            <a:r>
              <a:rPr lang="en-US" dirty="0" smtClean="0"/>
              <a:t>9, </a:t>
            </a:r>
            <a:r>
              <a:rPr lang="en-US" dirty="0" err="1" smtClean="0"/>
              <a:t>reg_alpha</a:t>
            </a:r>
            <a:r>
              <a:rPr lang="en-US" dirty="0" smtClean="0"/>
              <a:t> </a:t>
            </a:r>
            <a:r>
              <a:rPr lang="en-US" dirty="0"/>
              <a:t>= </a:t>
            </a:r>
            <a:r>
              <a:rPr lang="en-US" dirty="0" smtClean="0"/>
              <a:t>0.1</a:t>
            </a:r>
          </a:p>
          <a:p>
            <a:pPr marL="285750" indent="-285750">
              <a:buFontTx/>
              <a:buChar char="-"/>
            </a:pPr>
            <a:endParaRPr lang="en-US" dirty="0"/>
          </a:p>
          <a:p>
            <a:r>
              <a:rPr lang="en-US" b="1" dirty="0"/>
              <a:t>Validation Performance</a:t>
            </a:r>
          </a:p>
          <a:p>
            <a:r>
              <a:rPr lang="en-US" dirty="0"/>
              <a:t>R²: 0.8785</a:t>
            </a:r>
          </a:p>
          <a:p>
            <a:r>
              <a:rPr lang="en-US" dirty="0"/>
              <a:t>RMSE: 0.1221</a:t>
            </a:r>
          </a:p>
          <a:p>
            <a:r>
              <a:rPr lang="en-US" dirty="0"/>
              <a:t>Learning curves indicate stable training, minimal overfitting, and smooth convergence</a:t>
            </a:r>
            <a:r>
              <a:rPr lang="en-US" dirty="0" smtClean="0"/>
              <a:t>.</a:t>
            </a:r>
            <a:endParaRPr lang="en-US" dirty="0"/>
          </a:p>
        </p:txBody>
      </p:sp>
    </p:spTree>
    <p:extLst>
      <p:ext uri="{BB962C8B-B14F-4D97-AF65-F5344CB8AC3E}">
        <p14:creationId xmlns:p14="http://schemas.microsoft.com/office/powerpoint/2010/main" val="263230503"/>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Validation curve</a:t>
            </a:r>
            <a:endParaRPr lang="en-US" b="1" dirty="0"/>
          </a:p>
        </p:txBody>
      </p:sp>
      <p:pic>
        <p:nvPicPr>
          <p:cNvPr id="7" name="Content Placeholder 6"/>
          <p:cNvPicPr>
            <a:picLocks noGrp="1" noChangeAspect="1"/>
          </p:cNvPicPr>
          <p:nvPr>
            <p:ph sz="quarter" idx="10"/>
          </p:nvPr>
        </p:nvPicPr>
        <p:blipFill>
          <a:blip r:embed="rId2"/>
          <a:stretch>
            <a:fillRect/>
          </a:stretch>
        </p:blipFill>
        <p:spPr>
          <a:xfrm>
            <a:off x="539750" y="1585620"/>
            <a:ext cx="7000875" cy="4478922"/>
          </a:xfrm>
          <a:prstGeom prst="rect">
            <a:avLst/>
          </a:prstGeom>
        </p:spPr>
      </p:pic>
      <p:sp>
        <p:nvSpPr>
          <p:cNvPr id="8" name="TextBox 7"/>
          <p:cNvSpPr txBox="1"/>
          <p:nvPr/>
        </p:nvSpPr>
        <p:spPr>
          <a:xfrm>
            <a:off x="7686261" y="1585620"/>
            <a:ext cx="4134678" cy="3693319"/>
          </a:xfrm>
          <a:prstGeom prst="rect">
            <a:avLst/>
          </a:prstGeom>
          <a:noFill/>
        </p:spPr>
        <p:txBody>
          <a:bodyPr wrap="square" rtlCol="0">
            <a:spAutoFit/>
          </a:bodyPr>
          <a:lstStyle/>
          <a:p>
            <a:r>
              <a:rPr lang="en-US" dirty="0"/>
              <a:t>The learning curve shows a steady decline in both training and validation RMSE, indicating that the model is learning effectively throughout boosting rounds. The validation curve stabilizes early and remains close to the training curve, suggesting minimal overfitting and strong generalization. Overall, the trend confirms that the tuned </a:t>
            </a:r>
            <a:r>
              <a:rPr lang="en-US" dirty="0" err="1"/>
              <a:t>XGBoost</a:t>
            </a:r>
            <a:r>
              <a:rPr lang="en-US" dirty="0"/>
              <a:t> model is well-regularized and reaches optimal performance around the validation RMSE plateau.</a:t>
            </a:r>
          </a:p>
        </p:txBody>
      </p:sp>
    </p:spTree>
    <p:extLst>
      <p:ext uri="{BB962C8B-B14F-4D97-AF65-F5344CB8AC3E}">
        <p14:creationId xmlns:p14="http://schemas.microsoft.com/office/powerpoint/2010/main" val="726870096"/>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Error analysis</a:t>
            </a:r>
            <a:endParaRPr lang="en-US" dirty="0"/>
          </a:p>
        </p:txBody>
      </p:sp>
      <p:pic>
        <p:nvPicPr>
          <p:cNvPr id="5" name="Content Placeholder 4"/>
          <p:cNvPicPr>
            <a:picLocks noGrp="1" noChangeAspect="1"/>
          </p:cNvPicPr>
          <p:nvPr>
            <p:ph sz="quarter" idx="10"/>
          </p:nvPr>
        </p:nvPicPr>
        <p:blipFill>
          <a:blip r:embed="rId2"/>
          <a:stretch>
            <a:fillRect/>
          </a:stretch>
        </p:blipFill>
        <p:spPr>
          <a:xfrm>
            <a:off x="521207" y="1262427"/>
            <a:ext cx="5184775" cy="3552251"/>
          </a:xfrm>
          <a:prstGeom prst="rect">
            <a:avLst/>
          </a:prstGeom>
        </p:spPr>
      </p:pic>
      <p:pic>
        <p:nvPicPr>
          <p:cNvPr id="6" name="Picture 5"/>
          <p:cNvPicPr>
            <a:picLocks noChangeAspect="1"/>
          </p:cNvPicPr>
          <p:nvPr/>
        </p:nvPicPr>
        <p:blipFill>
          <a:blip r:embed="rId3"/>
          <a:stretch>
            <a:fillRect/>
          </a:stretch>
        </p:blipFill>
        <p:spPr>
          <a:xfrm>
            <a:off x="6062868" y="1248109"/>
            <a:ext cx="5305703" cy="3552251"/>
          </a:xfrm>
          <a:prstGeom prst="rect">
            <a:avLst/>
          </a:prstGeom>
        </p:spPr>
      </p:pic>
      <p:sp>
        <p:nvSpPr>
          <p:cNvPr id="7" name="TextBox 6"/>
          <p:cNvSpPr txBox="1"/>
          <p:nvPr/>
        </p:nvSpPr>
        <p:spPr>
          <a:xfrm>
            <a:off x="622850" y="4814678"/>
            <a:ext cx="10880035" cy="1754326"/>
          </a:xfrm>
          <a:prstGeom prst="rect">
            <a:avLst/>
          </a:prstGeom>
          <a:noFill/>
        </p:spPr>
        <p:txBody>
          <a:bodyPr wrap="square" rtlCol="0">
            <a:spAutoFit/>
          </a:bodyPr>
          <a:lstStyle/>
          <a:p>
            <a:r>
              <a:rPr lang="en-US" dirty="0"/>
              <a:t>The residual diagnostics show that errors are centered around zero and follow an approximately normal distribution, indicating unbiased predictions. </a:t>
            </a:r>
            <a:endParaRPr lang="en-US" dirty="0" smtClean="0"/>
          </a:p>
          <a:p>
            <a:r>
              <a:rPr lang="en-US" dirty="0" smtClean="0"/>
              <a:t>The </a:t>
            </a:r>
            <a:r>
              <a:rPr lang="en-US" dirty="0"/>
              <a:t>residuals vs predicted plot displays a random scatter with no visible pattern or funnel shape, confirming stable variance across price levels. </a:t>
            </a:r>
            <a:endParaRPr lang="en-US" dirty="0" smtClean="0"/>
          </a:p>
          <a:p>
            <a:r>
              <a:rPr lang="en-US" dirty="0" smtClean="0"/>
              <a:t>Overall</a:t>
            </a:r>
            <a:r>
              <a:rPr lang="en-US" dirty="0"/>
              <a:t>, the model demonstrates good fit, strong generalization, and no signs of systematic prediction errors.</a:t>
            </a:r>
          </a:p>
        </p:txBody>
      </p:sp>
    </p:spTree>
    <p:extLst>
      <p:ext uri="{BB962C8B-B14F-4D97-AF65-F5344CB8AC3E}">
        <p14:creationId xmlns:p14="http://schemas.microsoft.com/office/powerpoint/2010/main" val="8185838"/>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dirty="0" smtClean="0"/>
              <a:t>Feature </a:t>
            </a:r>
            <a:r>
              <a:rPr lang="en-US" b="1" dirty="0"/>
              <a:t>Importance &amp; </a:t>
            </a:r>
            <a:r>
              <a:rPr lang="en-US" b="1" dirty="0" err="1" smtClean="0"/>
              <a:t>Explainability</a:t>
            </a:r>
            <a:endParaRPr lang="en-US" b="1" dirty="0"/>
          </a:p>
        </p:txBody>
      </p:sp>
      <p:sp>
        <p:nvSpPr>
          <p:cNvPr id="4" name="TextBox 3"/>
          <p:cNvSpPr txBox="1"/>
          <p:nvPr/>
        </p:nvSpPr>
        <p:spPr>
          <a:xfrm>
            <a:off x="521207" y="1537252"/>
            <a:ext cx="10981680" cy="4524315"/>
          </a:xfrm>
          <a:prstGeom prst="rect">
            <a:avLst/>
          </a:prstGeom>
          <a:noFill/>
        </p:spPr>
        <p:txBody>
          <a:bodyPr wrap="square" rtlCol="0">
            <a:spAutoFit/>
          </a:bodyPr>
          <a:lstStyle/>
          <a:p>
            <a:r>
              <a:rPr lang="en-US" b="1" dirty="0"/>
              <a:t>Model </a:t>
            </a:r>
            <a:r>
              <a:rPr lang="en-US" b="1" dirty="0" err="1"/>
              <a:t>Explainability</a:t>
            </a:r>
            <a:endParaRPr lang="en-US" b="1" dirty="0"/>
          </a:p>
          <a:p>
            <a:r>
              <a:rPr lang="en-US" dirty="0" err="1"/>
              <a:t>XGBoost</a:t>
            </a:r>
            <a:r>
              <a:rPr lang="en-US" dirty="0"/>
              <a:t> feature importance + SHAP used</a:t>
            </a:r>
          </a:p>
          <a:p>
            <a:r>
              <a:rPr lang="en-US" dirty="0"/>
              <a:t>Key drivers:</a:t>
            </a:r>
          </a:p>
          <a:p>
            <a:pPr lvl="1"/>
            <a:r>
              <a:rPr lang="en-US" b="1" dirty="0" err="1"/>
              <a:t>OverallQualArea</a:t>
            </a:r>
            <a:endParaRPr lang="en-US" dirty="0"/>
          </a:p>
          <a:p>
            <a:pPr lvl="1"/>
            <a:r>
              <a:rPr lang="en-US" b="1" dirty="0" err="1"/>
              <a:t>TotalSF</a:t>
            </a:r>
            <a:endParaRPr lang="en-US" dirty="0"/>
          </a:p>
          <a:p>
            <a:pPr lvl="1"/>
            <a:r>
              <a:rPr lang="en-US" b="1" dirty="0" err="1"/>
              <a:t>QualityScore</a:t>
            </a:r>
            <a:endParaRPr lang="en-US" dirty="0"/>
          </a:p>
          <a:p>
            <a:pPr lvl="1"/>
            <a:r>
              <a:rPr lang="en-US" b="1" dirty="0" err="1"/>
              <a:t>LotArea</a:t>
            </a:r>
            <a:endParaRPr lang="en-US" dirty="0"/>
          </a:p>
          <a:p>
            <a:pPr lvl="1"/>
            <a:r>
              <a:rPr lang="en-US" b="1" dirty="0" err="1"/>
              <a:t>GrLivArea</a:t>
            </a:r>
            <a:endParaRPr lang="en-US" dirty="0"/>
          </a:p>
          <a:p>
            <a:pPr lvl="1"/>
            <a:r>
              <a:rPr lang="en-US" b="1" dirty="0" err="1"/>
              <a:t>GarageYrBlt</a:t>
            </a:r>
            <a:endParaRPr lang="en-US" dirty="0"/>
          </a:p>
          <a:p>
            <a:r>
              <a:rPr lang="en-US" dirty="0"/>
              <a:t>Model captures intuitive real-estate valuation factors</a:t>
            </a:r>
            <a:r>
              <a:rPr lang="en-US" dirty="0" smtClean="0"/>
              <a:t>.</a:t>
            </a:r>
          </a:p>
          <a:p>
            <a:endParaRPr lang="en-US" dirty="0"/>
          </a:p>
          <a:p>
            <a:r>
              <a:rPr lang="en-US" b="1" dirty="0"/>
              <a:t>Deep Neural Network (DNN)</a:t>
            </a:r>
          </a:p>
          <a:p>
            <a:r>
              <a:rPr lang="en-US" dirty="0"/>
              <a:t>Architecture: 256 → 128 → 64 → 1</a:t>
            </a:r>
          </a:p>
          <a:p>
            <a:r>
              <a:rPr lang="en-US" dirty="0"/>
              <a:t>Regularization: </a:t>
            </a:r>
            <a:r>
              <a:rPr lang="en-US" dirty="0" err="1"/>
              <a:t>BatchNorm</a:t>
            </a:r>
            <a:r>
              <a:rPr lang="en-US" dirty="0"/>
              <a:t> + Dropout</a:t>
            </a:r>
          </a:p>
          <a:p>
            <a:r>
              <a:rPr lang="en-US" b="1" dirty="0"/>
              <a:t>R² = 0.834</a:t>
            </a:r>
            <a:r>
              <a:rPr lang="en-US" dirty="0"/>
              <a:t>, RMSE = 0.143</a:t>
            </a:r>
          </a:p>
          <a:p>
            <a:r>
              <a:rPr lang="en-US" dirty="0"/>
              <a:t>Good learning curves but </a:t>
            </a:r>
            <a:r>
              <a:rPr lang="en-US" b="1" dirty="0"/>
              <a:t>weaker than </a:t>
            </a:r>
            <a:r>
              <a:rPr lang="en-US" b="1" dirty="0" err="1"/>
              <a:t>XGBoost</a:t>
            </a:r>
            <a:r>
              <a:rPr lang="en-US" dirty="0"/>
              <a:t>, consistent with typical tabular-data performance</a:t>
            </a:r>
            <a:r>
              <a:rPr lang="en-US" dirty="0" smtClean="0"/>
              <a:t>.</a:t>
            </a:r>
            <a:endParaRPr lang="en-US" dirty="0"/>
          </a:p>
        </p:txBody>
      </p:sp>
    </p:spTree>
    <p:extLst>
      <p:ext uri="{BB962C8B-B14F-4D97-AF65-F5344CB8AC3E}">
        <p14:creationId xmlns:p14="http://schemas.microsoft.com/office/powerpoint/2010/main" val="223967093"/>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Final Model &amp; Deployment</a:t>
            </a:r>
          </a:p>
        </p:txBody>
      </p:sp>
      <p:sp>
        <p:nvSpPr>
          <p:cNvPr id="4" name="TextBox 3"/>
          <p:cNvSpPr txBox="1"/>
          <p:nvPr/>
        </p:nvSpPr>
        <p:spPr>
          <a:xfrm>
            <a:off x="521207" y="1417983"/>
            <a:ext cx="11206967" cy="4524315"/>
          </a:xfrm>
          <a:prstGeom prst="rect">
            <a:avLst/>
          </a:prstGeom>
          <a:noFill/>
        </p:spPr>
        <p:txBody>
          <a:bodyPr wrap="square" rtlCol="0">
            <a:spAutoFit/>
          </a:bodyPr>
          <a:lstStyle/>
          <a:p>
            <a:r>
              <a:rPr lang="en-US" b="1" dirty="0"/>
              <a:t>Final Selected Model: </a:t>
            </a:r>
            <a:r>
              <a:rPr lang="en-US" b="1" dirty="0" err="1"/>
              <a:t>XGBoost</a:t>
            </a:r>
            <a:endParaRPr lang="en-US" b="1" dirty="0"/>
          </a:p>
          <a:p>
            <a:r>
              <a:rPr lang="en-US" dirty="0"/>
              <a:t>Delivered the highest overall generalization performance across all models.</a:t>
            </a:r>
          </a:p>
          <a:p>
            <a:r>
              <a:rPr lang="en-US" dirty="0"/>
              <a:t>Achieved Validation R² = 0.8785 and RMSE = 0.1221, outperforming linear, ensemble, and deep learning approaches.</a:t>
            </a:r>
          </a:p>
          <a:p>
            <a:r>
              <a:rPr lang="en-US" dirty="0"/>
              <a:t>Showed strong stability, minimal overfitting, and excellent interpretability through feature importance and SHAP values</a:t>
            </a:r>
            <a:r>
              <a:rPr lang="en-US" dirty="0" smtClean="0"/>
              <a:t>.</a:t>
            </a:r>
          </a:p>
          <a:p>
            <a:endParaRPr lang="en-US" dirty="0"/>
          </a:p>
          <a:p>
            <a:r>
              <a:rPr lang="en-US" b="1" dirty="0"/>
              <a:t>Performance on </a:t>
            </a:r>
            <a:r>
              <a:rPr lang="en-US" b="1" dirty="0" err="1"/>
              <a:t>Kaggle</a:t>
            </a:r>
            <a:endParaRPr lang="en-US" b="1" dirty="0"/>
          </a:p>
          <a:p>
            <a:r>
              <a:rPr lang="en-US" dirty="0"/>
              <a:t>Final model submitted to </a:t>
            </a:r>
            <a:r>
              <a:rPr lang="en-US" dirty="0" err="1"/>
              <a:t>Kaggle</a:t>
            </a:r>
            <a:r>
              <a:rPr lang="en-US" dirty="0"/>
              <a:t> leaderboard achieved a score </a:t>
            </a:r>
            <a:r>
              <a:rPr lang="en-US" dirty="0" smtClean="0"/>
              <a:t>of: </a:t>
            </a:r>
            <a:r>
              <a:rPr lang="en-US" b="1" dirty="0" err="1" smtClean="0"/>
              <a:t>Kaggle</a:t>
            </a:r>
            <a:r>
              <a:rPr lang="en-US" b="1" dirty="0" smtClean="0"/>
              <a:t> RMSE</a:t>
            </a:r>
            <a:r>
              <a:rPr lang="en-US" b="1" dirty="0"/>
              <a:t>: 0.13744</a:t>
            </a:r>
            <a:endParaRPr lang="en-US" dirty="0"/>
          </a:p>
          <a:p>
            <a:r>
              <a:rPr lang="en-US" dirty="0"/>
              <a:t>This indicates strong predictive performance and consistency with the leaderboard’s evaluation metric.</a:t>
            </a:r>
          </a:p>
          <a:p>
            <a:endParaRPr lang="en-US" dirty="0" smtClean="0"/>
          </a:p>
          <a:p>
            <a:r>
              <a:rPr lang="en-US" b="1" dirty="0"/>
              <a:t>Deployment</a:t>
            </a:r>
          </a:p>
          <a:p>
            <a:r>
              <a:rPr lang="en-US" dirty="0"/>
              <a:t>The fully trained </a:t>
            </a:r>
            <a:r>
              <a:rPr lang="en-US" dirty="0" err="1"/>
              <a:t>XGBoost</a:t>
            </a:r>
            <a:r>
              <a:rPr lang="en-US" dirty="0"/>
              <a:t> model was deployed using </a:t>
            </a:r>
            <a:r>
              <a:rPr lang="en-US" dirty="0" err="1"/>
              <a:t>Streamlit</a:t>
            </a:r>
            <a:r>
              <a:rPr lang="en-US" dirty="0"/>
              <a:t>, providing an interactive interface for real-time price prediction.</a:t>
            </a:r>
          </a:p>
          <a:p>
            <a:r>
              <a:rPr lang="en-US" dirty="0"/>
              <a:t>Live app available at:</a:t>
            </a:r>
            <a:br>
              <a:rPr lang="en-US" dirty="0"/>
            </a:br>
            <a:r>
              <a:rPr lang="en-US" b="1" dirty="0">
                <a:hlinkClick r:id="rId2"/>
              </a:rPr>
              <a:t>https://kibosivy-property-prices-predictions-app-mqyip5.streamlit.app</a:t>
            </a:r>
            <a:r>
              <a:rPr lang="en-US" b="1" dirty="0" smtClean="0">
                <a:hlinkClick r:id="rId2"/>
              </a:rPr>
              <a:t>/</a:t>
            </a:r>
            <a:endParaRPr lang="en-US" dirty="0"/>
          </a:p>
        </p:txBody>
      </p:sp>
    </p:spTree>
    <p:extLst>
      <p:ext uri="{BB962C8B-B14F-4D97-AF65-F5344CB8AC3E}">
        <p14:creationId xmlns:p14="http://schemas.microsoft.com/office/powerpoint/2010/main" val="683886527"/>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Conclusion</a:t>
            </a:r>
            <a:endParaRPr lang="en-US" b="1" dirty="0"/>
          </a:p>
        </p:txBody>
      </p:sp>
      <p:sp>
        <p:nvSpPr>
          <p:cNvPr id="4" name="TextBox 3"/>
          <p:cNvSpPr txBox="1"/>
          <p:nvPr/>
        </p:nvSpPr>
        <p:spPr>
          <a:xfrm>
            <a:off x="649357" y="1484243"/>
            <a:ext cx="10999304" cy="2308324"/>
          </a:xfrm>
          <a:prstGeom prst="rect">
            <a:avLst/>
          </a:prstGeom>
          <a:noFill/>
        </p:spPr>
        <p:txBody>
          <a:bodyPr wrap="square" rtlCol="0">
            <a:spAutoFit/>
          </a:bodyPr>
          <a:lstStyle/>
          <a:p>
            <a:r>
              <a:rPr lang="en-US" dirty="0"/>
              <a:t>This project successfully developed a full machine-learning pipeline capable of predicting house prices with high accuracy. Through rigorous data cleaning, domain-driven feature engineering, and advanced modeling, </a:t>
            </a:r>
            <a:r>
              <a:rPr lang="en-US" dirty="0" err="1"/>
              <a:t>XGBoost</a:t>
            </a:r>
            <a:r>
              <a:rPr lang="en-US" dirty="0"/>
              <a:t> emerged as the strongest performer with a validation </a:t>
            </a:r>
            <a:r>
              <a:rPr lang="en-US" b="1" dirty="0"/>
              <a:t>R² of 0.8785</a:t>
            </a:r>
            <a:r>
              <a:rPr lang="en-US" dirty="0"/>
              <a:t> and strong residual behavior.</a:t>
            </a:r>
          </a:p>
          <a:p>
            <a:r>
              <a:rPr lang="en-US" dirty="0"/>
              <a:t>The model effectively captured core pricing drivers such as overall quality, total square footage, and renovation age. SHAP analysis validated that predictions aligned with real-world housing economics.</a:t>
            </a:r>
          </a:p>
          <a:p>
            <a:r>
              <a:rPr lang="en-US" dirty="0"/>
              <a:t>The final system was deployed via a </a:t>
            </a:r>
            <a:r>
              <a:rPr lang="en-US" dirty="0" err="1"/>
              <a:t>Streamlit</a:t>
            </a:r>
            <a:r>
              <a:rPr lang="en-US" dirty="0"/>
              <a:t> web app and achieved a </a:t>
            </a:r>
            <a:r>
              <a:rPr lang="en-US" b="1" dirty="0" err="1"/>
              <a:t>Kaggle</a:t>
            </a:r>
            <a:r>
              <a:rPr lang="en-US" b="1" dirty="0"/>
              <a:t> </a:t>
            </a:r>
            <a:r>
              <a:rPr lang="en-US" b="1" dirty="0" smtClean="0"/>
              <a:t>RMSE </a:t>
            </a:r>
            <a:r>
              <a:rPr lang="en-US" b="1" dirty="0"/>
              <a:t>score of 0.13744</a:t>
            </a:r>
            <a:r>
              <a:rPr lang="en-US" dirty="0"/>
              <a:t>, demonstrating solid generalization on unseen data</a:t>
            </a:r>
            <a:r>
              <a:rPr lang="en-US" dirty="0" smtClean="0"/>
              <a:t>.</a:t>
            </a:r>
            <a:endParaRPr lang="en-US" dirty="0"/>
          </a:p>
        </p:txBody>
      </p:sp>
    </p:spTree>
    <p:extLst>
      <p:ext uri="{BB962C8B-B14F-4D97-AF65-F5344CB8AC3E}">
        <p14:creationId xmlns:p14="http://schemas.microsoft.com/office/powerpoint/2010/main" val="2747303684"/>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Future Works</a:t>
            </a:r>
            <a:endParaRPr lang="en-US" b="1" dirty="0"/>
          </a:p>
        </p:txBody>
      </p:sp>
      <p:sp>
        <p:nvSpPr>
          <p:cNvPr id="4" name="TextBox 3"/>
          <p:cNvSpPr txBox="1"/>
          <p:nvPr/>
        </p:nvSpPr>
        <p:spPr>
          <a:xfrm>
            <a:off x="622851" y="1404730"/>
            <a:ext cx="10919791" cy="1754326"/>
          </a:xfrm>
          <a:prstGeom prst="rect">
            <a:avLst/>
          </a:prstGeom>
          <a:noFill/>
        </p:spPr>
        <p:txBody>
          <a:bodyPr wrap="square" rtlCol="0">
            <a:spAutoFit/>
          </a:bodyPr>
          <a:lstStyle/>
          <a:p>
            <a:r>
              <a:rPr lang="en-US" dirty="0"/>
              <a:t>Time Series Integration: Incorporate market trends and seasonality effects on prices</a:t>
            </a:r>
          </a:p>
          <a:p>
            <a:r>
              <a:rPr lang="en-US" dirty="0"/>
              <a:t>•Geospatial Features: Distance to amenities, transportation, employment centers</a:t>
            </a:r>
          </a:p>
          <a:p>
            <a:r>
              <a:rPr lang="en-US" dirty="0"/>
              <a:t>•Advanced </a:t>
            </a:r>
            <a:r>
              <a:rPr lang="en-US" dirty="0" err="1"/>
              <a:t>Ensembling</a:t>
            </a:r>
            <a:r>
              <a:rPr lang="en-US" dirty="0"/>
              <a:t>: Explore </a:t>
            </a:r>
            <a:r>
              <a:rPr lang="en-US" dirty="0" err="1"/>
              <a:t>CatBoost</a:t>
            </a:r>
            <a:r>
              <a:rPr lang="en-US" dirty="0"/>
              <a:t>, </a:t>
            </a:r>
            <a:r>
              <a:rPr lang="en-US" dirty="0" err="1"/>
              <a:t>LightGBM</a:t>
            </a:r>
            <a:r>
              <a:rPr lang="en-US" dirty="0"/>
              <a:t>, and stacking with neural </a:t>
            </a:r>
            <a:r>
              <a:rPr lang="en-US" dirty="0" smtClean="0"/>
              <a:t>networks</a:t>
            </a:r>
          </a:p>
          <a:p>
            <a:r>
              <a:rPr lang="en-US" dirty="0" smtClean="0"/>
              <a:t>•</a:t>
            </a:r>
            <a:r>
              <a:rPr lang="en-US" dirty="0"/>
              <a:t>Image Analysis: CNN for property photo analysis (condition assessment)</a:t>
            </a:r>
          </a:p>
          <a:p>
            <a:r>
              <a:rPr lang="en-US" dirty="0"/>
              <a:t>•Model Monitoring: Track prediction accuracy over time, detect data drift</a:t>
            </a:r>
          </a:p>
          <a:p>
            <a:r>
              <a:rPr lang="en-US" dirty="0"/>
              <a:t>•Automated Retraining: Pipeline for periodic model updates with new market data</a:t>
            </a:r>
          </a:p>
        </p:txBody>
      </p:sp>
    </p:spTree>
    <p:extLst>
      <p:ext uri="{BB962C8B-B14F-4D97-AF65-F5344CB8AC3E}">
        <p14:creationId xmlns:p14="http://schemas.microsoft.com/office/powerpoint/2010/main" val="328765763"/>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02365" y="1550504"/>
            <a:ext cx="10866783" cy="2800767"/>
          </a:xfrm>
          <a:prstGeom prst="rect">
            <a:avLst/>
          </a:prstGeom>
          <a:noFill/>
        </p:spPr>
        <p:txBody>
          <a:bodyPr wrap="square" rtlCol="0">
            <a:spAutoFit/>
          </a:bodyPr>
          <a:lstStyle/>
          <a:p>
            <a:pPr algn="ctr"/>
            <a:r>
              <a:rPr lang="en-US" sz="8800" dirty="0" smtClean="0"/>
              <a:t>THANK YOU</a:t>
            </a:r>
          </a:p>
          <a:p>
            <a:pPr algn="ctr"/>
            <a:r>
              <a:rPr lang="en-US" sz="8800" dirty="0" smtClean="0"/>
              <a:t>QUESTIONS?</a:t>
            </a:r>
            <a:endParaRPr lang="en-US" sz="8800" dirty="0"/>
          </a:p>
        </p:txBody>
      </p:sp>
    </p:spTree>
    <p:extLst>
      <p:ext uri="{BB962C8B-B14F-4D97-AF65-F5344CB8AC3E}">
        <p14:creationId xmlns:p14="http://schemas.microsoft.com/office/powerpoint/2010/main" val="3821235361"/>
      </p:ext>
    </p:extLst>
  </p:cSld>
  <p:clrMapOvr>
    <a:masterClrMapping/>
  </p:clrMapOvr>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F10001108_Welcome to Powerpoint 2016_CLR_v2" id="{CAB9082A-965C-42BE-8170-C940D3319B60}" vid="{82B84162-888A-4FD2-BEC9-B29B6DB2C73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a8a52e8c320b9a064ae3583ae3861c9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88020cb39231a0945110f9cd888b521a"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D7FC771-7DFE-49DA-B577-71181BFBCB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950072C5-DDE0-4258-BA7A-4D4B80DFA632}">
  <ds:schemaRefs>
    <ds:schemaRef ds:uri="http://purl.org/dc/elements/1.1/"/>
    <ds:schemaRef ds:uri="http://schemas.microsoft.com/office/2006/metadata/properties"/>
    <ds:schemaRef ds:uri="16c05727-aa75-4e4a-9b5f-8a80a1165891"/>
    <ds:schemaRef ds:uri="http://purl.org/dc/dcmitype/"/>
    <ds:schemaRef ds:uri="71af3243-3dd4-4a8d-8c0d-dd76da1f02a5"/>
    <ds:schemaRef ds:uri="http://schemas.microsoft.com/office/2006/documentManagement/types"/>
    <ds:schemaRef ds:uri="http://purl.org/dc/term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7EE8C63A-4744-4DE4-BB49-0FF0B5375C6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Welcome to PowerPoint</Template>
  <TotalTime>0</TotalTime>
  <Words>1481</Words>
  <Application>Microsoft Office PowerPoint</Application>
  <PresentationFormat>Widescreen</PresentationFormat>
  <Paragraphs>247</Paragraphs>
  <Slides>24</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Calibri</vt:lpstr>
      <vt:lpstr>Segoe UI</vt:lpstr>
      <vt:lpstr>Segoe UI Light</vt:lpstr>
      <vt:lpstr>WelcomeDoc</vt:lpstr>
      <vt:lpstr>Property Price Predictions  Advanced Machine Learning for Real Estate Valuation </vt:lpstr>
      <vt:lpstr>Introduction</vt:lpstr>
      <vt:lpstr>Dataset overview</vt:lpstr>
      <vt:lpstr>Data Understanding</vt:lpstr>
      <vt:lpstr>Missing Values Analysis</vt:lpstr>
      <vt:lpstr>Outlier detection and treatment</vt:lpstr>
      <vt:lpstr>Target Distribution Analysis</vt:lpstr>
      <vt:lpstr>Feature Distribution</vt:lpstr>
      <vt:lpstr>Feature Distribution</vt:lpstr>
      <vt:lpstr>Bivariate analysis</vt:lpstr>
      <vt:lpstr>Bivariate analysis</vt:lpstr>
      <vt:lpstr>Correlation matrix</vt:lpstr>
      <vt:lpstr>Multivariate Analysis &amp; Multicollinearity</vt:lpstr>
      <vt:lpstr>Encoding</vt:lpstr>
      <vt:lpstr>Feature engineering and Feature Selection</vt:lpstr>
      <vt:lpstr>Modeling Approach</vt:lpstr>
      <vt:lpstr>Hyperparameter tuning</vt:lpstr>
      <vt:lpstr>Validation curve</vt:lpstr>
      <vt:lpstr>Error analysis</vt:lpstr>
      <vt:lpstr>Feature Importance &amp; Explainability</vt:lpstr>
      <vt:lpstr>Final Model &amp; Deployment</vt:lpstr>
      <vt:lpstr>Conclusion</vt:lpstr>
      <vt:lpstr>Future Works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cp:lastModifiedBy/>
  <cp:revision>1</cp:revision>
  <dcterms:created xsi:type="dcterms:W3CDTF">2025-11-13T21:08:16Z</dcterms:created>
  <dcterms:modified xsi:type="dcterms:W3CDTF">2025-11-22T06:42:48Z</dcterms:modified>
  <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