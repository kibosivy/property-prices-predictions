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25"/>
  </p:notesMasterIdLst>
  <p:sldIdLst>
    <p:sldId id="266" r:id="rId5"/>
    <p:sldId id="270" r:id="rId6"/>
    <p:sldId id="272" r:id="rId7"/>
    <p:sldId id="273" r:id="rId8"/>
    <p:sldId id="274" r:id="rId9"/>
    <p:sldId id="276" r:id="rId10"/>
    <p:sldId id="275"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72" d="100"/>
          <a:sy n="72"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15086-06BC-4F78-B508-4E1F94CCB86B}" type="datetimeFigureOut">
              <a:rPr lang="en-US" smtClean="0"/>
              <a:t>11/29/2025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4AFE6-52F8-436F-9DAC-607E2BE5A99D}" type="slidenum">
              <a:rPr lang="en-US" smtClean="0"/>
              <a:t>‹#›</a:t>
            </a:fld>
            <a:endParaRPr lang="en-US" dirty="0"/>
          </a:p>
        </p:txBody>
      </p:sp>
    </p:spTree>
    <p:extLst>
      <p:ext uri="{BB962C8B-B14F-4D97-AF65-F5344CB8AC3E}">
        <p14:creationId xmlns:p14="http://schemas.microsoft.com/office/powerpoint/2010/main" val="3635631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1DA85BB-8327-437A-900F-6A3DB7A5ABC9}"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6FA0BC-E7BB-4D55-8710-E8474A66771E}"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958A1C5-682A-4617-9A91-5759A79A935B}"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2EFD0D0-99D2-4A10-AC62-6E2E6CF7A9EE}" type="datetime1">
              <a:rPr lang="en-US" smtClean="0"/>
              <a:t>11/29/2025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F7DEDF-EB2B-4F7F-B2DF-97C28C8FCBC9}" type="datetime1">
              <a:rPr lang="en-US" smtClean="0"/>
              <a:t>11/29/2025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780351-56D7-412F-9F2E-17819DF3B01D}" type="datetime1">
              <a:rPr lang="en-US" smtClean="0"/>
              <a:t>11/29/2025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8F068B-C601-4124-944A-AED7D3FD7517}" type="datetime1">
              <a:rPr lang="en-US" smtClean="0"/>
              <a:t>11/29/2025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46F7A73-7818-460B-8F62-87CD8A1DAD1A}" type="datetime1">
              <a:rPr lang="en-US" smtClean="0"/>
              <a:t>11/29/2025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6CF8665-A302-4073-9097-DCE6BA8A5D14}" type="datetime1">
              <a:rPr lang="en-US" smtClean="0"/>
              <a:t>11/29/2025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6973878A-9A6C-446F-AE2D-FA0E8037C59B}" type="datetime1">
              <a:rPr lang="en-US" smtClean="0"/>
              <a:t>11/29/2025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FCC5687-D9F1-45E2-A621-A964456C9C51}"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D05D98-6779-42E9-AA36-C6D6C2CA339B}"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5414117-4E55-454A-B008-5B316A3C4A1E}"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685336-EDD6-4B11-BDCB-D9716D9D0CAD}"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D90B30B-3EA6-4689-8E7C-D798375DFD60}"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C5E6C6-E680-4C09-9A82-6D6D4A458B45}"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F7BBFA-E374-465F-B18D-F6CE71921593}" type="datetime1">
              <a:rPr lang="en-US" smtClean="0"/>
              <a:t>11/29/2025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8D89FA6-8D64-42DE-8A02-4A6662349BFD}" type="datetime1">
              <a:rPr lang="en-US" smtClean="0"/>
              <a:t>11/29/2025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c/house-prices-advanced-regression-techniques"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A675F33-98AF-4B83-A3BB-0780A23145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CD85834-55D9-470E-9834-623384F2476A}"/>
              </a:ext>
              <a:ext uri="{C183D7F6-B498-43B3-948B-1728B52AA6E4}">
                <adec:decorative xmlns:adec="http://schemas.microsoft.com/office/drawing/2017/decorative" xmlns="" val="1"/>
              </a:ext>
            </a:extLst>
          </p:cNvPr>
          <p:cNvPicPr>
            <a:picLocks noChangeAspect="1"/>
          </p:cNvPicPr>
          <p:nvPr/>
        </p:nvPicPr>
        <p:blipFill rotWithShape="1">
          <a:blip r:embed="rId2">
            <a:alphaModFix amt="40000"/>
          </a:blip>
          <a:srcRect t="9418" b="6313"/>
          <a:stretch/>
        </p:blipFill>
        <p:spPr>
          <a:xfrm>
            <a:off x="-3175" y="10"/>
            <a:ext cx="12192000" cy="6857990"/>
          </a:xfrm>
          <a:prstGeom prst="rect">
            <a:avLst/>
          </a:prstGeom>
        </p:spPr>
      </p:pic>
      <p:sp>
        <p:nvSpPr>
          <p:cNvPr id="2" name="Title 1">
            <a:extLst>
              <a:ext uri="{FF2B5EF4-FFF2-40B4-BE49-F238E27FC236}">
                <a16:creationId xmlns:a16="http://schemas.microsoft.com/office/drawing/2014/main" id="{DD812CC5-3F64-4837-AE94-66C400A325B0}"/>
              </a:ext>
            </a:extLst>
          </p:cNvPr>
          <p:cNvSpPr>
            <a:spLocks noGrp="1"/>
          </p:cNvSpPr>
          <p:nvPr>
            <p:ph type="ctrTitle"/>
          </p:nvPr>
        </p:nvSpPr>
        <p:spPr>
          <a:xfrm>
            <a:off x="684212" y="685799"/>
            <a:ext cx="8001000" cy="2971801"/>
          </a:xfrm>
        </p:spPr>
        <p:txBody>
          <a:bodyPr>
            <a:normAutofit/>
          </a:bodyPr>
          <a:lstStyle/>
          <a:p>
            <a:r>
              <a:rPr lang="en-US" sz="3200" b="1" dirty="0"/>
              <a:t>Property Price Predictions</a:t>
            </a:r>
            <a:br>
              <a:rPr lang="en-US" sz="3200" b="1" dirty="0"/>
            </a:br>
            <a:r>
              <a:rPr lang="en-US" sz="3200" b="1" dirty="0"/>
              <a:t/>
            </a:r>
            <a:br>
              <a:rPr lang="en-US" sz="3200" b="1" dirty="0"/>
            </a:br>
            <a:r>
              <a:rPr lang="en-US" sz="3200" b="1" dirty="0"/>
              <a:t>Advanced Machine Learning for Real Estate </a:t>
            </a:r>
            <a:r>
              <a:rPr lang="en-US" sz="3200" b="1" dirty="0" smtClean="0"/>
              <a:t>Valuation</a:t>
            </a:r>
            <a:endParaRPr lang="en-US" sz="3200" dirty="0"/>
          </a:p>
        </p:txBody>
      </p:sp>
      <p:sp>
        <p:nvSpPr>
          <p:cNvPr id="3" name="Subtitle 2">
            <a:extLst>
              <a:ext uri="{FF2B5EF4-FFF2-40B4-BE49-F238E27FC236}">
                <a16:creationId xmlns:a16="http://schemas.microsoft.com/office/drawing/2014/main" id="{150012D5-B732-49FA-8D2C-A5C52B3641FB}"/>
              </a:ext>
            </a:extLst>
          </p:cNvPr>
          <p:cNvSpPr>
            <a:spLocks noGrp="1"/>
          </p:cNvSpPr>
          <p:nvPr>
            <p:ph type="subTitle" idx="1"/>
          </p:nvPr>
        </p:nvSpPr>
        <p:spPr>
          <a:xfrm>
            <a:off x="684212" y="3843867"/>
            <a:ext cx="6765100" cy="1947333"/>
          </a:xfrm>
        </p:spPr>
        <p:txBody>
          <a:bodyPr>
            <a:normAutofit/>
          </a:bodyPr>
          <a:lstStyle/>
          <a:p>
            <a:r>
              <a:rPr lang="en-US" dirty="0" err="1" smtClean="0">
                <a:solidFill>
                  <a:schemeClr val="tx1"/>
                </a:solidFill>
              </a:rPr>
              <a:t>Kibos</a:t>
            </a:r>
            <a:r>
              <a:rPr lang="en-US" dirty="0" smtClean="0">
                <a:solidFill>
                  <a:schemeClr val="tx1"/>
                </a:solidFill>
              </a:rPr>
              <a:t> Ivy</a:t>
            </a:r>
          </a:p>
          <a:p>
            <a:endParaRPr lang="en-US" dirty="0">
              <a:solidFill>
                <a:schemeClr val="tx1"/>
              </a:solidFill>
            </a:endParaRPr>
          </a:p>
        </p:txBody>
      </p:sp>
    </p:spTree>
    <p:extLst>
      <p:ext uri="{BB962C8B-B14F-4D97-AF65-F5344CB8AC3E}">
        <p14:creationId xmlns:p14="http://schemas.microsoft.com/office/powerpoint/2010/main" val="38573100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685800"/>
            <a:ext cx="10357861" cy="5618018"/>
          </a:xfrm>
        </p:spPr>
        <p:txBody>
          <a:bodyPr>
            <a:normAutofit fontScale="92500" lnSpcReduction="20000"/>
          </a:bodyPr>
          <a:lstStyle/>
          <a:p>
            <a:pPr marL="0" indent="0">
              <a:buNone/>
            </a:pPr>
            <a:r>
              <a:rPr lang="en-US" sz="3000" b="1" dirty="0" smtClean="0">
                <a:solidFill>
                  <a:schemeClr val="tx1"/>
                </a:solidFill>
              </a:rPr>
              <a:t>INTRODUCTION</a:t>
            </a:r>
            <a:endParaRPr lang="en-US" sz="3000" dirty="0" smtClean="0">
              <a:solidFill>
                <a:schemeClr val="tx1"/>
              </a:solidFill>
            </a:endParaRPr>
          </a:p>
          <a:p>
            <a:r>
              <a:rPr lang="en-US" dirty="0" smtClean="0">
                <a:solidFill>
                  <a:schemeClr val="tx1"/>
                </a:solidFill>
              </a:rPr>
              <a:t>Accurate </a:t>
            </a:r>
            <a:r>
              <a:rPr lang="en-US" dirty="0">
                <a:solidFill>
                  <a:schemeClr val="tx1"/>
                </a:solidFill>
              </a:rPr>
              <a:t>property valuation is critical for homebuyers, sellers, lenders, and investors. Traditional appraisal methods can be time-consuming and subjective. Our goal is to build a data-driven model that can predict house prices with high accuracy.</a:t>
            </a:r>
          </a:p>
          <a:p>
            <a:endParaRPr lang="en-US" dirty="0">
              <a:solidFill>
                <a:schemeClr val="tx1"/>
              </a:solidFill>
            </a:endParaRPr>
          </a:p>
          <a:p>
            <a:r>
              <a:rPr lang="en-US" b="1" dirty="0">
                <a:solidFill>
                  <a:schemeClr val="tx1"/>
                </a:solidFill>
              </a:rPr>
              <a:t>Technical Challenges</a:t>
            </a:r>
          </a:p>
          <a:p>
            <a:r>
              <a:rPr lang="en-US" dirty="0">
                <a:solidFill>
                  <a:schemeClr val="tx1"/>
                </a:solidFill>
              </a:rPr>
              <a:t>•High-dimensional feature space (79 variables)</a:t>
            </a:r>
          </a:p>
          <a:p>
            <a:r>
              <a:rPr lang="en-US" dirty="0">
                <a:solidFill>
                  <a:schemeClr val="tx1"/>
                </a:solidFill>
              </a:rPr>
              <a:t>•Mixed data types requiring different encodings</a:t>
            </a:r>
          </a:p>
          <a:p>
            <a:r>
              <a:rPr lang="en-US" dirty="0">
                <a:solidFill>
                  <a:schemeClr val="tx1"/>
                </a:solidFill>
              </a:rPr>
              <a:t>•Significant missing values (structural &amp; random)</a:t>
            </a:r>
          </a:p>
          <a:p>
            <a:r>
              <a:rPr lang="en-US" dirty="0">
                <a:solidFill>
                  <a:schemeClr val="tx1"/>
                </a:solidFill>
              </a:rPr>
              <a:t>•Extreme outliers affecting model training</a:t>
            </a:r>
          </a:p>
          <a:p>
            <a:r>
              <a:rPr lang="en-US" b="1" dirty="0">
                <a:solidFill>
                  <a:schemeClr val="tx1"/>
                </a:solidFill>
              </a:rPr>
              <a:t>Business Requirements</a:t>
            </a:r>
          </a:p>
          <a:p>
            <a:r>
              <a:rPr lang="en-US" dirty="0">
                <a:solidFill>
                  <a:schemeClr val="tx1"/>
                </a:solidFill>
              </a:rPr>
              <a:t>•Minimize prediction error (RMSE/MAE)</a:t>
            </a:r>
          </a:p>
          <a:p>
            <a:r>
              <a:rPr lang="en-US" dirty="0">
                <a:solidFill>
                  <a:schemeClr val="tx1"/>
                </a:solidFill>
              </a:rPr>
              <a:t>•Handle diverse property types</a:t>
            </a:r>
          </a:p>
          <a:p>
            <a:r>
              <a:rPr lang="en-US" dirty="0">
                <a:solidFill>
                  <a:schemeClr val="tx1"/>
                </a:solidFill>
              </a:rPr>
              <a:t>•Provide interpretable predictions</a:t>
            </a:r>
          </a:p>
          <a:p>
            <a:r>
              <a:rPr lang="en-US" dirty="0">
                <a:solidFill>
                  <a:schemeClr val="tx1"/>
                </a:solidFill>
              </a:rPr>
              <a:t>•Deploy as production-ready system</a:t>
            </a:r>
            <a:endParaRPr lang="en-US" dirty="0">
              <a:solidFill>
                <a:schemeClr val="tx1"/>
              </a:solidFill>
            </a:endParaRPr>
          </a:p>
        </p:txBody>
      </p:sp>
    </p:spTree>
    <p:extLst>
      <p:ext uri="{BB962C8B-B14F-4D97-AF65-F5344CB8AC3E}">
        <p14:creationId xmlns:p14="http://schemas.microsoft.com/office/powerpoint/2010/main" val="77158852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5846618"/>
          </a:xfrm>
        </p:spPr>
        <p:txBody>
          <a:bodyPr>
            <a:normAutofit fontScale="92500" lnSpcReduction="20000"/>
          </a:bodyPr>
          <a:lstStyle/>
          <a:p>
            <a:pPr marL="0" indent="0">
              <a:buNone/>
            </a:pPr>
            <a:r>
              <a:rPr lang="en-US" sz="4000" b="1" dirty="0" smtClean="0">
                <a:solidFill>
                  <a:schemeClr val="tx1"/>
                </a:solidFill>
              </a:rPr>
              <a:t>DATASET OVERVIEW</a:t>
            </a:r>
          </a:p>
          <a:p>
            <a:pPr>
              <a:lnSpc>
                <a:spcPct val="120000"/>
              </a:lnSpc>
            </a:pPr>
            <a:r>
              <a:rPr lang="en-US" dirty="0" smtClean="0">
                <a:solidFill>
                  <a:schemeClr val="tx1"/>
                </a:solidFill>
              </a:rPr>
              <a:t>-The project uses the </a:t>
            </a:r>
            <a:r>
              <a:rPr lang="en-US" dirty="0" err="1" smtClean="0">
                <a:solidFill>
                  <a:schemeClr val="tx1"/>
                </a:solidFill>
              </a:rPr>
              <a:t>Kaggle</a:t>
            </a:r>
            <a:r>
              <a:rPr lang="en-US" dirty="0" smtClean="0">
                <a:solidFill>
                  <a:schemeClr val="tx1"/>
                </a:solidFill>
              </a:rPr>
              <a:t> competition dataset: </a:t>
            </a:r>
            <a:r>
              <a:rPr lang="en-US" b="1" dirty="0" smtClean="0">
                <a:solidFill>
                  <a:schemeClr val="tx1"/>
                </a:solidFill>
              </a:rPr>
              <a:t>House Prices – Advanced Regression Techniques</a:t>
            </a:r>
            <a:endParaRPr lang="en-US" dirty="0" smtClean="0">
              <a:solidFill>
                <a:schemeClr val="tx1"/>
              </a:solidFill>
            </a:endParaRPr>
          </a:p>
          <a:p>
            <a:pPr>
              <a:lnSpc>
                <a:spcPct val="120000"/>
              </a:lnSpc>
            </a:pPr>
            <a:r>
              <a:rPr lang="en-US" dirty="0" smtClean="0">
                <a:solidFill>
                  <a:schemeClr val="tx1"/>
                </a:solidFill>
              </a:rPr>
              <a:t>- </a:t>
            </a:r>
            <a:r>
              <a:rPr lang="en-US" b="1" dirty="0">
                <a:solidFill>
                  <a:schemeClr val="tx1"/>
                </a:solidFill>
              </a:rPr>
              <a:t>Dataset Link:</a:t>
            </a:r>
            <a:r>
              <a:rPr lang="en-US" dirty="0">
                <a:solidFill>
                  <a:schemeClr val="tx1"/>
                </a:solidFill>
              </a:rPr>
              <a:t> </a:t>
            </a:r>
            <a:r>
              <a:rPr lang="en-US" dirty="0">
                <a:solidFill>
                  <a:schemeClr val="tx1"/>
                </a:solidFill>
                <a:hlinkClick r:id="rId3"/>
              </a:rPr>
              <a:t>https://www.kaggle.com/c/house-prices-advanced-regression-techniques</a:t>
            </a:r>
            <a:endParaRPr lang="en-US" dirty="0">
              <a:solidFill>
                <a:schemeClr val="tx1"/>
              </a:solidFill>
            </a:endParaRPr>
          </a:p>
          <a:p>
            <a:pPr>
              <a:lnSpc>
                <a:spcPct val="120000"/>
              </a:lnSpc>
            </a:pPr>
            <a:r>
              <a:rPr lang="en-US" b="1" dirty="0">
                <a:solidFill>
                  <a:schemeClr val="tx1"/>
                </a:solidFill>
              </a:rPr>
              <a:t>- Training set:</a:t>
            </a:r>
            <a:r>
              <a:rPr lang="en-US" dirty="0">
                <a:solidFill>
                  <a:schemeClr val="tx1"/>
                </a:solidFill>
              </a:rPr>
              <a:t> 1,460 houses (</a:t>
            </a:r>
            <a:r>
              <a:rPr lang="en-US" b="1" dirty="0">
                <a:solidFill>
                  <a:schemeClr val="tx1"/>
                </a:solidFill>
              </a:rPr>
              <a:t>80</a:t>
            </a:r>
            <a:r>
              <a:rPr lang="en-US" dirty="0">
                <a:solidFill>
                  <a:schemeClr val="tx1"/>
                </a:solidFill>
              </a:rPr>
              <a:t> features, including </a:t>
            </a:r>
            <a:r>
              <a:rPr lang="en-US" dirty="0" err="1">
                <a:solidFill>
                  <a:schemeClr val="tx1"/>
                </a:solidFill>
              </a:rPr>
              <a:t>SalePrice</a:t>
            </a:r>
            <a:r>
              <a:rPr lang="en-US" dirty="0">
                <a:solidFill>
                  <a:schemeClr val="tx1"/>
                </a:solidFill>
              </a:rPr>
              <a:t>)</a:t>
            </a:r>
          </a:p>
          <a:p>
            <a:pPr>
              <a:lnSpc>
                <a:spcPct val="120000"/>
              </a:lnSpc>
            </a:pPr>
            <a:r>
              <a:rPr lang="en-US" b="1" dirty="0">
                <a:solidFill>
                  <a:schemeClr val="tx1"/>
                </a:solidFill>
              </a:rPr>
              <a:t>- Test set:</a:t>
            </a:r>
            <a:r>
              <a:rPr lang="en-US" dirty="0">
                <a:solidFill>
                  <a:schemeClr val="tx1"/>
                </a:solidFill>
              </a:rPr>
              <a:t> 1,459 houses (</a:t>
            </a:r>
            <a:r>
              <a:rPr lang="en-US" b="1" dirty="0">
                <a:solidFill>
                  <a:schemeClr val="tx1"/>
                </a:solidFill>
              </a:rPr>
              <a:t>79</a:t>
            </a:r>
            <a:r>
              <a:rPr lang="en-US" dirty="0">
                <a:solidFill>
                  <a:schemeClr val="tx1"/>
                </a:solidFill>
              </a:rPr>
              <a:t> predictive features)</a:t>
            </a:r>
          </a:p>
          <a:p>
            <a:pPr>
              <a:lnSpc>
                <a:spcPct val="100000"/>
              </a:lnSpc>
            </a:pPr>
            <a:r>
              <a:rPr lang="en-US" dirty="0">
                <a:solidFill>
                  <a:schemeClr val="tx1"/>
                </a:solidFill>
              </a:rPr>
              <a:t>- </a:t>
            </a:r>
            <a:r>
              <a:rPr lang="en-US" b="1" dirty="0">
                <a:solidFill>
                  <a:schemeClr val="tx1"/>
                </a:solidFill>
              </a:rPr>
              <a:t>Feature Types:</a:t>
            </a:r>
            <a:endParaRPr lang="en-US" dirty="0">
              <a:solidFill>
                <a:schemeClr val="tx1"/>
              </a:solidFill>
            </a:endParaRPr>
          </a:p>
          <a:p>
            <a:pPr marL="171450" indent="-171450">
              <a:lnSpc>
                <a:spcPct val="100000"/>
              </a:lnSpc>
              <a:buFont typeface="Arial" panose="020B0604020202020204" pitchFamily="34" charset="0"/>
              <a:buChar char="•"/>
            </a:pPr>
            <a:r>
              <a:rPr lang="en-US" dirty="0">
                <a:solidFill>
                  <a:schemeClr val="tx1"/>
                </a:solidFill>
              </a:rPr>
              <a:t>Numerical features (e.g., </a:t>
            </a:r>
            <a:r>
              <a:rPr lang="en-US" dirty="0" err="1">
                <a:solidFill>
                  <a:schemeClr val="tx1"/>
                </a:solidFill>
              </a:rPr>
              <a:t>LotArea</a:t>
            </a:r>
            <a:r>
              <a:rPr lang="en-US" dirty="0">
                <a:solidFill>
                  <a:schemeClr val="tx1"/>
                </a:solidFill>
              </a:rPr>
              <a:t>, </a:t>
            </a:r>
            <a:r>
              <a:rPr lang="en-US" dirty="0" err="1">
                <a:solidFill>
                  <a:schemeClr val="tx1"/>
                </a:solidFill>
              </a:rPr>
              <a:t>GrLivArea</a:t>
            </a:r>
            <a:r>
              <a:rPr lang="en-US" dirty="0">
                <a:solidFill>
                  <a:schemeClr val="tx1"/>
                </a:solidFill>
              </a:rPr>
              <a:t>, </a:t>
            </a:r>
            <a:r>
              <a:rPr lang="en-US" dirty="0" err="1">
                <a:solidFill>
                  <a:schemeClr val="tx1"/>
                </a:solidFill>
              </a:rPr>
              <a:t>GarageArea</a:t>
            </a:r>
            <a:r>
              <a:rPr lang="en-US" dirty="0">
                <a:solidFill>
                  <a:schemeClr val="tx1"/>
                </a:solidFill>
              </a:rPr>
              <a:t>)</a:t>
            </a:r>
          </a:p>
          <a:p>
            <a:pPr marL="171450" indent="-171450">
              <a:lnSpc>
                <a:spcPct val="100000"/>
              </a:lnSpc>
              <a:buFont typeface="Arial" panose="020B0604020202020204" pitchFamily="34" charset="0"/>
              <a:buChar char="•"/>
            </a:pPr>
            <a:r>
              <a:rPr lang="en-US" dirty="0">
                <a:solidFill>
                  <a:schemeClr val="tx1"/>
                </a:solidFill>
              </a:rPr>
              <a:t>Categorical nominal features (e.g., Neighborhood, </a:t>
            </a:r>
            <a:r>
              <a:rPr lang="en-US" dirty="0" err="1">
                <a:solidFill>
                  <a:schemeClr val="tx1"/>
                </a:solidFill>
              </a:rPr>
              <a:t>HouseStyle</a:t>
            </a:r>
            <a:r>
              <a:rPr lang="en-US" dirty="0">
                <a:solidFill>
                  <a:schemeClr val="tx1"/>
                </a:solidFill>
              </a:rPr>
              <a:t>)</a:t>
            </a:r>
          </a:p>
          <a:p>
            <a:pPr marL="171450" indent="-171450">
              <a:lnSpc>
                <a:spcPct val="100000"/>
              </a:lnSpc>
              <a:buFont typeface="Arial" panose="020B0604020202020204" pitchFamily="34" charset="0"/>
              <a:buChar char="•"/>
            </a:pPr>
            <a:r>
              <a:rPr lang="en-US" dirty="0">
                <a:solidFill>
                  <a:schemeClr val="tx1"/>
                </a:solidFill>
              </a:rPr>
              <a:t>Categorical ordinal features (e.g., </a:t>
            </a:r>
            <a:r>
              <a:rPr lang="en-US" dirty="0" err="1">
                <a:solidFill>
                  <a:schemeClr val="tx1"/>
                </a:solidFill>
              </a:rPr>
              <a:t>ExterQual</a:t>
            </a:r>
            <a:r>
              <a:rPr lang="en-US" dirty="0">
                <a:solidFill>
                  <a:schemeClr val="tx1"/>
                </a:solidFill>
              </a:rPr>
              <a:t>, </a:t>
            </a:r>
            <a:r>
              <a:rPr lang="en-US" dirty="0" err="1">
                <a:solidFill>
                  <a:schemeClr val="tx1"/>
                </a:solidFill>
              </a:rPr>
              <a:t>HeatingQC</a:t>
            </a:r>
            <a:r>
              <a:rPr lang="en-US" dirty="0">
                <a:solidFill>
                  <a:schemeClr val="tx1"/>
                </a:solidFill>
              </a:rPr>
              <a:t>)</a:t>
            </a:r>
          </a:p>
          <a:p>
            <a:pPr marL="171450" indent="-171450">
              <a:lnSpc>
                <a:spcPct val="100000"/>
              </a:lnSpc>
              <a:buFont typeface="Arial" panose="020B0604020202020204" pitchFamily="34" charset="0"/>
              <a:buChar char="•"/>
            </a:pPr>
            <a:r>
              <a:rPr lang="en-US" dirty="0">
                <a:solidFill>
                  <a:schemeClr val="tx1"/>
                </a:solidFill>
              </a:rPr>
              <a:t>Engineered features introduced during preprocessing</a:t>
            </a:r>
          </a:p>
          <a:p>
            <a:pPr marL="171450" indent="-171450">
              <a:lnSpc>
                <a:spcPct val="100000"/>
              </a:lnSpc>
              <a:buFont typeface="Arial" panose="020B0604020202020204" pitchFamily="34" charset="0"/>
              <a:buChar char="•"/>
            </a:pPr>
            <a:r>
              <a:rPr lang="en-US" dirty="0">
                <a:solidFill>
                  <a:schemeClr val="tx1"/>
                </a:solidFill>
              </a:rPr>
              <a:t>Binary indicators created through one-hot </a:t>
            </a:r>
            <a:r>
              <a:rPr lang="en-US" dirty="0" smtClean="0">
                <a:solidFill>
                  <a:schemeClr val="tx1"/>
                </a:solidFill>
              </a:rPr>
              <a:t>encoding</a:t>
            </a:r>
            <a:endParaRPr lang="en-US" dirty="0">
              <a:solidFill>
                <a:schemeClr val="tx1"/>
              </a:solidFill>
            </a:endParaRPr>
          </a:p>
          <a:p>
            <a:pPr>
              <a:lnSpc>
                <a:spcPct val="100000"/>
              </a:lnSpc>
            </a:pPr>
            <a:r>
              <a:rPr lang="en-US" b="1" dirty="0">
                <a:solidFill>
                  <a:schemeClr val="tx1"/>
                </a:solidFill>
              </a:rPr>
              <a:t>Target Variable</a:t>
            </a:r>
          </a:p>
          <a:p>
            <a:pPr marL="171450" indent="-171450">
              <a:buFont typeface="Arial" panose="020B0604020202020204" pitchFamily="34" charset="0"/>
              <a:buChar char="•"/>
            </a:pPr>
            <a:r>
              <a:rPr lang="en-US" dirty="0" err="1">
                <a:solidFill>
                  <a:schemeClr val="tx1"/>
                </a:solidFill>
              </a:rPr>
              <a:t>SalePrice</a:t>
            </a:r>
            <a:r>
              <a:rPr lang="en-US" dirty="0">
                <a:solidFill>
                  <a:schemeClr val="tx1"/>
                </a:solidFill>
              </a:rPr>
              <a:t>— the final house selling price (in dollars</a:t>
            </a:r>
            <a:r>
              <a:rPr lang="en-US" dirty="0" smtClean="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293625407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5846618"/>
          </a:xfrm>
        </p:spPr>
        <p:txBody>
          <a:bodyPr>
            <a:normAutofit/>
          </a:bodyPr>
          <a:lstStyle/>
          <a:p>
            <a:pPr marL="0" indent="0">
              <a:buNone/>
            </a:pPr>
            <a:r>
              <a:rPr lang="en-US" sz="4000" b="1" dirty="0" smtClean="0">
                <a:solidFill>
                  <a:schemeClr val="tx1"/>
                </a:solidFill>
              </a:rPr>
              <a:t>DATA UNDERSTANDING</a:t>
            </a:r>
          </a:p>
          <a:p>
            <a:pPr marL="0" indent="0">
              <a:lnSpc>
                <a:spcPct val="100000"/>
              </a:lnSpc>
              <a:buNone/>
            </a:pPr>
            <a:r>
              <a:rPr lang="en-US" b="1" dirty="0">
                <a:solidFill>
                  <a:schemeClr val="tx1"/>
                </a:solidFill>
              </a:rPr>
              <a:t>Objective of EDA</a:t>
            </a:r>
          </a:p>
          <a:p>
            <a:pPr marL="171450" indent="-171450">
              <a:lnSpc>
                <a:spcPct val="100000"/>
              </a:lnSpc>
              <a:buFont typeface="Arial" panose="020B0604020202020204" pitchFamily="34" charset="0"/>
              <a:buChar char="•"/>
            </a:pPr>
            <a:r>
              <a:rPr lang="en-US" dirty="0">
                <a:solidFill>
                  <a:schemeClr val="tx1"/>
                </a:solidFill>
              </a:rPr>
              <a:t>To understand the structure, quality, and behavior of the dataset before applying machine learning. This step identifies:</a:t>
            </a:r>
          </a:p>
          <a:p>
            <a:pPr>
              <a:lnSpc>
                <a:spcPct val="100000"/>
              </a:lnSpc>
              <a:buFont typeface="Wingdings" panose="05000000000000000000" pitchFamily="2" charset="2"/>
              <a:buChar char="Ø"/>
            </a:pPr>
            <a:r>
              <a:rPr lang="en-US" dirty="0" smtClean="0">
                <a:solidFill>
                  <a:schemeClr val="tx1"/>
                </a:solidFill>
              </a:rPr>
              <a:t>Data types</a:t>
            </a:r>
          </a:p>
          <a:p>
            <a:pPr>
              <a:lnSpc>
                <a:spcPct val="100000"/>
              </a:lnSpc>
              <a:buFont typeface="Wingdings" panose="05000000000000000000" pitchFamily="2" charset="2"/>
              <a:buChar char="Ø"/>
            </a:pPr>
            <a:r>
              <a:rPr lang="en-US" dirty="0" smtClean="0">
                <a:solidFill>
                  <a:schemeClr val="tx1"/>
                </a:solidFill>
              </a:rPr>
              <a:t>Missing values</a:t>
            </a:r>
          </a:p>
          <a:p>
            <a:pPr>
              <a:lnSpc>
                <a:spcPct val="100000"/>
              </a:lnSpc>
              <a:buFont typeface="Wingdings" panose="05000000000000000000" pitchFamily="2" charset="2"/>
              <a:buChar char="Ø"/>
            </a:pPr>
            <a:r>
              <a:rPr lang="en-US" dirty="0" smtClean="0">
                <a:solidFill>
                  <a:schemeClr val="tx1"/>
                </a:solidFill>
              </a:rPr>
              <a:t>Outliers</a:t>
            </a:r>
          </a:p>
          <a:p>
            <a:pPr>
              <a:lnSpc>
                <a:spcPct val="100000"/>
              </a:lnSpc>
              <a:buFont typeface="Wingdings" panose="05000000000000000000" pitchFamily="2" charset="2"/>
              <a:buChar char="Ø"/>
            </a:pPr>
            <a:r>
              <a:rPr lang="en-US" dirty="0" smtClean="0">
                <a:solidFill>
                  <a:schemeClr val="tx1"/>
                </a:solidFill>
              </a:rPr>
              <a:t>Relationships </a:t>
            </a:r>
            <a:r>
              <a:rPr lang="en-US" dirty="0">
                <a:solidFill>
                  <a:schemeClr val="tx1"/>
                </a:solidFill>
              </a:rPr>
              <a:t>between key features and the </a:t>
            </a:r>
            <a:r>
              <a:rPr lang="en-US" dirty="0" smtClean="0">
                <a:solidFill>
                  <a:schemeClr val="tx1"/>
                </a:solidFill>
              </a:rPr>
              <a:t>target</a:t>
            </a:r>
          </a:p>
          <a:p>
            <a:pPr>
              <a:lnSpc>
                <a:spcPct val="100000"/>
              </a:lnSpc>
              <a:buFont typeface="Wingdings" panose="05000000000000000000" pitchFamily="2" charset="2"/>
              <a:buChar char="Ø"/>
            </a:pPr>
            <a:r>
              <a:rPr lang="en-US" dirty="0" smtClean="0">
                <a:solidFill>
                  <a:schemeClr val="tx1"/>
                </a:solidFill>
              </a:rPr>
              <a:t>Patterns </a:t>
            </a:r>
            <a:r>
              <a:rPr lang="en-US" dirty="0">
                <a:solidFill>
                  <a:schemeClr val="tx1"/>
                </a:solidFill>
              </a:rPr>
              <a:t>that guide preprocessing &amp; modeling</a:t>
            </a:r>
            <a:endParaRPr lang="en-US" dirty="0">
              <a:solidFill>
                <a:schemeClr val="tx1"/>
              </a:solidFill>
            </a:endParaRPr>
          </a:p>
        </p:txBody>
      </p:sp>
    </p:spTree>
    <p:extLst>
      <p:ext uri="{BB962C8B-B14F-4D97-AF65-F5344CB8AC3E}">
        <p14:creationId xmlns:p14="http://schemas.microsoft.com/office/powerpoint/2010/main" val="199205160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MISSING VALUE ANALYSIS</a:t>
            </a:r>
          </a:p>
          <a:p>
            <a:pPr>
              <a:buFontTx/>
              <a:buChar char="-"/>
            </a:pPr>
            <a:r>
              <a:rPr lang="en-US" sz="1800" dirty="0" smtClean="0">
                <a:solidFill>
                  <a:schemeClr val="tx1"/>
                </a:solidFill>
              </a:rPr>
              <a:t>Many </a:t>
            </a:r>
            <a:r>
              <a:rPr lang="en-US" sz="1800" dirty="0">
                <a:solidFill>
                  <a:schemeClr val="tx1"/>
                </a:solidFill>
              </a:rPr>
              <a:t>features in </a:t>
            </a:r>
            <a:r>
              <a:rPr lang="en-US" sz="1800" dirty="0" smtClean="0">
                <a:solidFill>
                  <a:schemeClr val="tx1"/>
                </a:solidFill>
              </a:rPr>
              <a:t>the dataset </a:t>
            </a:r>
            <a:r>
              <a:rPr lang="en-US" sz="1800" dirty="0">
                <a:solidFill>
                  <a:schemeClr val="tx1"/>
                </a:solidFill>
              </a:rPr>
              <a:t>use missing values to indicate feature </a:t>
            </a:r>
            <a:r>
              <a:rPr lang="en-US" sz="1800" dirty="0" smtClean="0">
                <a:solidFill>
                  <a:schemeClr val="tx1"/>
                </a:solidFill>
              </a:rPr>
              <a:t>absence.</a:t>
            </a:r>
          </a:p>
          <a:p>
            <a:pPr>
              <a:buFontTx/>
              <a:buChar char="-"/>
            </a:pPr>
            <a:r>
              <a:rPr lang="en-US" sz="1800" dirty="0" smtClean="0">
                <a:solidFill>
                  <a:schemeClr val="tx1"/>
                </a:solidFill>
              </a:rPr>
              <a:t>Categorical </a:t>
            </a:r>
            <a:r>
              <a:rPr lang="en-US" sz="1800" dirty="0">
                <a:solidFill>
                  <a:schemeClr val="tx1"/>
                </a:solidFill>
              </a:rPr>
              <a:t>Features Where </a:t>
            </a:r>
            <a:r>
              <a:rPr lang="en-US" sz="1800" dirty="0" smtClean="0">
                <a:solidFill>
                  <a:schemeClr val="tx1"/>
                </a:solidFill>
              </a:rPr>
              <a:t>NA, Filled </a:t>
            </a:r>
            <a:r>
              <a:rPr lang="en-US" sz="1800" dirty="0">
                <a:solidFill>
                  <a:schemeClr val="tx1"/>
                </a:solidFill>
              </a:rPr>
              <a:t>with: "None"</a:t>
            </a:r>
            <a:br>
              <a:rPr lang="en-US" sz="1800" dirty="0">
                <a:solidFill>
                  <a:schemeClr val="tx1"/>
                </a:solidFill>
              </a:rPr>
            </a:br>
            <a:r>
              <a:rPr lang="en-US" sz="1800" dirty="0">
                <a:solidFill>
                  <a:schemeClr val="tx1"/>
                </a:solidFill>
              </a:rPr>
              <a:t>Examples: </a:t>
            </a:r>
            <a:r>
              <a:rPr lang="en-US" sz="1800" dirty="0" err="1">
                <a:solidFill>
                  <a:schemeClr val="tx1"/>
                </a:solidFill>
              </a:rPr>
              <a:t>PoolQC</a:t>
            </a:r>
            <a:r>
              <a:rPr lang="en-US" sz="1800" dirty="0">
                <a:solidFill>
                  <a:schemeClr val="tx1"/>
                </a:solidFill>
              </a:rPr>
              <a:t>, Alley, Fence, </a:t>
            </a:r>
            <a:r>
              <a:rPr lang="en-US" sz="1800" dirty="0" err="1">
                <a:solidFill>
                  <a:schemeClr val="tx1"/>
                </a:solidFill>
              </a:rPr>
              <a:t>FireplaceQu</a:t>
            </a:r>
            <a:r>
              <a:rPr lang="en-US" sz="1800" dirty="0">
                <a:solidFill>
                  <a:schemeClr val="tx1"/>
                </a:solidFill>
              </a:rPr>
              <a:t>, Basement &amp; Garage quality/type fields, </a:t>
            </a:r>
            <a:r>
              <a:rPr lang="en-US" sz="1800" dirty="0" err="1" smtClean="0">
                <a:solidFill>
                  <a:schemeClr val="tx1"/>
                </a:solidFill>
              </a:rPr>
              <a:t>MasVnrType</a:t>
            </a:r>
            <a:endParaRPr lang="en-US" sz="1800" dirty="0" smtClean="0">
              <a:solidFill>
                <a:schemeClr val="tx1"/>
              </a:solidFill>
            </a:endParaRPr>
          </a:p>
          <a:p>
            <a:pPr>
              <a:buFontTx/>
              <a:buChar char="-"/>
            </a:pPr>
            <a:r>
              <a:rPr lang="en-US" sz="1800" dirty="0" smtClean="0">
                <a:solidFill>
                  <a:schemeClr val="tx1"/>
                </a:solidFill>
              </a:rPr>
              <a:t>Numeric </a:t>
            </a:r>
            <a:r>
              <a:rPr lang="en-US" sz="1800" dirty="0">
                <a:solidFill>
                  <a:schemeClr val="tx1"/>
                </a:solidFill>
              </a:rPr>
              <a:t>Features Where </a:t>
            </a:r>
            <a:r>
              <a:rPr lang="en-US" sz="1800" dirty="0" smtClean="0">
                <a:solidFill>
                  <a:schemeClr val="tx1"/>
                </a:solidFill>
              </a:rPr>
              <a:t>NA, Filled </a:t>
            </a:r>
            <a:r>
              <a:rPr lang="en-US" sz="1800" dirty="0">
                <a:solidFill>
                  <a:schemeClr val="tx1"/>
                </a:solidFill>
              </a:rPr>
              <a:t>with: </a:t>
            </a:r>
            <a:r>
              <a:rPr lang="en-US" sz="1800" dirty="0" smtClean="0">
                <a:solidFill>
                  <a:schemeClr val="tx1"/>
                </a:solidFill>
              </a:rPr>
              <a:t>0</a:t>
            </a:r>
          </a:p>
          <a:p>
            <a:pPr marL="0" indent="0">
              <a:buNone/>
            </a:pPr>
            <a:r>
              <a:rPr lang="en-US" sz="1800" dirty="0">
                <a:solidFill>
                  <a:schemeClr val="tx1"/>
                </a:solidFill>
              </a:rPr>
              <a:t> </a:t>
            </a:r>
            <a:r>
              <a:rPr lang="en-US" sz="1800" dirty="0" smtClean="0">
                <a:solidFill>
                  <a:schemeClr val="tx1"/>
                </a:solidFill>
              </a:rPr>
              <a:t>    Examples</a:t>
            </a:r>
            <a:r>
              <a:rPr lang="en-US" sz="1800" dirty="0">
                <a:solidFill>
                  <a:schemeClr val="tx1"/>
                </a:solidFill>
              </a:rPr>
              <a:t>: </a:t>
            </a:r>
            <a:r>
              <a:rPr lang="en-US" sz="1800" dirty="0" err="1">
                <a:solidFill>
                  <a:schemeClr val="tx1"/>
                </a:solidFill>
              </a:rPr>
              <a:t>MasVnrArea</a:t>
            </a:r>
            <a:r>
              <a:rPr lang="en-US" sz="1800" dirty="0">
                <a:solidFill>
                  <a:schemeClr val="tx1"/>
                </a:solidFill>
              </a:rPr>
              <a:t>, Basement SF, </a:t>
            </a:r>
            <a:r>
              <a:rPr lang="en-US" sz="1800" dirty="0" err="1">
                <a:solidFill>
                  <a:schemeClr val="tx1"/>
                </a:solidFill>
              </a:rPr>
              <a:t>TotalBsmtSF</a:t>
            </a:r>
            <a:r>
              <a:rPr lang="en-US" sz="1800" dirty="0">
                <a:solidFill>
                  <a:schemeClr val="tx1"/>
                </a:solidFill>
              </a:rPr>
              <a:t>, </a:t>
            </a:r>
            <a:r>
              <a:rPr lang="en-US" sz="1800" dirty="0" err="1">
                <a:solidFill>
                  <a:schemeClr val="tx1"/>
                </a:solidFill>
              </a:rPr>
              <a:t>GarageArea</a:t>
            </a:r>
            <a:r>
              <a:rPr lang="en-US" sz="1800" dirty="0">
                <a:solidFill>
                  <a:schemeClr val="tx1"/>
                </a:solidFill>
              </a:rPr>
              <a:t>, </a:t>
            </a:r>
            <a:r>
              <a:rPr lang="en-US" sz="1800" dirty="0" err="1" smtClean="0">
                <a:solidFill>
                  <a:schemeClr val="tx1"/>
                </a:solidFill>
              </a:rPr>
              <a:t>GarageCars</a:t>
            </a:r>
            <a:endParaRPr lang="en-US" sz="1800" dirty="0" smtClean="0">
              <a:solidFill>
                <a:schemeClr val="tx1"/>
              </a:solidFill>
            </a:endParaRPr>
          </a:p>
          <a:p>
            <a:pPr marL="0" indent="0">
              <a:buNone/>
            </a:pPr>
            <a:r>
              <a:rPr lang="en-US" sz="1800" dirty="0" smtClean="0">
                <a:solidFill>
                  <a:schemeClr val="tx1"/>
                </a:solidFill>
              </a:rPr>
              <a:t>- </a:t>
            </a:r>
            <a:r>
              <a:rPr lang="en-US" sz="1800" dirty="0">
                <a:solidFill>
                  <a:schemeClr val="tx1"/>
                </a:solidFill>
              </a:rPr>
              <a:t>Features with Small Random </a:t>
            </a:r>
            <a:r>
              <a:rPr lang="en-US" sz="1800" dirty="0" err="1">
                <a:solidFill>
                  <a:schemeClr val="tx1"/>
                </a:solidFill>
              </a:rPr>
              <a:t>Missingness</a:t>
            </a:r>
            <a:endParaRPr lang="en-US" sz="1800" dirty="0">
              <a:solidFill>
                <a:schemeClr val="tx1"/>
              </a:solidFill>
            </a:endParaRPr>
          </a:p>
          <a:p>
            <a:pPr>
              <a:buFont typeface="Wingdings" panose="05000000000000000000" pitchFamily="2" charset="2"/>
              <a:buChar char="§"/>
            </a:pPr>
            <a:r>
              <a:rPr lang="en-US" sz="1800" dirty="0" smtClean="0">
                <a:solidFill>
                  <a:schemeClr val="tx1"/>
                </a:solidFill>
              </a:rPr>
              <a:t>Categorical </a:t>
            </a:r>
            <a:r>
              <a:rPr lang="en-US" sz="1800" dirty="0">
                <a:solidFill>
                  <a:schemeClr val="tx1"/>
                </a:solidFill>
              </a:rPr>
              <a:t>→ Mode (e.g., Electrical, </a:t>
            </a:r>
            <a:r>
              <a:rPr lang="en-US" sz="1800" dirty="0" err="1">
                <a:solidFill>
                  <a:schemeClr val="tx1"/>
                </a:solidFill>
              </a:rPr>
              <a:t>MSZoning</a:t>
            </a:r>
            <a:r>
              <a:rPr lang="en-US" sz="1800" dirty="0">
                <a:solidFill>
                  <a:schemeClr val="tx1"/>
                </a:solidFill>
              </a:rPr>
              <a:t>, Utilities, Exterior1st/2nd, Functional, </a:t>
            </a:r>
            <a:r>
              <a:rPr lang="en-US" sz="1800" dirty="0" err="1">
                <a:solidFill>
                  <a:schemeClr val="tx1"/>
                </a:solidFill>
              </a:rPr>
              <a:t>SaleType</a:t>
            </a:r>
            <a:r>
              <a:rPr lang="en-US" sz="1800" dirty="0">
                <a:solidFill>
                  <a:schemeClr val="tx1"/>
                </a:solidFill>
              </a:rPr>
              <a:t>)</a:t>
            </a:r>
          </a:p>
          <a:p>
            <a:pPr>
              <a:buFont typeface="Wingdings" panose="05000000000000000000" pitchFamily="2" charset="2"/>
              <a:buChar char="§"/>
            </a:pPr>
            <a:r>
              <a:rPr lang="en-US" sz="1800" dirty="0" smtClean="0">
                <a:solidFill>
                  <a:schemeClr val="tx1"/>
                </a:solidFill>
              </a:rPr>
              <a:t>Numeric </a:t>
            </a:r>
            <a:r>
              <a:rPr lang="en-US" sz="1800" dirty="0">
                <a:solidFill>
                  <a:schemeClr val="tx1"/>
                </a:solidFill>
              </a:rPr>
              <a:t>→ Median (e.g., </a:t>
            </a:r>
            <a:r>
              <a:rPr lang="en-US" sz="1800" dirty="0" err="1">
                <a:solidFill>
                  <a:schemeClr val="tx1"/>
                </a:solidFill>
              </a:rPr>
              <a:t>GarageYrBlt</a:t>
            </a:r>
            <a:r>
              <a:rPr lang="en-US" sz="1800" dirty="0" smtClean="0">
                <a:solidFill>
                  <a:schemeClr val="tx1"/>
                </a:solidFill>
              </a:rPr>
              <a:t>)</a:t>
            </a:r>
          </a:p>
          <a:p>
            <a:r>
              <a:rPr lang="en-US" sz="1800" dirty="0">
                <a:solidFill>
                  <a:schemeClr val="tx1"/>
                </a:solidFill>
              </a:rPr>
              <a:t>Domain-Specific </a:t>
            </a:r>
            <a:r>
              <a:rPr lang="en-US" sz="1800" dirty="0" smtClean="0">
                <a:solidFill>
                  <a:schemeClr val="tx1"/>
                </a:solidFill>
              </a:rPr>
              <a:t>Imputation- </a:t>
            </a:r>
            <a:r>
              <a:rPr lang="en-US" sz="1800" dirty="0" err="1" smtClean="0">
                <a:solidFill>
                  <a:schemeClr val="tx1"/>
                </a:solidFill>
              </a:rPr>
              <a:t>MasVnrType</a:t>
            </a:r>
            <a:r>
              <a:rPr lang="en-US" sz="1800" dirty="0" smtClean="0">
                <a:solidFill>
                  <a:schemeClr val="tx1"/>
                </a:solidFill>
              </a:rPr>
              <a:t> </a:t>
            </a:r>
            <a:r>
              <a:rPr lang="en-US" sz="1800" dirty="0">
                <a:solidFill>
                  <a:schemeClr val="tx1"/>
                </a:solidFill>
              </a:rPr>
              <a:t>&amp; </a:t>
            </a:r>
            <a:r>
              <a:rPr lang="en-US" sz="1800" dirty="0" err="1" smtClean="0">
                <a:solidFill>
                  <a:schemeClr val="tx1"/>
                </a:solidFill>
              </a:rPr>
              <a:t>MasVnrArea</a:t>
            </a:r>
            <a:r>
              <a:rPr lang="en-US" sz="1800" dirty="0" smtClean="0">
                <a:solidFill>
                  <a:schemeClr val="tx1"/>
                </a:solidFill>
              </a:rPr>
              <a:t>, </a:t>
            </a:r>
            <a:r>
              <a:rPr lang="en-US" sz="1800" dirty="0">
                <a:solidFill>
                  <a:schemeClr val="tx1"/>
                </a:solidFill>
              </a:rPr>
              <a:t>Basement </a:t>
            </a:r>
            <a:r>
              <a:rPr lang="en-US" sz="1800" dirty="0" smtClean="0">
                <a:solidFill>
                  <a:schemeClr val="tx1"/>
                </a:solidFill>
              </a:rPr>
              <a:t>fields,</a:t>
            </a:r>
            <a:r>
              <a:rPr lang="en-US" sz="1800" dirty="0">
                <a:solidFill>
                  <a:schemeClr val="tx1"/>
                </a:solidFill>
              </a:rPr>
              <a:t> Garage </a:t>
            </a:r>
            <a:r>
              <a:rPr lang="en-US" sz="1800" dirty="0" smtClean="0">
                <a:solidFill>
                  <a:schemeClr val="tx1"/>
                </a:solidFill>
              </a:rPr>
              <a:t>features, filled </a:t>
            </a:r>
            <a:r>
              <a:rPr lang="en-US" sz="1800" dirty="0" err="1" smtClean="0">
                <a:solidFill>
                  <a:schemeClr val="tx1"/>
                </a:solidFill>
              </a:rPr>
              <a:t>with“None</a:t>
            </a:r>
            <a:r>
              <a:rPr lang="en-US" sz="1800" dirty="0">
                <a:solidFill>
                  <a:schemeClr val="tx1"/>
                </a:solidFill>
              </a:rPr>
              <a:t>” → area = </a:t>
            </a:r>
            <a:r>
              <a:rPr lang="en-US" sz="1800" dirty="0" smtClean="0">
                <a:solidFill>
                  <a:schemeClr val="tx1"/>
                </a:solidFill>
              </a:rPr>
              <a:t>0, Otherwise </a:t>
            </a:r>
            <a:r>
              <a:rPr lang="en-US" sz="1800" dirty="0">
                <a:solidFill>
                  <a:schemeClr val="tx1"/>
                </a:solidFill>
              </a:rPr>
              <a:t>→ filled with median masonry </a:t>
            </a:r>
            <a:r>
              <a:rPr lang="en-US" sz="1800" dirty="0" smtClean="0">
                <a:solidFill>
                  <a:schemeClr val="tx1"/>
                </a:solidFill>
              </a:rPr>
              <a:t>area</a:t>
            </a:r>
          </a:p>
          <a:p>
            <a:r>
              <a:rPr lang="en-US" sz="1800" dirty="0" err="1">
                <a:solidFill>
                  <a:schemeClr val="tx1"/>
                </a:solidFill>
              </a:rPr>
              <a:t>LotFrontage</a:t>
            </a:r>
            <a:r>
              <a:rPr lang="en-US" sz="1800" dirty="0">
                <a:solidFill>
                  <a:schemeClr val="tx1"/>
                </a:solidFill>
              </a:rPr>
              <a:t>: Filled missing </a:t>
            </a:r>
            <a:r>
              <a:rPr lang="en-US" sz="1800" dirty="0" err="1">
                <a:solidFill>
                  <a:schemeClr val="tx1"/>
                </a:solidFill>
              </a:rPr>
              <a:t>LotFrontage</a:t>
            </a:r>
            <a:r>
              <a:rPr lang="en-US" sz="1800" dirty="0">
                <a:solidFill>
                  <a:schemeClr val="tx1"/>
                </a:solidFill>
              </a:rPr>
              <a:t> using median frontage per </a:t>
            </a:r>
            <a:r>
              <a:rPr lang="en-US" sz="1800" dirty="0" smtClean="0">
                <a:solidFill>
                  <a:schemeClr val="tx1"/>
                </a:solidFill>
              </a:rPr>
              <a:t>Neighborhood</a:t>
            </a:r>
          </a:p>
          <a:p>
            <a:r>
              <a:rPr lang="en-US" sz="1800" dirty="0">
                <a:solidFill>
                  <a:schemeClr val="tx1"/>
                </a:solidFill>
              </a:rPr>
              <a:t>Remaining numeric NA → column </a:t>
            </a:r>
            <a:r>
              <a:rPr lang="en-US" sz="1800" dirty="0" smtClean="0">
                <a:solidFill>
                  <a:schemeClr val="tx1"/>
                </a:solidFill>
              </a:rPr>
              <a:t>median, </a:t>
            </a:r>
            <a:r>
              <a:rPr lang="en-US" sz="1800" dirty="0">
                <a:solidFill>
                  <a:schemeClr val="tx1"/>
                </a:solidFill>
              </a:rPr>
              <a:t>Remaining categorical NA → “Missing”</a:t>
            </a:r>
            <a:endParaRPr lang="en-US" sz="1800" dirty="0" smtClean="0">
              <a:solidFill>
                <a:schemeClr val="tx1"/>
              </a:solidFill>
            </a:endParaRPr>
          </a:p>
          <a:p>
            <a:pPr marL="0" indent="0">
              <a:buNone/>
            </a:pPr>
            <a:endParaRPr lang="en-US" sz="1800" dirty="0" smtClean="0">
              <a:solidFill>
                <a:schemeClr val="tx1"/>
              </a:solidFill>
            </a:endParaRPr>
          </a:p>
        </p:txBody>
      </p:sp>
    </p:spTree>
    <p:extLst>
      <p:ext uri="{BB962C8B-B14F-4D97-AF65-F5344CB8AC3E}">
        <p14:creationId xmlns:p14="http://schemas.microsoft.com/office/powerpoint/2010/main" val="12086619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DISTRIBUTION</a:t>
            </a:r>
          </a:p>
          <a:p>
            <a:pPr>
              <a:buFontTx/>
              <a:buChar char="-"/>
            </a:pPr>
            <a:r>
              <a:rPr lang="en-US" sz="1800" dirty="0" smtClean="0">
                <a:solidFill>
                  <a:schemeClr val="tx1"/>
                </a:solidFill>
              </a:rPr>
              <a:t>Several </a:t>
            </a:r>
            <a:r>
              <a:rPr lang="en-US" sz="1800" dirty="0">
                <a:solidFill>
                  <a:schemeClr val="tx1"/>
                </a:solidFill>
              </a:rPr>
              <a:t>variables in the dataset show heavy right skew, meaning most homes have typical values while a small number of properties have extremely high values</a:t>
            </a:r>
            <a:r>
              <a:rPr lang="en-US" sz="1800" dirty="0" smtClean="0">
                <a:solidFill>
                  <a:schemeClr val="tx1"/>
                </a:solidFill>
              </a:rPr>
              <a:t>.</a:t>
            </a:r>
          </a:p>
          <a:p>
            <a:pPr>
              <a:buFontTx/>
              <a:buChar char="-"/>
            </a:pPr>
            <a:r>
              <a:rPr lang="en-US" sz="1800" dirty="0">
                <a:solidFill>
                  <a:schemeClr val="tx1"/>
                </a:solidFill>
              </a:rPr>
              <a:t>Highly Skewed </a:t>
            </a:r>
            <a:r>
              <a:rPr lang="en-US" sz="1800" dirty="0" smtClean="0">
                <a:solidFill>
                  <a:schemeClr val="tx1"/>
                </a:solidFill>
              </a:rPr>
              <a:t>Features: </a:t>
            </a:r>
            <a:r>
              <a:rPr lang="en-US" sz="1800" dirty="0" err="1">
                <a:solidFill>
                  <a:schemeClr val="tx1"/>
                </a:solidFill>
              </a:rPr>
              <a:t>MiscVal</a:t>
            </a:r>
            <a:r>
              <a:rPr lang="en-US" sz="1800" dirty="0">
                <a:solidFill>
                  <a:schemeClr val="tx1"/>
                </a:solidFill>
              </a:rPr>
              <a:t>, </a:t>
            </a:r>
            <a:r>
              <a:rPr lang="en-US" sz="1800" dirty="0" err="1">
                <a:solidFill>
                  <a:schemeClr val="tx1"/>
                </a:solidFill>
              </a:rPr>
              <a:t>PoolArea</a:t>
            </a:r>
            <a:r>
              <a:rPr lang="en-US" sz="1800" dirty="0">
                <a:solidFill>
                  <a:schemeClr val="tx1"/>
                </a:solidFill>
              </a:rPr>
              <a:t>, </a:t>
            </a:r>
            <a:r>
              <a:rPr lang="en-US" sz="1800" dirty="0" err="1" smtClean="0">
                <a:solidFill>
                  <a:schemeClr val="tx1"/>
                </a:solidFill>
              </a:rPr>
              <a:t>LotArea</a:t>
            </a:r>
            <a:r>
              <a:rPr lang="en-US" sz="1800" dirty="0">
                <a:solidFill>
                  <a:schemeClr val="tx1"/>
                </a:solidFill>
              </a:rPr>
              <a:t>, 3SsnPorch, </a:t>
            </a:r>
            <a:r>
              <a:rPr lang="en-US" sz="1800" dirty="0" err="1">
                <a:solidFill>
                  <a:schemeClr val="tx1"/>
                </a:solidFill>
              </a:rPr>
              <a:t>LowQualFinSF</a:t>
            </a:r>
            <a:r>
              <a:rPr lang="en-US" sz="1800" dirty="0">
                <a:solidFill>
                  <a:schemeClr val="tx1"/>
                </a:solidFill>
              </a:rPr>
              <a:t>, </a:t>
            </a:r>
            <a:r>
              <a:rPr lang="en-US" sz="1800" dirty="0" err="1">
                <a:solidFill>
                  <a:schemeClr val="tx1"/>
                </a:solidFill>
              </a:rPr>
              <a:t>ScreenPorch</a:t>
            </a:r>
            <a:r>
              <a:rPr lang="en-US" sz="1800" dirty="0">
                <a:solidFill>
                  <a:schemeClr val="tx1"/>
                </a:solidFill>
              </a:rPr>
              <a:t>, </a:t>
            </a:r>
            <a:r>
              <a:rPr lang="en-US" sz="1800" dirty="0" err="1" smtClean="0">
                <a:solidFill>
                  <a:schemeClr val="tx1"/>
                </a:solidFill>
              </a:rPr>
              <a:t>KitchenAbvGr</a:t>
            </a:r>
            <a:r>
              <a:rPr lang="en-US" sz="1800" dirty="0">
                <a:solidFill>
                  <a:schemeClr val="tx1"/>
                </a:solidFill>
              </a:rPr>
              <a:t>, BsmtFinSF2, </a:t>
            </a:r>
            <a:r>
              <a:rPr lang="en-US" sz="1800" dirty="0" err="1" smtClean="0">
                <a:solidFill>
                  <a:schemeClr val="tx1"/>
                </a:solidFill>
              </a:rPr>
              <a:t>BsmtHalfBath</a:t>
            </a:r>
            <a:r>
              <a:rPr lang="en-US" sz="1800" dirty="0" smtClean="0">
                <a:solidFill>
                  <a:schemeClr val="tx1"/>
                </a:solidFill>
              </a:rPr>
              <a:t>. </a:t>
            </a:r>
            <a:r>
              <a:rPr lang="en-US" sz="1800" dirty="0">
                <a:solidFill>
                  <a:schemeClr val="tx1"/>
                </a:solidFill>
              </a:rPr>
              <a:t>These features represent rare or optional home </a:t>
            </a:r>
            <a:r>
              <a:rPr lang="en-US" sz="1800" dirty="0" smtClean="0">
                <a:solidFill>
                  <a:schemeClr val="tx1"/>
                </a:solidFill>
              </a:rPr>
              <a:t>characteristics. Their </a:t>
            </a:r>
            <a:r>
              <a:rPr lang="en-US" sz="1800" dirty="0">
                <a:solidFill>
                  <a:schemeClr val="tx1"/>
                </a:solidFill>
              </a:rPr>
              <a:t>skewness reflects the fact that only a few homes have substantial </a:t>
            </a:r>
            <a:r>
              <a:rPr lang="en-US" sz="1800" dirty="0" smtClean="0">
                <a:solidFill>
                  <a:schemeClr val="tx1"/>
                </a:solidFill>
              </a:rPr>
              <a:t>values.</a:t>
            </a:r>
          </a:p>
          <a:p>
            <a:pPr>
              <a:buFontTx/>
              <a:buChar char="-"/>
            </a:pPr>
            <a:r>
              <a:rPr lang="en-US" sz="1800" dirty="0" err="1">
                <a:solidFill>
                  <a:schemeClr val="tx1"/>
                </a:solidFill>
              </a:rPr>
              <a:t>SalePrice</a:t>
            </a:r>
            <a:r>
              <a:rPr lang="en-US" sz="1800" dirty="0">
                <a:solidFill>
                  <a:schemeClr val="tx1"/>
                </a:solidFill>
              </a:rPr>
              <a:t> is Also Right-Skewed: Reflects many mid-range homes and fewer high-value luxury </a:t>
            </a:r>
            <a:r>
              <a:rPr lang="en-US" sz="1800" dirty="0" smtClean="0">
                <a:solidFill>
                  <a:schemeClr val="tx1"/>
                </a:solidFill>
              </a:rPr>
              <a:t>properties</a:t>
            </a:r>
          </a:p>
          <a:p>
            <a:pPr>
              <a:buFontTx/>
              <a:buChar char="-"/>
            </a:pPr>
            <a:r>
              <a:rPr lang="en-US" sz="1800" dirty="0">
                <a:solidFill>
                  <a:schemeClr val="tx1"/>
                </a:solidFill>
              </a:rPr>
              <a:t>Moderately Skewed </a:t>
            </a:r>
            <a:r>
              <a:rPr lang="en-US" sz="1800" dirty="0" smtClean="0">
                <a:solidFill>
                  <a:schemeClr val="tx1"/>
                </a:solidFill>
              </a:rPr>
              <a:t>Features: </a:t>
            </a:r>
            <a:r>
              <a:rPr lang="en-US" sz="1800" dirty="0" err="1">
                <a:solidFill>
                  <a:schemeClr val="tx1"/>
                </a:solidFill>
              </a:rPr>
              <a:t>MasVnrArea</a:t>
            </a:r>
            <a:r>
              <a:rPr lang="en-US" sz="1800" dirty="0">
                <a:solidFill>
                  <a:schemeClr val="tx1"/>
                </a:solidFill>
              </a:rPr>
              <a:t>, </a:t>
            </a:r>
            <a:r>
              <a:rPr lang="en-US" sz="1800" dirty="0" err="1">
                <a:solidFill>
                  <a:schemeClr val="tx1"/>
                </a:solidFill>
              </a:rPr>
              <a:t>OpenPorchSF</a:t>
            </a:r>
            <a:r>
              <a:rPr lang="en-US" sz="1800" dirty="0">
                <a:solidFill>
                  <a:schemeClr val="tx1"/>
                </a:solidFill>
              </a:rPr>
              <a:t>, </a:t>
            </a:r>
            <a:r>
              <a:rPr lang="en-US" sz="1800" dirty="0" err="1" smtClean="0">
                <a:solidFill>
                  <a:schemeClr val="tx1"/>
                </a:solidFill>
              </a:rPr>
              <a:t>LotFrontage</a:t>
            </a:r>
            <a:r>
              <a:rPr lang="en-US" sz="1800" dirty="0">
                <a:solidFill>
                  <a:schemeClr val="tx1"/>
                </a:solidFill>
              </a:rPr>
              <a:t>, </a:t>
            </a:r>
            <a:r>
              <a:rPr lang="en-US" sz="1800" dirty="0" err="1">
                <a:solidFill>
                  <a:schemeClr val="tx1"/>
                </a:solidFill>
              </a:rPr>
              <a:t>GrLivArea</a:t>
            </a:r>
            <a:r>
              <a:rPr lang="en-US" sz="1800" dirty="0">
                <a:solidFill>
                  <a:schemeClr val="tx1"/>
                </a:solidFill>
              </a:rPr>
              <a:t>, 1stFlrSF, </a:t>
            </a:r>
            <a:r>
              <a:rPr lang="en-US" sz="1800" dirty="0" err="1" smtClean="0">
                <a:solidFill>
                  <a:schemeClr val="tx1"/>
                </a:solidFill>
              </a:rPr>
              <a:t>TotalBsmtSF</a:t>
            </a:r>
            <a:r>
              <a:rPr lang="en-US" sz="1800" dirty="0">
                <a:solidFill>
                  <a:schemeClr val="tx1"/>
                </a:solidFill>
              </a:rPr>
              <a:t>, </a:t>
            </a:r>
            <a:r>
              <a:rPr lang="en-US" sz="1800" dirty="0" err="1">
                <a:solidFill>
                  <a:schemeClr val="tx1"/>
                </a:solidFill>
              </a:rPr>
              <a:t>WoodDeckSF</a:t>
            </a:r>
            <a:r>
              <a:rPr lang="en-US" sz="1800" dirty="0">
                <a:solidFill>
                  <a:schemeClr val="tx1"/>
                </a:solidFill>
              </a:rPr>
              <a:t>, </a:t>
            </a:r>
            <a:r>
              <a:rPr lang="en-US" sz="1800" dirty="0" err="1" smtClean="0">
                <a:solidFill>
                  <a:schemeClr val="tx1"/>
                </a:solidFill>
              </a:rPr>
              <a:t>MSSubClass</a:t>
            </a:r>
            <a:endParaRPr lang="en-US" sz="1800" dirty="0" smtClean="0">
              <a:solidFill>
                <a:schemeClr val="tx1"/>
              </a:solidFill>
            </a:endParaRPr>
          </a:p>
          <a:p>
            <a:pPr>
              <a:buFontTx/>
              <a:buChar char="-"/>
            </a:pPr>
            <a:r>
              <a:rPr lang="en-US" sz="1800" dirty="0">
                <a:solidFill>
                  <a:schemeClr val="tx1"/>
                </a:solidFill>
              </a:rPr>
              <a:t>Reasons for Not Log-Transforming </a:t>
            </a:r>
            <a:r>
              <a:rPr lang="en-US" sz="1800" dirty="0" smtClean="0">
                <a:solidFill>
                  <a:schemeClr val="tx1"/>
                </a:solidFill>
              </a:rPr>
              <a:t>Features: Feature </a:t>
            </a:r>
            <a:r>
              <a:rPr lang="en-US" sz="1800" dirty="0">
                <a:solidFill>
                  <a:schemeClr val="tx1"/>
                </a:solidFill>
              </a:rPr>
              <a:t>log-transforms change the meaning of your coefficients</a:t>
            </a:r>
            <a:endParaRPr lang="en-US" sz="1800" dirty="0" smtClean="0">
              <a:solidFill>
                <a:schemeClr val="tx1"/>
              </a:solidFill>
            </a:endParaRPr>
          </a:p>
          <a:p>
            <a:pPr>
              <a:buFontTx/>
              <a:buChar char="-"/>
            </a:pPr>
            <a:endParaRPr lang="en-US" sz="1800" b="1" dirty="0" smtClean="0">
              <a:solidFill>
                <a:schemeClr val="tx1"/>
              </a:solidFill>
            </a:endParaRPr>
          </a:p>
        </p:txBody>
      </p:sp>
    </p:spTree>
    <p:extLst>
      <p:ext uri="{BB962C8B-B14F-4D97-AF65-F5344CB8AC3E}">
        <p14:creationId xmlns:p14="http://schemas.microsoft.com/office/powerpoint/2010/main" val="302230195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OUTLIER DETECTION AND HANDLING</a:t>
            </a:r>
          </a:p>
          <a:p>
            <a:pPr>
              <a:buFontTx/>
              <a:buChar char="-"/>
            </a:pPr>
            <a:r>
              <a:rPr lang="en-US" sz="1800" dirty="0" smtClean="0">
                <a:solidFill>
                  <a:schemeClr val="tx1"/>
                </a:solidFill>
              </a:rPr>
              <a:t>Rare </a:t>
            </a:r>
            <a:r>
              <a:rPr lang="en-US" sz="1800" dirty="0">
                <a:solidFill>
                  <a:schemeClr val="tx1"/>
                </a:solidFill>
              </a:rPr>
              <a:t>Extreme Cases: Removed houses where </a:t>
            </a:r>
            <a:r>
              <a:rPr lang="en-US" sz="1800" dirty="0" err="1">
                <a:solidFill>
                  <a:schemeClr val="tx1"/>
                </a:solidFill>
              </a:rPr>
              <a:t>GrLivArea</a:t>
            </a:r>
            <a:r>
              <a:rPr lang="en-US" sz="1800" dirty="0">
                <a:solidFill>
                  <a:schemeClr val="tx1"/>
                </a:solidFill>
              </a:rPr>
              <a:t> &gt; 4500 </a:t>
            </a:r>
            <a:r>
              <a:rPr lang="en-US" sz="1800" dirty="0" err="1">
                <a:solidFill>
                  <a:schemeClr val="tx1"/>
                </a:solidFill>
              </a:rPr>
              <a:t>sq</a:t>
            </a:r>
            <a:r>
              <a:rPr lang="en-US" sz="1800" dirty="0">
                <a:solidFill>
                  <a:schemeClr val="tx1"/>
                </a:solidFill>
              </a:rPr>
              <a:t> </a:t>
            </a:r>
            <a:r>
              <a:rPr lang="en-US" sz="1800" dirty="0" err="1" smtClean="0">
                <a:solidFill>
                  <a:schemeClr val="tx1"/>
                </a:solidFill>
              </a:rPr>
              <a:t>ft</a:t>
            </a:r>
            <a:r>
              <a:rPr lang="en-US" sz="1800" dirty="0">
                <a:solidFill>
                  <a:schemeClr val="tx1"/>
                </a:solidFill>
              </a:rPr>
              <a:t> AND </a:t>
            </a:r>
            <a:r>
              <a:rPr lang="en-US" sz="1800" dirty="0" err="1">
                <a:solidFill>
                  <a:schemeClr val="tx1"/>
                </a:solidFill>
              </a:rPr>
              <a:t>SalePrice</a:t>
            </a:r>
            <a:r>
              <a:rPr lang="en-US" sz="1800" dirty="0">
                <a:solidFill>
                  <a:schemeClr val="tx1"/>
                </a:solidFill>
              </a:rPr>
              <a:t> &lt; $</a:t>
            </a:r>
            <a:r>
              <a:rPr lang="en-US" sz="1800" dirty="0" smtClean="0">
                <a:solidFill>
                  <a:schemeClr val="tx1"/>
                </a:solidFill>
              </a:rPr>
              <a:t>700,000.</a:t>
            </a:r>
          </a:p>
          <a:p>
            <a:pPr>
              <a:buFontTx/>
              <a:buChar char="-"/>
            </a:pPr>
            <a:r>
              <a:rPr lang="en-US" sz="1800" dirty="0">
                <a:solidFill>
                  <a:schemeClr val="tx1"/>
                </a:solidFill>
              </a:rPr>
              <a:t>IQR-Based Outlier Removal for Key Structural Features: Removes statistical outliers while keeping reasonable high-end homes</a:t>
            </a:r>
            <a:r>
              <a:rPr lang="en-US" sz="1800" dirty="0" smtClean="0">
                <a:solidFill>
                  <a:schemeClr val="tx1"/>
                </a:solidFill>
              </a:rPr>
              <a:t>.</a:t>
            </a:r>
          </a:p>
          <a:p>
            <a:pPr>
              <a:buFontTx/>
              <a:buChar char="-"/>
            </a:pPr>
            <a:r>
              <a:rPr lang="en-US" sz="1800" dirty="0" err="1" smtClean="0">
                <a:solidFill>
                  <a:schemeClr val="tx1"/>
                </a:solidFill>
              </a:rPr>
              <a:t>Winsorization</a:t>
            </a:r>
            <a:r>
              <a:rPr lang="en-US" sz="1800" dirty="0">
                <a:solidFill>
                  <a:schemeClr val="tx1"/>
                </a:solidFill>
              </a:rPr>
              <a:t>: Applied to variables with heavy long tails. Values above the 99th percentile capped to the threshold</a:t>
            </a:r>
            <a:endParaRPr lang="en-US" sz="1800" dirty="0" smtClean="0">
              <a:solidFill>
                <a:schemeClr val="tx1"/>
              </a:solidFill>
            </a:endParaRPr>
          </a:p>
        </p:txBody>
      </p:sp>
    </p:spTree>
    <p:extLst>
      <p:ext uri="{BB962C8B-B14F-4D97-AF65-F5344CB8AC3E}">
        <p14:creationId xmlns:p14="http://schemas.microsoft.com/office/powerpoint/2010/main" val="2605762543"/>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BIVARIATE ANALYSIS</a:t>
            </a:r>
          </a:p>
          <a:p>
            <a:pPr>
              <a:buFontTx/>
              <a:buChar char="-"/>
            </a:pPr>
            <a:r>
              <a:rPr lang="en-US" sz="1800" dirty="0">
                <a:solidFill>
                  <a:schemeClr val="tx1"/>
                </a:solidFill>
              </a:rPr>
              <a:t>Bivariate analysis was performed to understand how each numeric feature relates to </a:t>
            </a:r>
            <a:r>
              <a:rPr lang="en-US" sz="1800" dirty="0" err="1">
                <a:solidFill>
                  <a:schemeClr val="tx1"/>
                </a:solidFill>
              </a:rPr>
              <a:t>SalePrice</a:t>
            </a:r>
            <a:r>
              <a:rPr lang="en-US" sz="1800" dirty="0">
                <a:solidFill>
                  <a:schemeClr val="tx1"/>
                </a:solidFill>
              </a:rPr>
              <a:t>. </a:t>
            </a:r>
            <a:r>
              <a:rPr lang="en-US" sz="1800" dirty="0" smtClean="0">
                <a:solidFill>
                  <a:schemeClr val="tx1"/>
                </a:solidFill>
              </a:rPr>
              <a:t>This </a:t>
            </a:r>
            <a:r>
              <a:rPr lang="en-US" sz="1800" dirty="0">
                <a:solidFill>
                  <a:schemeClr val="tx1"/>
                </a:solidFill>
              </a:rPr>
              <a:t>helped determine which features truly influence the target and which ones contribute noise. </a:t>
            </a:r>
            <a:endParaRPr lang="en-US" sz="1800" dirty="0" smtClean="0">
              <a:solidFill>
                <a:schemeClr val="tx1"/>
              </a:solidFill>
            </a:endParaRPr>
          </a:p>
          <a:p>
            <a:pPr>
              <a:buFontTx/>
              <a:buChar char="-"/>
            </a:pPr>
            <a:r>
              <a:rPr lang="en-US" sz="1800" dirty="0">
                <a:solidFill>
                  <a:schemeClr val="tx1"/>
                </a:solidFill>
              </a:rPr>
              <a:t>S</a:t>
            </a:r>
            <a:r>
              <a:rPr lang="en-US" sz="1800" dirty="0" smtClean="0">
                <a:solidFill>
                  <a:schemeClr val="tx1"/>
                </a:solidFill>
              </a:rPr>
              <a:t>trong </a:t>
            </a:r>
            <a:r>
              <a:rPr lang="en-US" sz="1800" dirty="0">
                <a:solidFill>
                  <a:schemeClr val="tx1"/>
                </a:solidFill>
              </a:rPr>
              <a:t>positive relationships emerged in variables like </a:t>
            </a:r>
            <a:r>
              <a:rPr lang="en-US" sz="1800" dirty="0" err="1">
                <a:solidFill>
                  <a:schemeClr val="tx1"/>
                </a:solidFill>
              </a:rPr>
              <a:t>GrLivArea</a:t>
            </a:r>
            <a:r>
              <a:rPr lang="en-US" sz="1800" dirty="0">
                <a:solidFill>
                  <a:schemeClr val="tx1"/>
                </a:solidFill>
              </a:rPr>
              <a:t>, </a:t>
            </a:r>
            <a:r>
              <a:rPr lang="en-US" sz="1800" dirty="0" err="1">
                <a:solidFill>
                  <a:schemeClr val="tx1"/>
                </a:solidFill>
              </a:rPr>
              <a:t>TotalSF</a:t>
            </a:r>
            <a:r>
              <a:rPr lang="en-US" sz="1800" dirty="0">
                <a:solidFill>
                  <a:schemeClr val="tx1"/>
                </a:solidFill>
              </a:rPr>
              <a:t>, </a:t>
            </a:r>
            <a:r>
              <a:rPr lang="en-US" sz="1800" dirty="0" err="1">
                <a:solidFill>
                  <a:schemeClr val="tx1"/>
                </a:solidFill>
              </a:rPr>
              <a:t>OverallQual</a:t>
            </a:r>
            <a:r>
              <a:rPr lang="en-US" sz="1800" dirty="0">
                <a:solidFill>
                  <a:schemeClr val="tx1"/>
                </a:solidFill>
              </a:rPr>
              <a:t>, and </a:t>
            </a:r>
            <a:r>
              <a:rPr lang="en-US" sz="1800" dirty="0" err="1">
                <a:solidFill>
                  <a:schemeClr val="tx1"/>
                </a:solidFill>
              </a:rPr>
              <a:t>GarageArea</a:t>
            </a:r>
            <a:r>
              <a:rPr lang="en-US" sz="1800" dirty="0">
                <a:solidFill>
                  <a:schemeClr val="tx1"/>
                </a:solidFill>
              </a:rPr>
              <a:t>, confirming that they are meaningful predictors for a </a:t>
            </a:r>
            <a:r>
              <a:rPr lang="en-US" sz="1800" dirty="0" smtClean="0">
                <a:solidFill>
                  <a:schemeClr val="tx1"/>
                </a:solidFill>
              </a:rPr>
              <a:t>linear. </a:t>
            </a:r>
            <a:r>
              <a:rPr lang="en-US" sz="1800" dirty="0">
                <a:solidFill>
                  <a:schemeClr val="tx1"/>
                </a:solidFill>
              </a:rPr>
              <a:t>Conversely, features such as </a:t>
            </a:r>
            <a:r>
              <a:rPr lang="en-US" sz="1800" dirty="0" err="1">
                <a:solidFill>
                  <a:schemeClr val="tx1"/>
                </a:solidFill>
              </a:rPr>
              <a:t>PoolArea</a:t>
            </a:r>
            <a:r>
              <a:rPr lang="en-US" sz="1800" dirty="0">
                <a:solidFill>
                  <a:schemeClr val="tx1"/>
                </a:solidFill>
              </a:rPr>
              <a:t>, 3SsnPorch, and </a:t>
            </a:r>
            <a:r>
              <a:rPr lang="en-US" sz="1800" dirty="0" err="1">
                <a:solidFill>
                  <a:schemeClr val="tx1"/>
                </a:solidFill>
              </a:rPr>
              <a:t>MiscVal</a:t>
            </a:r>
            <a:r>
              <a:rPr lang="en-US" sz="1800" dirty="0">
                <a:solidFill>
                  <a:schemeClr val="tx1"/>
                </a:solidFill>
              </a:rPr>
              <a:t> showed almost no pattern with </a:t>
            </a:r>
            <a:r>
              <a:rPr lang="en-US" sz="1800" dirty="0" err="1">
                <a:solidFill>
                  <a:schemeClr val="tx1"/>
                </a:solidFill>
              </a:rPr>
              <a:t>SalePrice</a:t>
            </a:r>
            <a:r>
              <a:rPr lang="en-US" sz="1800" dirty="0">
                <a:solidFill>
                  <a:schemeClr val="tx1"/>
                </a:solidFill>
              </a:rPr>
              <a:t>, indicating low predictive value. Bivariate analysis also helped reveal </a:t>
            </a:r>
            <a:r>
              <a:rPr lang="en-US" sz="1800" dirty="0" smtClean="0">
                <a:solidFill>
                  <a:schemeClr val="tx1"/>
                </a:solidFill>
              </a:rPr>
              <a:t>non-linear </a:t>
            </a:r>
            <a:r>
              <a:rPr lang="en-US" sz="1800" dirty="0">
                <a:solidFill>
                  <a:schemeClr val="tx1"/>
                </a:solidFill>
              </a:rPr>
              <a:t>trends, and clustered values, allowing me to make more informed decisions in feature </a:t>
            </a:r>
            <a:r>
              <a:rPr lang="en-US" sz="1800" dirty="0" smtClean="0">
                <a:solidFill>
                  <a:schemeClr val="tx1"/>
                </a:solidFill>
              </a:rPr>
              <a:t>engineering, </a:t>
            </a:r>
            <a:r>
              <a:rPr lang="en-US" sz="1800" dirty="0">
                <a:solidFill>
                  <a:schemeClr val="tx1"/>
                </a:solidFill>
              </a:rPr>
              <a:t>and final model selection.</a:t>
            </a:r>
            <a:endParaRPr lang="en-US" sz="1800" dirty="0" smtClean="0">
              <a:solidFill>
                <a:schemeClr val="tx1"/>
              </a:solidFill>
            </a:endParaRPr>
          </a:p>
        </p:txBody>
      </p:sp>
    </p:spTree>
    <p:extLst>
      <p:ext uri="{BB962C8B-B14F-4D97-AF65-F5344CB8AC3E}">
        <p14:creationId xmlns:p14="http://schemas.microsoft.com/office/powerpoint/2010/main" val="179771532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CORRELATION</a:t>
            </a:r>
          </a:p>
          <a:p>
            <a:pPr>
              <a:buFontTx/>
              <a:buChar char="-"/>
            </a:pPr>
            <a:r>
              <a:rPr lang="en-US" sz="1800" dirty="0">
                <a:solidFill>
                  <a:schemeClr val="tx1"/>
                </a:solidFill>
              </a:rPr>
              <a:t>The correlation matrix was used to understand how numerical features relate both to each other and to the target variable, </a:t>
            </a:r>
            <a:r>
              <a:rPr lang="en-US" sz="1800" dirty="0" err="1">
                <a:solidFill>
                  <a:schemeClr val="tx1"/>
                </a:solidFill>
              </a:rPr>
              <a:t>SalePrice</a:t>
            </a:r>
            <a:r>
              <a:rPr lang="en-US" sz="1800" dirty="0">
                <a:solidFill>
                  <a:schemeClr val="tx1"/>
                </a:solidFill>
              </a:rPr>
              <a:t>. </a:t>
            </a:r>
            <a:endParaRPr lang="en-US" sz="1800" dirty="0" smtClean="0">
              <a:solidFill>
                <a:schemeClr val="tx1"/>
              </a:solidFill>
            </a:endParaRPr>
          </a:p>
          <a:p>
            <a:pPr>
              <a:buFontTx/>
              <a:buChar char="-"/>
            </a:pPr>
            <a:r>
              <a:rPr lang="en-US" sz="1800" dirty="0" smtClean="0">
                <a:solidFill>
                  <a:schemeClr val="tx1"/>
                </a:solidFill>
              </a:rPr>
              <a:t>This </a:t>
            </a:r>
            <a:r>
              <a:rPr lang="en-US" sz="1800" dirty="0">
                <a:solidFill>
                  <a:schemeClr val="tx1"/>
                </a:solidFill>
              </a:rPr>
              <a:t>analysis revealed that several size- and quality-related features, such as </a:t>
            </a:r>
            <a:r>
              <a:rPr lang="en-US" sz="1800" dirty="0" err="1">
                <a:solidFill>
                  <a:schemeClr val="tx1"/>
                </a:solidFill>
              </a:rPr>
              <a:t>OverallQual</a:t>
            </a:r>
            <a:r>
              <a:rPr lang="en-US" sz="1800" dirty="0">
                <a:solidFill>
                  <a:schemeClr val="tx1"/>
                </a:solidFill>
              </a:rPr>
              <a:t>, </a:t>
            </a:r>
            <a:r>
              <a:rPr lang="en-US" sz="1800" dirty="0" err="1">
                <a:solidFill>
                  <a:schemeClr val="tx1"/>
                </a:solidFill>
              </a:rPr>
              <a:t>GrLivArea</a:t>
            </a:r>
            <a:r>
              <a:rPr lang="en-US" sz="1800" dirty="0">
                <a:solidFill>
                  <a:schemeClr val="tx1"/>
                </a:solidFill>
              </a:rPr>
              <a:t>, </a:t>
            </a:r>
            <a:r>
              <a:rPr lang="en-US" sz="1800" dirty="0" err="1">
                <a:solidFill>
                  <a:schemeClr val="tx1"/>
                </a:solidFill>
              </a:rPr>
              <a:t>TotalBsmtSF</a:t>
            </a:r>
            <a:r>
              <a:rPr lang="en-US" sz="1800" dirty="0">
                <a:solidFill>
                  <a:schemeClr val="tx1"/>
                </a:solidFill>
              </a:rPr>
              <a:t>, and 1stFlrSF, show strong positive correlations with </a:t>
            </a:r>
            <a:r>
              <a:rPr lang="en-US" sz="1800" dirty="0" err="1">
                <a:solidFill>
                  <a:schemeClr val="tx1"/>
                </a:solidFill>
              </a:rPr>
              <a:t>SalePrice</a:t>
            </a:r>
            <a:r>
              <a:rPr lang="en-US" sz="1800" dirty="0">
                <a:solidFill>
                  <a:schemeClr val="tx1"/>
                </a:solidFill>
              </a:rPr>
              <a:t>, confirming their importance in predicting home values. </a:t>
            </a:r>
            <a:endParaRPr lang="en-US" sz="1800" dirty="0" smtClean="0">
              <a:solidFill>
                <a:schemeClr val="tx1"/>
              </a:solidFill>
            </a:endParaRPr>
          </a:p>
          <a:p>
            <a:pPr>
              <a:buFontTx/>
              <a:buChar char="-"/>
            </a:pPr>
            <a:r>
              <a:rPr lang="en-US" sz="1800" dirty="0" smtClean="0">
                <a:solidFill>
                  <a:schemeClr val="tx1"/>
                </a:solidFill>
              </a:rPr>
              <a:t>At </a:t>
            </a:r>
            <a:r>
              <a:rPr lang="en-US" sz="1800" dirty="0">
                <a:solidFill>
                  <a:schemeClr val="tx1"/>
                </a:solidFill>
              </a:rPr>
              <a:t>the same time, the matrix helped identify groups of features that are highly correlated with each other—for example, basement area, total square footage, and ground living area—indicating potential </a:t>
            </a:r>
            <a:r>
              <a:rPr lang="en-US" sz="1800" dirty="0" err="1">
                <a:solidFill>
                  <a:schemeClr val="tx1"/>
                </a:solidFill>
              </a:rPr>
              <a:t>multicollinearity</a:t>
            </a:r>
            <a:r>
              <a:rPr lang="en-US" sz="1800" dirty="0" smtClean="0">
                <a:solidFill>
                  <a:schemeClr val="tx1"/>
                </a:solidFill>
              </a:rPr>
              <a:t>.</a:t>
            </a:r>
          </a:p>
          <a:p>
            <a:pPr>
              <a:buFontTx/>
              <a:buChar char="-"/>
            </a:pPr>
            <a:r>
              <a:rPr lang="en-US" sz="1800" dirty="0">
                <a:solidFill>
                  <a:schemeClr val="tx1"/>
                </a:solidFill>
              </a:rPr>
              <a:t>The </a:t>
            </a:r>
            <a:r>
              <a:rPr lang="en-US" sz="1800" dirty="0" err="1">
                <a:solidFill>
                  <a:schemeClr val="tx1"/>
                </a:solidFill>
              </a:rPr>
              <a:t>heatmap</a:t>
            </a:r>
            <a:r>
              <a:rPr lang="en-US" sz="1800" dirty="0">
                <a:solidFill>
                  <a:schemeClr val="tx1"/>
                </a:solidFill>
              </a:rPr>
              <a:t> also highlighted features with very weak or near-zero correlation to </a:t>
            </a:r>
            <a:r>
              <a:rPr lang="en-US" sz="1800" dirty="0" err="1">
                <a:solidFill>
                  <a:schemeClr val="tx1"/>
                </a:solidFill>
              </a:rPr>
              <a:t>SalePrice</a:t>
            </a:r>
            <a:r>
              <a:rPr lang="en-US" sz="1800" dirty="0">
                <a:solidFill>
                  <a:schemeClr val="tx1"/>
                </a:solidFill>
              </a:rPr>
              <a:t>, such as </a:t>
            </a:r>
            <a:r>
              <a:rPr lang="en-US" sz="1800" dirty="0" err="1">
                <a:solidFill>
                  <a:schemeClr val="tx1"/>
                </a:solidFill>
              </a:rPr>
              <a:t>PoolArea</a:t>
            </a:r>
            <a:r>
              <a:rPr lang="en-US" sz="1800" dirty="0">
                <a:solidFill>
                  <a:schemeClr val="tx1"/>
                </a:solidFill>
              </a:rPr>
              <a:t>, </a:t>
            </a:r>
            <a:r>
              <a:rPr lang="en-US" sz="1800" dirty="0" err="1">
                <a:solidFill>
                  <a:schemeClr val="tx1"/>
                </a:solidFill>
              </a:rPr>
              <a:t>MiscVal</a:t>
            </a:r>
            <a:r>
              <a:rPr lang="en-US" sz="1800" dirty="0">
                <a:solidFill>
                  <a:schemeClr val="tx1"/>
                </a:solidFill>
              </a:rPr>
              <a:t>, and </a:t>
            </a:r>
            <a:r>
              <a:rPr lang="en-US" sz="1800" dirty="0" err="1">
                <a:solidFill>
                  <a:schemeClr val="tx1"/>
                </a:solidFill>
              </a:rPr>
              <a:t>ScreenPorch</a:t>
            </a:r>
            <a:r>
              <a:rPr lang="en-US" sz="1800" dirty="0">
                <a:solidFill>
                  <a:schemeClr val="tx1"/>
                </a:solidFill>
              </a:rPr>
              <a:t>, suggesting limited predictive value. </a:t>
            </a:r>
            <a:endParaRPr lang="en-US" sz="1800" dirty="0" smtClean="0">
              <a:solidFill>
                <a:schemeClr val="tx1"/>
              </a:solidFill>
            </a:endParaRPr>
          </a:p>
          <a:p>
            <a:pPr>
              <a:buFontTx/>
              <a:buChar char="-"/>
            </a:pPr>
            <a:r>
              <a:rPr lang="en-US" sz="1800" dirty="0" smtClean="0">
                <a:solidFill>
                  <a:schemeClr val="tx1"/>
                </a:solidFill>
              </a:rPr>
              <a:t>Overall</a:t>
            </a:r>
            <a:r>
              <a:rPr lang="en-US" sz="1800" dirty="0">
                <a:solidFill>
                  <a:schemeClr val="tx1"/>
                </a:solidFill>
              </a:rPr>
              <a:t>, the correlation matrix helped validate feature importance, detect redundancy, and guide both feature engineering and model selection.</a:t>
            </a:r>
            <a:endParaRPr lang="en-US" sz="1800" dirty="0" smtClean="0">
              <a:solidFill>
                <a:schemeClr val="tx1"/>
              </a:solidFill>
            </a:endParaRPr>
          </a:p>
        </p:txBody>
      </p:sp>
    </p:spTree>
    <p:extLst>
      <p:ext uri="{BB962C8B-B14F-4D97-AF65-F5344CB8AC3E}">
        <p14:creationId xmlns:p14="http://schemas.microsoft.com/office/powerpoint/2010/main" val="40400818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MULTIVARIATE ANALYSIS</a:t>
            </a:r>
          </a:p>
          <a:p>
            <a:pPr>
              <a:buFontTx/>
              <a:buChar char="-"/>
            </a:pPr>
            <a:r>
              <a:rPr lang="en-US" sz="1800" dirty="0">
                <a:solidFill>
                  <a:schemeClr val="tx1"/>
                </a:solidFill>
              </a:rPr>
              <a:t>To understand how combinations of features jointly influence </a:t>
            </a:r>
            <a:r>
              <a:rPr lang="en-US" sz="1800" dirty="0" err="1">
                <a:solidFill>
                  <a:schemeClr val="tx1"/>
                </a:solidFill>
              </a:rPr>
              <a:t>SalePrice</a:t>
            </a:r>
            <a:r>
              <a:rPr lang="en-US" sz="1800" dirty="0">
                <a:solidFill>
                  <a:schemeClr val="tx1"/>
                </a:solidFill>
              </a:rPr>
              <a:t>, I performed a multivariate analysis using </a:t>
            </a:r>
            <a:r>
              <a:rPr lang="en-US" sz="1800" dirty="0" err="1">
                <a:solidFill>
                  <a:schemeClr val="tx1"/>
                </a:solidFill>
              </a:rPr>
              <a:t>pairplots</a:t>
            </a:r>
            <a:r>
              <a:rPr lang="en-US" sz="1800" dirty="0">
                <a:solidFill>
                  <a:schemeClr val="tx1"/>
                </a:solidFill>
              </a:rPr>
              <a:t> of the most highly correlated variables. </a:t>
            </a:r>
            <a:endParaRPr lang="en-US" sz="1800" dirty="0" smtClean="0">
              <a:solidFill>
                <a:schemeClr val="tx1"/>
              </a:solidFill>
            </a:endParaRPr>
          </a:p>
          <a:p>
            <a:pPr>
              <a:buFontTx/>
              <a:buChar char="-"/>
            </a:pPr>
            <a:r>
              <a:rPr lang="en-US" sz="1800" dirty="0" smtClean="0">
                <a:solidFill>
                  <a:schemeClr val="tx1"/>
                </a:solidFill>
              </a:rPr>
              <a:t>This </a:t>
            </a:r>
            <a:r>
              <a:rPr lang="en-US" sz="1800" dirty="0">
                <a:solidFill>
                  <a:schemeClr val="tx1"/>
                </a:solidFill>
              </a:rPr>
              <a:t>approach helped reveal how important predictors—such as </a:t>
            </a:r>
            <a:r>
              <a:rPr lang="en-US" sz="1800" dirty="0" err="1">
                <a:solidFill>
                  <a:schemeClr val="tx1"/>
                </a:solidFill>
              </a:rPr>
              <a:t>OverallQual</a:t>
            </a:r>
            <a:r>
              <a:rPr lang="en-US" sz="1800" dirty="0">
                <a:solidFill>
                  <a:schemeClr val="tx1"/>
                </a:solidFill>
              </a:rPr>
              <a:t>, </a:t>
            </a:r>
            <a:r>
              <a:rPr lang="en-US" sz="1800" dirty="0" err="1">
                <a:solidFill>
                  <a:schemeClr val="tx1"/>
                </a:solidFill>
              </a:rPr>
              <a:t>GrLivArea</a:t>
            </a:r>
            <a:r>
              <a:rPr lang="en-US" sz="1800" dirty="0">
                <a:solidFill>
                  <a:schemeClr val="tx1"/>
                </a:solidFill>
              </a:rPr>
              <a:t>, </a:t>
            </a:r>
            <a:r>
              <a:rPr lang="en-US" sz="1800" dirty="0" err="1">
                <a:solidFill>
                  <a:schemeClr val="tx1"/>
                </a:solidFill>
              </a:rPr>
              <a:t>GarageCars</a:t>
            </a:r>
            <a:r>
              <a:rPr lang="en-US" sz="1800" dirty="0">
                <a:solidFill>
                  <a:schemeClr val="tx1"/>
                </a:solidFill>
              </a:rPr>
              <a:t>, </a:t>
            </a:r>
            <a:r>
              <a:rPr lang="en-US" sz="1800" dirty="0" err="1">
                <a:solidFill>
                  <a:schemeClr val="tx1"/>
                </a:solidFill>
              </a:rPr>
              <a:t>GarageArea</a:t>
            </a:r>
            <a:r>
              <a:rPr lang="en-US" sz="1800" dirty="0">
                <a:solidFill>
                  <a:schemeClr val="tx1"/>
                </a:solidFill>
              </a:rPr>
              <a:t>, and </a:t>
            </a:r>
            <a:r>
              <a:rPr lang="en-US" sz="1800" dirty="0" err="1">
                <a:solidFill>
                  <a:schemeClr val="tx1"/>
                </a:solidFill>
              </a:rPr>
              <a:t>YearBuilt</a:t>
            </a:r>
            <a:r>
              <a:rPr lang="en-US" sz="1800" dirty="0">
                <a:solidFill>
                  <a:schemeClr val="tx1"/>
                </a:solidFill>
              </a:rPr>
              <a:t>—interact with each other and with the target. The plots showed that high-quality homes tend to also have larger living areas and garages, demonstrating natural grouping patterns and structural relationships within the data. </a:t>
            </a:r>
            <a:endParaRPr lang="en-US" sz="1800" dirty="0" smtClean="0">
              <a:solidFill>
                <a:schemeClr val="tx1"/>
              </a:solidFill>
            </a:endParaRPr>
          </a:p>
          <a:p>
            <a:pPr>
              <a:buFontTx/>
              <a:buChar char="-"/>
            </a:pPr>
            <a:r>
              <a:rPr lang="en-US" sz="1800" dirty="0" smtClean="0">
                <a:solidFill>
                  <a:schemeClr val="tx1"/>
                </a:solidFill>
              </a:rPr>
              <a:t>This </a:t>
            </a:r>
            <a:r>
              <a:rPr lang="en-US" sz="1800" dirty="0">
                <a:solidFill>
                  <a:schemeClr val="tx1"/>
                </a:solidFill>
              </a:rPr>
              <a:t>multivariate view also highlighted how several predictors work together to explain price variation, rather than acting independently. </a:t>
            </a:r>
            <a:r>
              <a:rPr lang="en-US" sz="1800" dirty="0" smtClean="0">
                <a:solidFill>
                  <a:schemeClr val="tx1"/>
                </a:solidFill>
              </a:rPr>
              <a:t>Overall</a:t>
            </a:r>
            <a:r>
              <a:rPr lang="en-US" sz="1800" dirty="0">
                <a:solidFill>
                  <a:schemeClr val="tx1"/>
                </a:solidFill>
              </a:rPr>
              <a:t>, the multivariate analysis provided a deeper understanding of how multiple features combine to shape housing prices and </a:t>
            </a:r>
            <a:r>
              <a:rPr lang="en-US" sz="1800" dirty="0" smtClean="0">
                <a:solidFill>
                  <a:schemeClr val="tx1"/>
                </a:solidFill>
              </a:rPr>
              <a:t>support </a:t>
            </a:r>
            <a:r>
              <a:rPr lang="en-US" sz="1800" dirty="0">
                <a:solidFill>
                  <a:schemeClr val="tx1"/>
                </a:solidFill>
              </a:rPr>
              <a:t>the decision </a:t>
            </a:r>
            <a:r>
              <a:rPr lang="en-US" sz="1800" dirty="0" smtClean="0">
                <a:solidFill>
                  <a:schemeClr val="tx1"/>
                </a:solidFill>
              </a:rPr>
              <a:t>for model selection.</a:t>
            </a:r>
          </a:p>
        </p:txBody>
      </p:sp>
    </p:spTree>
    <p:extLst>
      <p:ext uri="{BB962C8B-B14F-4D97-AF65-F5344CB8AC3E}">
        <p14:creationId xmlns:p14="http://schemas.microsoft.com/office/powerpoint/2010/main" val="1741599434"/>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lnSpcReduction="10000"/>
          </a:bodyPr>
          <a:lstStyle/>
          <a:p>
            <a:pPr marL="0" indent="0">
              <a:buNone/>
            </a:pPr>
            <a:r>
              <a:rPr lang="en-US" sz="4000" b="1" dirty="0" smtClean="0">
                <a:solidFill>
                  <a:schemeClr val="tx1"/>
                </a:solidFill>
              </a:rPr>
              <a:t>MULTIVARIATE ANALYSIS</a:t>
            </a:r>
          </a:p>
          <a:p>
            <a:pPr>
              <a:buFontTx/>
              <a:buChar char="-"/>
            </a:pPr>
            <a:r>
              <a:rPr lang="en-US" sz="1800" dirty="0">
                <a:solidFill>
                  <a:schemeClr val="tx1"/>
                </a:solidFill>
              </a:rPr>
              <a:t>To understand how combinations of features jointly influence </a:t>
            </a:r>
            <a:r>
              <a:rPr lang="en-US" sz="1800" dirty="0" err="1">
                <a:solidFill>
                  <a:schemeClr val="tx1"/>
                </a:solidFill>
              </a:rPr>
              <a:t>SalePrice</a:t>
            </a:r>
            <a:r>
              <a:rPr lang="en-US" sz="1800" dirty="0">
                <a:solidFill>
                  <a:schemeClr val="tx1"/>
                </a:solidFill>
              </a:rPr>
              <a:t>, I performed a multivariate analysis using </a:t>
            </a:r>
            <a:r>
              <a:rPr lang="en-US" sz="1800" dirty="0" err="1">
                <a:solidFill>
                  <a:schemeClr val="tx1"/>
                </a:solidFill>
              </a:rPr>
              <a:t>pairplots</a:t>
            </a:r>
            <a:r>
              <a:rPr lang="en-US" sz="1800" dirty="0">
                <a:solidFill>
                  <a:schemeClr val="tx1"/>
                </a:solidFill>
              </a:rPr>
              <a:t> of the most highly correlated variables. </a:t>
            </a:r>
            <a:endParaRPr lang="en-US" sz="1800" dirty="0" smtClean="0">
              <a:solidFill>
                <a:schemeClr val="tx1"/>
              </a:solidFill>
            </a:endParaRPr>
          </a:p>
          <a:p>
            <a:pPr>
              <a:buFontTx/>
              <a:buChar char="-"/>
            </a:pPr>
            <a:r>
              <a:rPr lang="en-US" sz="1800" dirty="0" smtClean="0">
                <a:solidFill>
                  <a:schemeClr val="tx1"/>
                </a:solidFill>
              </a:rPr>
              <a:t>This </a:t>
            </a:r>
            <a:r>
              <a:rPr lang="en-US" sz="1800" dirty="0">
                <a:solidFill>
                  <a:schemeClr val="tx1"/>
                </a:solidFill>
              </a:rPr>
              <a:t>approach helped reveal how important predictors—such as </a:t>
            </a:r>
            <a:r>
              <a:rPr lang="en-US" sz="1800" dirty="0" err="1">
                <a:solidFill>
                  <a:schemeClr val="tx1"/>
                </a:solidFill>
              </a:rPr>
              <a:t>OverallQual</a:t>
            </a:r>
            <a:r>
              <a:rPr lang="en-US" sz="1800" dirty="0">
                <a:solidFill>
                  <a:schemeClr val="tx1"/>
                </a:solidFill>
              </a:rPr>
              <a:t>, </a:t>
            </a:r>
            <a:r>
              <a:rPr lang="en-US" sz="1800" dirty="0" err="1">
                <a:solidFill>
                  <a:schemeClr val="tx1"/>
                </a:solidFill>
              </a:rPr>
              <a:t>GrLivArea</a:t>
            </a:r>
            <a:r>
              <a:rPr lang="en-US" sz="1800" dirty="0">
                <a:solidFill>
                  <a:schemeClr val="tx1"/>
                </a:solidFill>
              </a:rPr>
              <a:t>, </a:t>
            </a:r>
            <a:r>
              <a:rPr lang="en-US" sz="1800" dirty="0" err="1">
                <a:solidFill>
                  <a:schemeClr val="tx1"/>
                </a:solidFill>
              </a:rPr>
              <a:t>GarageCars</a:t>
            </a:r>
            <a:r>
              <a:rPr lang="en-US" sz="1800" dirty="0">
                <a:solidFill>
                  <a:schemeClr val="tx1"/>
                </a:solidFill>
              </a:rPr>
              <a:t>, </a:t>
            </a:r>
            <a:r>
              <a:rPr lang="en-US" sz="1800" dirty="0" err="1">
                <a:solidFill>
                  <a:schemeClr val="tx1"/>
                </a:solidFill>
              </a:rPr>
              <a:t>GarageArea</a:t>
            </a:r>
            <a:r>
              <a:rPr lang="en-US" sz="1800" dirty="0">
                <a:solidFill>
                  <a:schemeClr val="tx1"/>
                </a:solidFill>
              </a:rPr>
              <a:t>, and </a:t>
            </a:r>
            <a:r>
              <a:rPr lang="en-US" sz="1800" dirty="0" err="1">
                <a:solidFill>
                  <a:schemeClr val="tx1"/>
                </a:solidFill>
              </a:rPr>
              <a:t>YearBuilt</a:t>
            </a:r>
            <a:r>
              <a:rPr lang="en-US" sz="1800" dirty="0">
                <a:solidFill>
                  <a:schemeClr val="tx1"/>
                </a:solidFill>
              </a:rPr>
              <a:t>—interact with each other and with the target. The plots showed that high-quality homes tend to also have larger living areas and garages, demonstrating natural grouping patterns and structural relationships within the data. </a:t>
            </a:r>
            <a:endParaRPr lang="en-US" sz="1800" dirty="0" smtClean="0">
              <a:solidFill>
                <a:schemeClr val="tx1"/>
              </a:solidFill>
            </a:endParaRPr>
          </a:p>
          <a:p>
            <a:pPr>
              <a:buFontTx/>
              <a:buChar char="-"/>
            </a:pPr>
            <a:r>
              <a:rPr lang="en-US" sz="1800" dirty="0" smtClean="0">
                <a:solidFill>
                  <a:schemeClr val="tx1"/>
                </a:solidFill>
              </a:rPr>
              <a:t>This </a:t>
            </a:r>
            <a:r>
              <a:rPr lang="en-US" sz="1800" dirty="0">
                <a:solidFill>
                  <a:schemeClr val="tx1"/>
                </a:solidFill>
              </a:rPr>
              <a:t>multivariate view also highlighted how several predictors work together to explain price variation, rather than acting independently. </a:t>
            </a:r>
            <a:r>
              <a:rPr lang="en-US" sz="1800" dirty="0" smtClean="0">
                <a:solidFill>
                  <a:schemeClr val="tx1"/>
                </a:solidFill>
              </a:rPr>
              <a:t>Overall</a:t>
            </a:r>
            <a:r>
              <a:rPr lang="en-US" sz="1800" dirty="0">
                <a:solidFill>
                  <a:schemeClr val="tx1"/>
                </a:solidFill>
              </a:rPr>
              <a:t>, the multivariate analysis provided a deeper understanding of how multiple features combine to shape housing prices and </a:t>
            </a:r>
            <a:r>
              <a:rPr lang="en-US" sz="1800" dirty="0" smtClean="0">
                <a:solidFill>
                  <a:schemeClr val="tx1"/>
                </a:solidFill>
              </a:rPr>
              <a:t>support </a:t>
            </a:r>
            <a:r>
              <a:rPr lang="en-US" sz="1800" dirty="0">
                <a:solidFill>
                  <a:schemeClr val="tx1"/>
                </a:solidFill>
              </a:rPr>
              <a:t>the decision </a:t>
            </a:r>
            <a:r>
              <a:rPr lang="en-US" sz="1800" dirty="0" smtClean="0">
                <a:solidFill>
                  <a:schemeClr val="tx1"/>
                </a:solidFill>
              </a:rPr>
              <a:t>for model selection.</a:t>
            </a:r>
          </a:p>
          <a:p>
            <a:pPr>
              <a:buFontTx/>
              <a:buChar char="-"/>
            </a:pPr>
            <a:r>
              <a:rPr lang="en-US" sz="1800" dirty="0">
                <a:solidFill>
                  <a:schemeClr val="tx1"/>
                </a:solidFill>
              </a:rPr>
              <a:t>To assess </a:t>
            </a:r>
            <a:r>
              <a:rPr lang="en-US" sz="1800" dirty="0" err="1">
                <a:solidFill>
                  <a:schemeClr val="tx1"/>
                </a:solidFill>
              </a:rPr>
              <a:t>multicollinearity</a:t>
            </a:r>
            <a:r>
              <a:rPr lang="en-US" sz="1800" dirty="0">
                <a:solidFill>
                  <a:schemeClr val="tx1"/>
                </a:solidFill>
              </a:rPr>
              <a:t> among the key predictors, I calculated the Variance Inflation Factor (VIF) for the most influential numerical features. The results showed moderate correlation between some variables—for example, </a:t>
            </a:r>
            <a:r>
              <a:rPr lang="en-US" sz="1800" dirty="0" err="1">
                <a:solidFill>
                  <a:schemeClr val="tx1"/>
                </a:solidFill>
              </a:rPr>
              <a:t>GarageCars</a:t>
            </a:r>
            <a:r>
              <a:rPr lang="en-US" sz="1800" dirty="0">
                <a:solidFill>
                  <a:schemeClr val="tx1"/>
                </a:solidFill>
              </a:rPr>
              <a:t> (VIF ≈ 5.33) and </a:t>
            </a:r>
            <a:r>
              <a:rPr lang="en-US" sz="1800" dirty="0" err="1">
                <a:solidFill>
                  <a:schemeClr val="tx1"/>
                </a:solidFill>
              </a:rPr>
              <a:t>GarageArea</a:t>
            </a:r>
            <a:r>
              <a:rPr lang="en-US" sz="1800" dirty="0">
                <a:solidFill>
                  <a:schemeClr val="tx1"/>
                </a:solidFill>
              </a:rPr>
              <a:t> (VIF ≈ 4.76), which makes sense because garage size and car capacity naturally increase together. Other strong predictors such as </a:t>
            </a:r>
            <a:r>
              <a:rPr lang="en-US" sz="1800" dirty="0" err="1">
                <a:solidFill>
                  <a:schemeClr val="tx1"/>
                </a:solidFill>
              </a:rPr>
              <a:t>GrLivArea</a:t>
            </a:r>
            <a:r>
              <a:rPr lang="en-US" sz="1800" dirty="0">
                <a:solidFill>
                  <a:schemeClr val="tx1"/>
                </a:solidFill>
              </a:rPr>
              <a:t>, </a:t>
            </a:r>
            <a:r>
              <a:rPr lang="en-US" sz="1800" dirty="0" err="1">
                <a:solidFill>
                  <a:schemeClr val="tx1"/>
                </a:solidFill>
              </a:rPr>
              <a:t>OverallQual</a:t>
            </a:r>
            <a:r>
              <a:rPr lang="en-US" sz="1800" dirty="0">
                <a:solidFill>
                  <a:schemeClr val="tx1"/>
                </a:solidFill>
              </a:rPr>
              <a:t>, </a:t>
            </a:r>
            <a:r>
              <a:rPr lang="en-US" sz="1800" dirty="0" err="1">
                <a:solidFill>
                  <a:schemeClr val="tx1"/>
                </a:solidFill>
              </a:rPr>
              <a:t>TotalBsmtSF</a:t>
            </a:r>
            <a:r>
              <a:rPr lang="en-US" sz="1800" dirty="0">
                <a:solidFill>
                  <a:schemeClr val="tx1"/>
                </a:solidFill>
              </a:rPr>
              <a:t>, and </a:t>
            </a:r>
            <a:r>
              <a:rPr lang="en-US" sz="1800" dirty="0" err="1">
                <a:solidFill>
                  <a:schemeClr val="tx1"/>
                </a:solidFill>
              </a:rPr>
              <a:t>YearBuilt</a:t>
            </a:r>
            <a:r>
              <a:rPr lang="en-US" sz="1800" dirty="0">
                <a:solidFill>
                  <a:schemeClr val="tx1"/>
                </a:solidFill>
              </a:rPr>
              <a:t> all had low VIF values below 3, indicating limited </a:t>
            </a:r>
            <a:r>
              <a:rPr lang="en-US" sz="1800" dirty="0" err="1">
                <a:solidFill>
                  <a:schemeClr val="tx1"/>
                </a:solidFill>
              </a:rPr>
              <a:t>multicollinearity</a:t>
            </a:r>
            <a:r>
              <a:rPr lang="en-US" sz="1800" dirty="0">
                <a:solidFill>
                  <a:schemeClr val="tx1"/>
                </a:solidFill>
              </a:rPr>
              <a:t> and stable coefficient estimation. </a:t>
            </a:r>
            <a:r>
              <a:rPr lang="en-US" sz="1800" dirty="0" smtClean="0">
                <a:solidFill>
                  <a:schemeClr val="tx1"/>
                </a:solidFill>
              </a:rPr>
              <a:t>Overall</a:t>
            </a:r>
            <a:r>
              <a:rPr lang="en-US" sz="1800" dirty="0">
                <a:solidFill>
                  <a:schemeClr val="tx1"/>
                </a:solidFill>
              </a:rPr>
              <a:t>, the VIF analysis confirmed that while a few structural features are related, </a:t>
            </a:r>
            <a:r>
              <a:rPr lang="en-US" sz="1800" dirty="0" err="1">
                <a:solidFill>
                  <a:schemeClr val="tx1"/>
                </a:solidFill>
              </a:rPr>
              <a:t>multicollinearity</a:t>
            </a:r>
            <a:r>
              <a:rPr lang="en-US" sz="1800" dirty="0">
                <a:solidFill>
                  <a:schemeClr val="tx1"/>
                </a:solidFill>
              </a:rPr>
              <a:t> is not severe, and the selected features remain suitable for </a:t>
            </a:r>
            <a:r>
              <a:rPr lang="en-US" sz="1800" dirty="0" smtClean="0">
                <a:solidFill>
                  <a:schemeClr val="tx1"/>
                </a:solidFill>
              </a:rPr>
              <a:t>model training.</a:t>
            </a:r>
          </a:p>
        </p:txBody>
      </p:sp>
    </p:spTree>
    <p:extLst>
      <p:ext uri="{BB962C8B-B14F-4D97-AF65-F5344CB8AC3E}">
        <p14:creationId xmlns:p14="http://schemas.microsoft.com/office/powerpoint/2010/main" val="155225380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ENCODING</a:t>
            </a:r>
          </a:p>
          <a:p>
            <a:pPr>
              <a:buFontTx/>
              <a:buChar char="-"/>
            </a:pPr>
            <a:r>
              <a:rPr lang="en-US" sz="1800" dirty="0">
                <a:solidFill>
                  <a:schemeClr val="tx1"/>
                </a:solidFill>
              </a:rPr>
              <a:t>To prepare categorical variables for modeling, I applied a combination of </a:t>
            </a:r>
            <a:r>
              <a:rPr lang="en-US" sz="1800" b="1" dirty="0">
                <a:solidFill>
                  <a:schemeClr val="tx1"/>
                </a:solidFill>
              </a:rPr>
              <a:t>ordinal encoding</a:t>
            </a:r>
            <a:r>
              <a:rPr lang="en-US" sz="1800" dirty="0">
                <a:solidFill>
                  <a:schemeClr val="tx1"/>
                </a:solidFill>
              </a:rPr>
              <a:t> and </a:t>
            </a:r>
            <a:r>
              <a:rPr lang="en-US" sz="1800" b="1" dirty="0">
                <a:solidFill>
                  <a:schemeClr val="tx1"/>
                </a:solidFill>
              </a:rPr>
              <a:t>one-hot encoding</a:t>
            </a:r>
            <a:r>
              <a:rPr lang="en-US" sz="1800" dirty="0">
                <a:solidFill>
                  <a:schemeClr val="tx1"/>
                </a:solidFill>
              </a:rPr>
              <a:t>, depending on the nature of each feature. </a:t>
            </a:r>
            <a:endParaRPr lang="en-US" sz="1800" dirty="0" smtClean="0">
              <a:solidFill>
                <a:schemeClr val="tx1"/>
              </a:solidFill>
            </a:endParaRPr>
          </a:p>
          <a:p>
            <a:pPr>
              <a:buFontTx/>
              <a:buChar char="-"/>
            </a:pPr>
            <a:r>
              <a:rPr lang="en-US" sz="1800" dirty="0" smtClean="0">
                <a:solidFill>
                  <a:schemeClr val="tx1"/>
                </a:solidFill>
              </a:rPr>
              <a:t>For </a:t>
            </a:r>
            <a:r>
              <a:rPr lang="en-US" sz="1800" dirty="0">
                <a:solidFill>
                  <a:schemeClr val="tx1"/>
                </a:solidFill>
              </a:rPr>
              <a:t>features that represent quality, condition, or ordered levels. I used custom ordinal maps that convert domain categories into meaningful numeric scores</a:t>
            </a:r>
            <a:r>
              <a:rPr lang="en-US" sz="1800" dirty="0" smtClean="0">
                <a:solidFill>
                  <a:schemeClr val="tx1"/>
                </a:solidFill>
              </a:rPr>
              <a:t>.</a:t>
            </a:r>
          </a:p>
          <a:p>
            <a:pPr>
              <a:buFontTx/>
              <a:buChar char="-"/>
            </a:pPr>
            <a:r>
              <a:rPr lang="en-US" sz="1800" dirty="0">
                <a:solidFill>
                  <a:schemeClr val="tx1"/>
                </a:solidFill>
              </a:rPr>
              <a:t>For all remaining nominal categorical variables, I applied one-hot encoding to capture category membership without imposing any artificial order</a:t>
            </a:r>
            <a:r>
              <a:rPr lang="en-US" sz="1800" dirty="0" smtClean="0">
                <a:solidFill>
                  <a:schemeClr val="tx1"/>
                </a:solidFill>
              </a:rPr>
              <a:t>.</a:t>
            </a:r>
            <a:endParaRPr lang="en-US" sz="1800" dirty="0">
              <a:solidFill>
                <a:schemeClr val="tx1"/>
              </a:solidFill>
            </a:endParaRPr>
          </a:p>
        </p:txBody>
      </p:sp>
    </p:spTree>
    <p:extLst>
      <p:ext uri="{BB962C8B-B14F-4D97-AF65-F5344CB8AC3E}">
        <p14:creationId xmlns:p14="http://schemas.microsoft.com/office/powerpoint/2010/main" val="73513082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FEATURE ENGINEERING</a:t>
            </a:r>
          </a:p>
          <a:p>
            <a:r>
              <a:rPr lang="en-US" sz="1800" dirty="0">
                <a:solidFill>
                  <a:schemeClr val="tx1"/>
                </a:solidFill>
              </a:rPr>
              <a:t>I created new features that better capture the size, quality, and age of each house to improve prediction accuracy. </a:t>
            </a:r>
            <a:endParaRPr lang="en-US" sz="1800" dirty="0" smtClean="0">
              <a:solidFill>
                <a:schemeClr val="tx1"/>
              </a:solidFill>
            </a:endParaRPr>
          </a:p>
          <a:p>
            <a:r>
              <a:rPr lang="en-US" sz="1800" dirty="0" smtClean="0">
                <a:solidFill>
                  <a:schemeClr val="tx1"/>
                </a:solidFill>
              </a:rPr>
              <a:t>I </a:t>
            </a:r>
            <a:r>
              <a:rPr lang="en-US" sz="1800" dirty="0">
                <a:solidFill>
                  <a:schemeClr val="tx1"/>
                </a:solidFill>
              </a:rPr>
              <a:t>combined all floor areas and the basement into one measure of total square footage, giving a clearer picture of how large a home truly is. I also created a total bathrooms feature by combining full and half bathrooms from both the main level and the basement, giving a more realistic representation of household convenience.</a:t>
            </a:r>
          </a:p>
          <a:p>
            <a:r>
              <a:rPr lang="en-US" sz="1800" dirty="0">
                <a:solidFill>
                  <a:schemeClr val="tx1"/>
                </a:solidFill>
              </a:rPr>
              <a:t>To capture aging effects, I calculated how old the home is and how long it has been since it was remodeled. I also created interaction features that multiply house size with quality ratings, helping the model reflect the fact that larger high-quality homes tend to be much more valuable. </a:t>
            </a:r>
            <a:endParaRPr lang="en-US" sz="1800" dirty="0" smtClean="0">
              <a:solidFill>
                <a:schemeClr val="tx1"/>
              </a:solidFill>
            </a:endParaRPr>
          </a:p>
          <a:p>
            <a:r>
              <a:rPr lang="en-US" sz="1800" dirty="0" smtClean="0">
                <a:solidFill>
                  <a:schemeClr val="tx1"/>
                </a:solidFill>
              </a:rPr>
              <a:t>In </a:t>
            </a:r>
            <a:r>
              <a:rPr lang="en-US" sz="1800" dirty="0">
                <a:solidFill>
                  <a:schemeClr val="tx1"/>
                </a:solidFill>
              </a:rPr>
              <a:t>addition, I summed all porch areas into a single total porch feature to represent outdoor living space.</a:t>
            </a:r>
          </a:p>
          <a:p>
            <a:r>
              <a:rPr lang="en-US" sz="1800" dirty="0">
                <a:solidFill>
                  <a:schemeClr val="tx1"/>
                </a:solidFill>
              </a:rPr>
              <a:t>These engineered features reduce noise, strengthen meaningful relationships with price, and help the model detect patterns that are not obvious from the raw variables alone</a:t>
            </a:r>
            <a:r>
              <a:rPr lang="en-US" sz="1800" dirty="0" smtClean="0">
                <a:solidFill>
                  <a:schemeClr val="tx1"/>
                </a:solidFill>
              </a:rPr>
              <a:t>.</a:t>
            </a:r>
            <a:endParaRPr lang="en-US" sz="1800" dirty="0">
              <a:solidFill>
                <a:schemeClr val="tx1"/>
              </a:solidFill>
            </a:endParaRPr>
          </a:p>
        </p:txBody>
      </p:sp>
    </p:spTree>
    <p:extLst>
      <p:ext uri="{BB962C8B-B14F-4D97-AF65-F5344CB8AC3E}">
        <p14:creationId xmlns:p14="http://schemas.microsoft.com/office/powerpoint/2010/main" val="422986769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lnSpcReduction="10000"/>
          </a:bodyPr>
          <a:lstStyle/>
          <a:p>
            <a:pPr marL="0" indent="0">
              <a:buNone/>
            </a:pPr>
            <a:r>
              <a:rPr lang="en-US" sz="4000" b="1" dirty="0" smtClean="0">
                <a:solidFill>
                  <a:schemeClr val="tx1"/>
                </a:solidFill>
              </a:rPr>
              <a:t>MODEL TRAINING</a:t>
            </a:r>
          </a:p>
          <a:p>
            <a:pPr>
              <a:buFontTx/>
              <a:buChar char="-"/>
            </a:pPr>
            <a:r>
              <a:rPr lang="en-US" sz="1800" dirty="0">
                <a:solidFill>
                  <a:schemeClr val="tx1"/>
                </a:solidFill>
              </a:rPr>
              <a:t>To evaluate which algorithm best fits the housing data, I trained multiple models and compared their performance using cross-validation</a:t>
            </a:r>
            <a:r>
              <a:rPr lang="en-US" sz="1800" dirty="0" smtClean="0">
                <a:solidFill>
                  <a:schemeClr val="tx1"/>
                </a:solidFill>
              </a:rPr>
              <a:t>.</a:t>
            </a:r>
          </a:p>
          <a:p>
            <a:pPr marL="0" indent="0">
              <a:buNone/>
            </a:pPr>
            <a:r>
              <a:rPr lang="en-US" sz="1800" b="1" dirty="0">
                <a:solidFill>
                  <a:schemeClr val="tx1"/>
                </a:solidFill>
              </a:rPr>
              <a:t>Model Performances (Mean R² Scores)</a:t>
            </a:r>
          </a:p>
          <a:p>
            <a:r>
              <a:rPr lang="en-US" sz="1800" b="1" dirty="0">
                <a:solidFill>
                  <a:schemeClr val="tx1"/>
                </a:solidFill>
              </a:rPr>
              <a:t>Linear Regression:</a:t>
            </a:r>
            <a:r>
              <a:rPr lang="en-US" sz="1800" dirty="0">
                <a:solidFill>
                  <a:schemeClr val="tx1"/>
                </a:solidFill>
              </a:rPr>
              <a:t> 0.9112</a:t>
            </a:r>
          </a:p>
          <a:p>
            <a:r>
              <a:rPr lang="en-US" sz="1800" b="1" dirty="0">
                <a:solidFill>
                  <a:schemeClr val="tx1"/>
                </a:solidFill>
              </a:rPr>
              <a:t>Lasso Regression:</a:t>
            </a:r>
            <a:r>
              <a:rPr lang="en-US" sz="1800" dirty="0">
                <a:solidFill>
                  <a:schemeClr val="tx1"/>
                </a:solidFill>
              </a:rPr>
              <a:t> 0.9112</a:t>
            </a:r>
          </a:p>
          <a:p>
            <a:r>
              <a:rPr lang="en-US" sz="1800" b="1" dirty="0">
                <a:solidFill>
                  <a:schemeClr val="tx1"/>
                </a:solidFill>
              </a:rPr>
              <a:t>Ridge Regression:</a:t>
            </a:r>
            <a:r>
              <a:rPr lang="en-US" sz="1800" dirty="0">
                <a:solidFill>
                  <a:schemeClr val="tx1"/>
                </a:solidFill>
              </a:rPr>
              <a:t> 0.9107</a:t>
            </a:r>
          </a:p>
          <a:p>
            <a:r>
              <a:rPr lang="en-US" sz="1800" b="1" dirty="0" err="1">
                <a:solidFill>
                  <a:schemeClr val="tx1"/>
                </a:solidFill>
              </a:rPr>
              <a:t>ElasticNet</a:t>
            </a:r>
            <a:r>
              <a:rPr lang="en-US" sz="1800" b="1" dirty="0">
                <a:solidFill>
                  <a:schemeClr val="tx1"/>
                </a:solidFill>
              </a:rPr>
              <a:t>:</a:t>
            </a:r>
            <a:r>
              <a:rPr lang="en-US" sz="1800" dirty="0">
                <a:solidFill>
                  <a:schemeClr val="tx1"/>
                </a:solidFill>
              </a:rPr>
              <a:t> 0.9114</a:t>
            </a:r>
          </a:p>
          <a:p>
            <a:r>
              <a:rPr lang="en-US" sz="1800" b="1" dirty="0">
                <a:solidFill>
                  <a:schemeClr val="tx1"/>
                </a:solidFill>
              </a:rPr>
              <a:t>Random Forest:</a:t>
            </a:r>
            <a:r>
              <a:rPr lang="en-US" sz="1800" dirty="0">
                <a:solidFill>
                  <a:schemeClr val="tx1"/>
                </a:solidFill>
              </a:rPr>
              <a:t> 0.8999</a:t>
            </a:r>
          </a:p>
          <a:p>
            <a:r>
              <a:rPr lang="en-US" sz="1800" b="1" dirty="0" err="1">
                <a:solidFill>
                  <a:schemeClr val="tx1"/>
                </a:solidFill>
              </a:rPr>
              <a:t>XGBoost</a:t>
            </a:r>
            <a:r>
              <a:rPr lang="en-US" sz="1800" b="1" dirty="0">
                <a:solidFill>
                  <a:schemeClr val="tx1"/>
                </a:solidFill>
              </a:rPr>
              <a:t>:</a:t>
            </a:r>
            <a:r>
              <a:rPr lang="en-US" sz="1800" dirty="0">
                <a:solidFill>
                  <a:schemeClr val="tx1"/>
                </a:solidFill>
              </a:rPr>
              <a:t> </a:t>
            </a:r>
            <a:r>
              <a:rPr lang="en-US" sz="1800" b="1" dirty="0" smtClean="0">
                <a:solidFill>
                  <a:schemeClr val="tx1"/>
                </a:solidFill>
              </a:rPr>
              <a:t>0.9170</a:t>
            </a:r>
            <a:endParaRPr lang="en-US" sz="1800" dirty="0">
              <a:solidFill>
                <a:schemeClr val="tx1"/>
              </a:solidFill>
            </a:endParaRPr>
          </a:p>
          <a:p>
            <a:r>
              <a:rPr lang="en-US" sz="1800" b="1" dirty="0">
                <a:solidFill>
                  <a:schemeClr val="tx1"/>
                </a:solidFill>
              </a:rPr>
              <a:t>Support Vector Regression (SVR):</a:t>
            </a:r>
            <a:r>
              <a:rPr lang="en-US" sz="1800" dirty="0">
                <a:solidFill>
                  <a:schemeClr val="tx1"/>
                </a:solidFill>
              </a:rPr>
              <a:t> 0.0009</a:t>
            </a:r>
          </a:p>
          <a:p>
            <a:pPr>
              <a:buFontTx/>
              <a:buChar char="-"/>
            </a:pPr>
            <a:r>
              <a:rPr lang="en-US" sz="1800" dirty="0">
                <a:solidFill>
                  <a:schemeClr val="tx1"/>
                </a:solidFill>
              </a:rPr>
              <a:t>For this project, I selected Ridge Regression as my final linear model. Although several linear models performed similarly, Ridge provided the most stable and reliable results across cross-validation. It handles </a:t>
            </a:r>
            <a:r>
              <a:rPr lang="en-US" sz="1800" dirty="0" err="1">
                <a:solidFill>
                  <a:schemeClr val="tx1"/>
                </a:solidFill>
              </a:rPr>
              <a:t>multicollinearity</a:t>
            </a:r>
            <a:r>
              <a:rPr lang="en-US" sz="1800" dirty="0">
                <a:solidFill>
                  <a:schemeClr val="tx1"/>
                </a:solidFill>
              </a:rPr>
              <a:t> effectively, which is important because many housing features—such as total square footage, basement area, and garage size—are highly correlated. Ridge’s L2 regularization prevents coefficient instability, reduces overfitting, and works well with the engineered features I created. Overall, it offered the best balance of accuracy, interpretability, and robustness for this dataset.</a:t>
            </a:r>
          </a:p>
        </p:txBody>
      </p:sp>
    </p:spTree>
    <p:extLst>
      <p:ext uri="{BB962C8B-B14F-4D97-AF65-F5344CB8AC3E}">
        <p14:creationId xmlns:p14="http://schemas.microsoft.com/office/powerpoint/2010/main" val="19217402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HYPERPARAMETER TUNING</a:t>
            </a:r>
          </a:p>
          <a:p>
            <a:pPr>
              <a:buFontTx/>
              <a:buChar char="-"/>
            </a:pPr>
            <a:r>
              <a:rPr lang="en-US" sz="1800" dirty="0">
                <a:solidFill>
                  <a:schemeClr val="tx1"/>
                </a:solidFill>
              </a:rPr>
              <a:t>I tuned Ridge Regression </a:t>
            </a:r>
            <a:r>
              <a:rPr lang="en-US" sz="1800" dirty="0" smtClean="0">
                <a:solidFill>
                  <a:schemeClr val="tx1"/>
                </a:solidFill>
              </a:rPr>
              <a:t>using </a:t>
            </a:r>
            <a:r>
              <a:rPr lang="en-US" sz="1800" dirty="0">
                <a:solidFill>
                  <a:schemeClr val="tx1"/>
                </a:solidFill>
              </a:rPr>
              <a:t>a grid search across regularization strengths and five-fold cross-validation. The optimal model uses no polynomial expansion (degree 1) with a regularization strength of approximately 2.07, which yielded a mean cross-validated RMSE of 18,023.7 and mean R² of 0.9127. Degree 2 models did not improve RMSE and required much stronger regularization to avoid overfitting. Therefore, the degree-1 Ridge model provides the best balance of accuracy, stability, and interpretability for this dataset</a:t>
            </a:r>
            <a:r>
              <a:rPr lang="en-US" sz="1800" dirty="0" smtClean="0">
                <a:solidFill>
                  <a:schemeClr val="tx1"/>
                </a:solidFill>
              </a:rPr>
              <a:t>.</a:t>
            </a:r>
          </a:p>
          <a:p>
            <a:pPr>
              <a:buFontTx/>
              <a:buChar char="-"/>
            </a:pPr>
            <a:r>
              <a:rPr lang="en-US" sz="1800" dirty="0">
                <a:solidFill>
                  <a:schemeClr val="tx1"/>
                </a:solidFill>
              </a:rPr>
              <a:t>Alpha vs RMSE </a:t>
            </a:r>
            <a:r>
              <a:rPr lang="en-US" sz="1800" dirty="0" smtClean="0">
                <a:solidFill>
                  <a:schemeClr val="tx1"/>
                </a:solidFill>
              </a:rPr>
              <a:t>: shows </a:t>
            </a:r>
            <a:r>
              <a:rPr lang="en-US" sz="1800" dirty="0">
                <a:solidFill>
                  <a:schemeClr val="tx1"/>
                </a:solidFill>
              </a:rPr>
              <a:t>how RMSE changes with regularization for degree 1 and 2. The degree-1 curve reaches the lowest RMSE near α≈2.07. At very large α the model </a:t>
            </a:r>
            <a:r>
              <a:rPr lang="en-US" sz="1800" dirty="0" err="1">
                <a:solidFill>
                  <a:schemeClr val="tx1"/>
                </a:solidFill>
              </a:rPr>
              <a:t>underfits</a:t>
            </a:r>
            <a:r>
              <a:rPr lang="en-US" sz="1800" dirty="0">
                <a:solidFill>
                  <a:schemeClr val="tx1"/>
                </a:solidFill>
              </a:rPr>
              <a:t> (RMSE rises for degree 1</a:t>
            </a:r>
            <a:r>
              <a:rPr lang="en-US" sz="1800" dirty="0" smtClean="0">
                <a:solidFill>
                  <a:schemeClr val="tx1"/>
                </a:solidFill>
              </a:rPr>
              <a:t>).</a:t>
            </a:r>
          </a:p>
          <a:p>
            <a:pPr>
              <a:buFontTx/>
              <a:buChar char="-"/>
            </a:pPr>
            <a:r>
              <a:rPr lang="en-US" sz="1800" dirty="0">
                <a:solidFill>
                  <a:schemeClr val="tx1"/>
                </a:solidFill>
              </a:rPr>
              <a:t>Alpha vs </a:t>
            </a:r>
            <a:r>
              <a:rPr lang="en-US" sz="1800" dirty="0" smtClean="0">
                <a:solidFill>
                  <a:schemeClr val="tx1"/>
                </a:solidFill>
              </a:rPr>
              <a:t>R²: </a:t>
            </a:r>
            <a:r>
              <a:rPr lang="en-US" sz="1800" dirty="0">
                <a:solidFill>
                  <a:schemeClr val="tx1"/>
                </a:solidFill>
              </a:rPr>
              <a:t>R² mirrors RMSE </a:t>
            </a:r>
            <a:r>
              <a:rPr lang="en-US" sz="1800" dirty="0" smtClean="0">
                <a:solidFill>
                  <a:schemeClr val="tx1"/>
                </a:solidFill>
              </a:rPr>
              <a:t>trends. </a:t>
            </a:r>
            <a:r>
              <a:rPr lang="en-US" sz="1800" dirty="0">
                <a:solidFill>
                  <a:schemeClr val="tx1"/>
                </a:solidFill>
              </a:rPr>
              <a:t>Degree-2 R² is slightly higher for very large α but that regime corresponds to over-regularized/fitting behavior and did not yield better RMSE</a:t>
            </a:r>
            <a:r>
              <a:rPr lang="en-US" sz="1800" dirty="0" smtClean="0">
                <a:solidFill>
                  <a:schemeClr val="tx1"/>
                </a:solidFill>
              </a:rPr>
              <a:t>.</a:t>
            </a:r>
          </a:p>
          <a:p>
            <a:pPr>
              <a:buFontTx/>
              <a:buChar char="-"/>
            </a:pPr>
            <a:r>
              <a:rPr lang="en-US" sz="1800" dirty="0">
                <a:solidFill>
                  <a:schemeClr val="tx1"/>
                </a:solidFill>
              </a:rPr>
              <a:t>Bottom line: degree 1 is simpler and gives the best practical result.</a:t>
            </a:r>
          </a:p>
        </p:txBody>
      </p:sp>
    </p:spTree>
    <p:extLst>
      <p:ext uri="{BB962C8B-B14F-4D97-AF65-F5344CB8AC3E}">
        <p14:creationId xmlns:p14="http://schemas.microsoft.com/office/powerpoint/2010/main" val="330191265"/>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LEARNING CURVE</a:t>
            </a:r>
          </a:p>
          <a:p>
            <a:pPr>
              <a:buFontTx/>
              <a:buChar char="-"/>
            </a:pPr>
            <a:r>
              <a:rPr lang="en-US" sz="1800" dirty="0">
                <a:solidFill>
                  <a:schemeClr val="tx1"/>
                </a:solidFill>
              </a:rPr>
              <a:t>I tuned Ridge Regression </a:t>
            </a:r>
            <a:r>
              <a:rPr lang="en-US" sz="1800" dirty="0" smtClean="0">
                <a:solidFill>
                  <a:schemeClr val="tx1"/>
                </a:solidFill>
              </a:rPr>
              <a:t>using </a:t>
            </a:r>
            <a:r>
              <a:rPr lang="en-US" sz="1800" dirty="0">
                <a:solidFill>
                  <a:schemeClr val="tx1"/>
                </a:solidFill>
              </a:rPr>
              <a:t>a grid search across regularization strengths and five-fold cross-validation. The optimal model uses no polynomial expansion (degree 1) with a regularization strength of approximately 2.07, which yielded a mean cross-validated RMSE of 18,023.7 and mean R² of 0.9127. Degree 2 models did not improve RMSE and required much stronger regularization to avoid overfitting. Therefore, the degree-1 Ridge model provides the best balance of accuracy, stability, and interpretability for this dataset</a:t>
            </a:r>
            <a:r>
              <a:rPr lang="en-US" sz="1800" dirty="0" smtClean="0">
                <a:solidFill>
                  <a:schemeClr val="tx1"/>
                </a:solidFill>
              </a:rPr>
              <a:t>.</a:t>
            </a:r>
          </a:p>
          <a:p>
            <a:pPr>
              <a:buFontTx/>
              <a:buChar char="-"/>
            </a:pPr>
            <a:r>
              <a:rPr lang="en-US" sz="1800" dirty="0">
                <a:solidFill>
                  <a:schemeClr val="tx1"/>
                </a:solidFill>
              </a:rPr>
              <a:t>Alpha vs RMSE </a:t>
            </a:r>
            <a:r>
              <a:rPr lang="en-US" sz="1800" dirty="0" smtClean="0">
                <a:solidFill>
                  <a:schemeClr val="tx1"/>
                </a:solidFill>
              </a:rPr>
              <a:t>: shows </a:t>
            </a:r>
            <a:r>
              <a:rPr lang="en-US" sz="1800" dirty="0">
                <a:solidFill>
                  <a:schemeClr val="tx1"/>
                </a:solidFill>
              </a:rPr>
              <a:t>how RMSE changes with regularization for degree 1 and 2. The degree-1 curve reaches the lowest RMSE near α≈2.07. At very large α the model </a:t>
            </a:r>
            <a:r>
              <a:rPr lang="en-US" sz="1800" dirty="0" err="1">
                <a:solidFill>
                  <a:schemeClr val="tx1"/>
                </a:solidFill>
              </a:rPr>
              <a:t>underfits</a:t>
            </a:r>
            <a:r>
              <a:rPr lang="en-US" sz="1800" dirty="0">
                <a:solidFill>
                  <a:schemeClr val="tx1"/>
                </a:solidFill>
              </a:rPr>
              <a:t> (RMSE rises for degree 1</a:t>
            </a:r>
            <a:r>
              <a:rPr lang="en-US" sz="1800" dirty="0" smtClean="0">
                <a:solidFill>
                  <a:schemeClr val="tx1"/>
                </a:solidFill>
              </a:rPr>
              <a:t>).</a:t>
            </a:r>
          </a:p>
          <a:p>
            <a:pPr>
              <a:buFontTx/>
              <a:buChar char="-"/>
            </a:pPr>
            <a:r>
              <a:rPr lang="en-US" sz="1800" dirty="0">
                <a:solidFill>
                  <a:schemeClr val="tx1"/>
                </a:solidFill>
              </a:rPr>
              <a:t>Alpha vs </a:t>
            </a:r>
            <a:r>
              <a:rPr lang="en-US" sz="1800" dirty="0" smtClean="0">
                <a:solidFill>
                  <a:schemeClr val="tx1"/>
                </a:solidFill>
              </a:rPr>
              <a:t>R²: </a:t>
            </a:r>
            <a:r>
              <a:rPr lang="en-US" sz="1800" dirty="0">
                <a:solidFill>
                  <a:schemeClr val="tx1"/>
                </a:solidFill>
              </a:rPr>
              <a:t>R² mirrors RMSE </a:t>
            </a:r>
            <a:r>
              <a:rPr lang="en-US" sz="1800" dirty="0" smtClean="0">
                <a:solidFill>
                  <a:schemeClr val="tx1"/>
                </a:solidFill>
              </a:rPr>
              <a:t>trends. </a:t>
            </a:r>
            <a:r>
              <a:rPr lang="en-US" sz="1800" dirty="0">
                <a:solidFill>
                  <a:schemeClr val="tx1"/>
                </a:solidFill>
              </a:rPr>
              <a:t>Degree-2 R² is slightly higher for very large α but that regime corresponds to over-regularized/fitting behavior and did not yield better RMSE</a:t>
            </a:r>
            <a:r>
              <a:rPr lang="en-US" sz="1800" dirty="0" smtClean="0">
                <a:solidFill>
                  <a:schemeClr val="tx1"/>
                </a:solidFill>
              </a:rPr>
              <a:t>.</a:t>
            </a:r>
          </a:p>
          <a:p>
            <a:pPr>
              <a:buFontTx/>
              <a:buChar char="-"/>
            </a:pPr>
            <a:r>
              <a:rPr lang="en-US" sz="1800" dirty="0">
                <a:solidFill>
                  <a:schemeClr val="tx1"/>
                </a:solidFill>
              </a:rPr>
              <a:t>Bottom line: degree 1 is simpler and gives the best practical result.</a:t>
            </a:r>
          </a:p>
        </p:txBody>
      </p:sp>
    </p:spTree>
    <p:extLst>
      <p:ext uri="{BB962C8B-B14F-4D97-AF65-F5344CB8AC3E}">
        <p14:creationId xmlns:p14="http://schemas.microsoft.com/office/powerpoint/2010/main" val="243761030"/>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ERROR ANALYSIS</a:t>
            </a:r>
          </a:p>
          <a:p>
            <a:r>
              <a:rPr lang="en-US" sz="1800" dirty="0">
                <a:solidFill>
                  <a:schemeClr val="tx1"/>
                </a:solidFill>
              </a:rPr>
              <a:t>The error analysis shows that the Ridge Regression model fits the housing data well and does not suffer from major bias. The residual distribution is centered tightly around zero and follows an approximately normal shape, indicating that the model makes balanced predictions without systematically over- or under-estimating prices. </a:t>
            </a:r>
            <a:endParaRPr lang="en-US" sz="1800" dirty="0" smtClean="0">
              <a:solidFill>
                <a:schemeClr val="tx1"/>
              </a:solidFill>
            </a:endParaRPr>
          </a:p>
          <a:p>
            <a:r>
              <a:rPr lang="en-US" sz="1800" dirty="0" smtClean="0">
                <a:solidFill>
                  <a:schemeClr val="tx1"/>
                </a:solidFill>
              </a:rPr>
              <a:t>The </a:t>
            </a:r>
            <a:r>
              <a:rPr lang="en-US" sz="1800" dirty="0">
                <a:solidFill>
                  <a:schemeClr val="tx1"/>
                </a:solidFill>
              </a:rPr>
              <a:t>scatter of absolute errors against predicted prices shows that most homes are predicted accurately, with larger errors occurring mainly in higher-priced or unusual properties </a:t>
            </a:r>
            <a:r>
              <a:rPr lang="en-US" sz="1800" dirty="0" smtClean="0">
                <a:solidFill>
                  <a:schemeClr val="tx1"/>
                </a:solidFill>
              </a:rPr>
              <a:t>.</a:t>
            </a:r>
            <a:endParaRPr lang="en-US" sz="1800" dirty="0">
              <a:solidFill>
                <a:schemeClr val="tx1"/>
              </a:solidFill>
            </a:endParaRPr>
          </a:p>
          <a:p>
            <a:r>
              <a:rPr lang="en-US" sz="1800" dirty="0">
                <a:solidFill>
                  <a:schemeClr val="tx1"/>
                </a:solidFill>
              </a:rPr>
              <a:t>The Actual vs Predicted plot aligns closely with the 45° reference line, confirming strong agreement between model predictions and real sale </a:t>
            </a:r>
            <a:r>
              <a:rPr lang="en-US" sz="1800" dirty="0" smtClean="0">
                <a:solidFill>
                  <a:schemeClr val="tx1"/>
                </a:solidFill>
              </a:rPr>
              <a:t>prices. </a:t>
            </a:r>
            <a:endParaRPr lang="en-US" sz="1800" dirty="0">
              <a:solidFill>
                <a:schemeClr val="tx1"/>
              </a:solidFill>
            </a:endParaRPr>
          </a:p>
          <a:p>
            <a:r>
              <a:rPr lang="en-US" sz="1800" dirty="0" smtClean="0">
                <a:solidFill>
                  <a:schemeClr val="tx1"/>
                </a:solidFill>
              </a:rPr>
              <a:t>The </a:t>
            </a:r>
            <a:r>
              <a:rPr lang="en-US" sz="1800" dirty="0">
                <a:solidFill>
                  <a:schemeClr val="tx1"/>
                </a:solidFill>
              </a:rPr>
              <a:t>standardized residuals show no visible pattern or funnel shape, meaning the model’s variance is stable across price ranges and that linear assumptions hold reasonably well. </a:t>
            </a:r>
            <a:endParaRPr lang="en-US" sz="1800" dirty="0" smtClean="0">
              <a:solidFill>
                <a:schemeClr val="tx1"/>
              </a:solidFill>
            </a:endParaRPr>
          </a:p>
          <a:p>
            <a:r>
              <a:rPr lang="en-US" sz="1800" dirty="0" smtClean="0">
                <a:solidFill>
                  <a:schemeClr val="tx1"/>
                </a:solidFill>
              </a:rPr>
              <a:t>Overall</a:t>
            </a:r>
            <a:r>
              <a:rPr lang="en-US" sz="1800" dirty="0">
                <a:solidFill>
                  <a:schemeClr val="tx1"/>
                </a:solidFill>
              </a:rPr>
              <a:t>, the Ridge model demonstrates strong generalization, stable errors, and reliable performance across most types of homes in the dataset.</a:t>
            </a:r>
          </a:p>
        </p:txBody>
      </p:sp>
    </p:spTree>
    <p:extLst>
      <p:ext uri="{BB962C8B-B14F-4D97-AF65-F5344CB8AC3E}">
        <p14:creationId xmlns:p14="http://schemas.microsoft.com/office/powerpoint/2010/main" val="3646849305"/>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a:solidFill>
                  <a:schemeClr val="tx1"/>
                </a:solidFill>
              </a:rPr>
              <a:t>SHAP </a:t>
            </a:r>
            <a:r>
              <a:rPr lang="en-US" sz="4000" b="1" dirty="0" smtClean="0">
                <a:solidFill>
                  <a:schemeClr val="tx1"/>
                </a:solidFill>
              </a:rPr>
              <a:t>EXPLANABILITY </a:t>
            </a:r>
          </a:p>
          <a:p>
            <a:pPr>
              <a:buFontTx/>
              <a:buChar char="-"/>
            </a:pPr>
            <a:r>
              <a:rPr lang="en-US" sz="1800" dirty="0" smtClean="0">
                <a:solidFill>
                  <a:schemeClr val="tx1"/>
                </a:solidFill>
              </a:rPr>
              <a:t>SHAP </a:t>
            </a:r>
            <a:r>
              <a:rPr lang="en-US" sz="1800" dirty="0">
                <a:solidFill>
                  <a:schemeClr val="tx1"/>
                </a:solidFill>
              </a:rPr>
              <a:t>analysis reveals that the Ridge model relies heavily on structural quality and size-related features to determine a home's value. </a:t>
            </a:r>
            <a:r>
              <a:rPr lang="en-US" sz="1800" b="1" dirty="0" err="1">
                <a:solidFill>
                  <a:schemeClr val="tx1"/>
                </a:solidFill>
              </a:rPr>
              <a:t>OverallQualArea</a:t>
            </a:r>
            <a:r>
              <a:rPr lang="en-US" sz="1800" dirty="0">
                <a:solidFill>
                  <a:schemeClr val="tx1"/>
                </a:solidFill>
              </a:rPr>
              <a:t> is by far the strongest predictor, confirming that the combination of house quality and total square footage drives most price variation. This is followed by </a:t>
            </a:r>
            <a:r>
              <a:rPr lang="en-US" sz="1800" b="1" dirty="0" err="1">
                <a:solidFill>
                  <a:schemeClr val="tx1"/>
                </a:solidFill>
              </a:rPr>
              <a:t>OverallQual</a:t>
            </a:r>
            <a:r>
              <a:rPr lang="en-US" sz="1800" dirty="0">
                <a:solidFill>
                  <a:schemeClr val="tx1"/>
                </a:solidFill>
              </a:rPr>
              <a:t>, </a:t>
            </a:r>
            <a:r>
              <a:rPr lang="en-US" sz="1800" b="1" dirty="0" err="1">
                <a:solidFill>
                  <a:schemeClr val="tx1"/>
                </a:solidFill>
              </a:rPr>
              <a:t>GrLivArea</a:t>
            </a:r>
            <a:r>
              <a:rPr lang="en-US" sz="1800" b="1" dirty="0">
                <a:solidFill>
                  <a:schemeClr val="tx1"/>
                </a:solidFill>
              </a:rPr>
              <a:t>-related zoning categories</a:t>
            </a:r>
            <a:r>
              <a:rPr lang="en-US" sz="1800" dirty="0">
                <a:solidFill>
                  <a:schemeClr val="tx1"/>
                </a:solidFill>
              </a:rPr>
              <a:t>, and </a:t>
            </a:r>
            <a:r>
              <a:rPr lang="en-US" sz="1800" b="1" dirty="0" err="1">
                <a:solidFill>
                  <a:schemeClr val="tx1"/>
                </a:solidFill>
              </a:rPr>
              <a:t>TotalBsmtSF</a:t>
            </a:r>
            <a:r>
              <a:rPr lang="en-US" sz="1800" dirty="0">
                <a:solidFill>
                  <a:schemeClr val="tx1"/>
                </a:solidFill>
              </a:rPr>
              <a:t>, showing that both above-ground and basement living space add substantial value</a:t>
            </a:r>
            <a:r>
              <a:rPr lang="en-US" sz="1800" dirty="0" smtClean="0">
                <a:solidFill>
                  <a:schemeClr val="tx1"/>
                </a:solidFill>
              </a:rPr>
              <a:t>.</a:t>
            </a:r>
          </a:p>
          <a:p>
            <a:pPr>
              <a:buFontTx/>
              <a:buChar char="-"/>
            </a:pPr>
            <a:endParaRPr lang="en-US" sz="1800" dirty="0">
              <a:solidFill>
                <a:schemeClr val="tx1"/>
              </a:solidFill>
            </a:endParaRPr>
          </a:p>
        </p:txBody>
      </p:sp>
    </p:spTree>
    <p:extLst>
      <p:ext uri="{BB962C8B-B14F-4D97-AF65-F5344CB8AC3E}">
        <p14:creationId xmlns:p14="http://schemas.microsoft.com/office/powerpoint/2010/main" val="416345440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SUBMISSION AND DEPLOYMENT</a:t>
            </a:r>
          </a:p>
          <a:p>
            <a:r>
              <a:rPr lang="en-US" sz="1800" dirty="0">
                <a:solidFill>
                  <a:schemeClr val="tx1"/>
                </a:solidFill>
              </a:rPr>
              <a:t>After tuning and evaluating the Ridge Regression model, I generated the final predictions using the optimized </a:t>
            </a:r>
            <a:r>
              <a:rPr lang="en-US" sz="1800" dirty="0" err="1">
                <a:solidFill>
                  <a:schemeClr val="tx1"/>
                </a:solidFill>
              </a:rPr>
              <a:t>hyperparameters</a:t>
            </a:r>
            <a:r>
              <a:rPr lang="en-US" sz="1800" dirty="0">
                <a:solidFill>
                  <a:schemeClr val="tx1"/>
                </a:solidFill>
              </a:rPr>
              <a:t> (degree = 1, alpha ≈ 2.07) and retrained the model on the full dataset to maximize predictive power. The predictions were prepared in the required </a:t>
            </a:r>
            <a:r>
              <a:rPr lang="en-US" sz="1800" dirty="0" err="1">
                <a:solidFill>
                  <a:schemeClr val="tx1"/>
                </a:solidFill>
              </a:rPr>
              <a:t>Kaggle</a:t>
            </a:r>
            <a:r>
              <a:rPr lang="en-US" sz="1800" dirty="0">
                <a:solidFill>
                  <a:schemeClr val="tx1"/>
                </a:solidFill>
              </a:rPr>
              <a:t> submission format, matching each test set ID with its corresponding predicted sale price.</a:t>
            </a:r>
          </a:p>
          <a:p>
            <a:r>
              <a:rPr lang="en-US" sz="1800" dirty="0">
                <a:solidFill>
                  <a:schemeClr val="tx1"/>
                </a:solidFill>
              </a:rPr>
              <a:t>The submitted model achieved a </a:t>
            </a:r>
            <a:r>
              <a:rPr lang="en-US" sz="1800" b="1" dirty="0" err="1">
                <a:solidFill>
                  <a:schemeClr val="tx1"/>
                </a:solidFill>
              </a:rPr>
              <a:t>Kaggle</a:t>
            </a:r>
            <a:r>
              <a:rPr lang="en-US" sz="1800" b="1" dirty="0">
                <a:solidFill>
                  <a:schemeClr val="tx1"/>
                </a:solidFill>
              </a:rPr>
              <a:t> Score of 0.15142 (Root Mean </a:t>
            </a:r>
            <a:r>
              <a:rPr lang="en-US" sz="1800" b="1" dirty="0" smtClean="0">
                <a:solidFill>
                  <a:schemeClr val="tx1"/>
                </a:solidFill>
              </a:rPr>
              <a:t>Squared Error</a:t>
            </a:r>
            <a:r>
              <a:rPr lang="en-US" sz="1800" b="1" dirty="0">
                <a:solidFill>
                  <a:schemeClr val="tx1"/>
                </a:solidFill>
              </a:rPr>
              <a:t>)</a:t>
            </a:r>
            <a:r>
              <a:rPr lang="en-US" sz="1800" dirty="0">
                <a:solidFill>
                  <a:schemeClr val="tx1"/>
                </a:solidFill>
              </a:rPr>
              <a:t>, demonstrating strong generalization on unseen data and validating the effectiveness of the feature engineering, preprocessing, and </a:t>
            </a:r>
            <a:r>
              <a:rPr lang="en-US" sz="1800" dirty="0" err="1">
                <a:solidFill>
                  <a:schemeClr val="tx1"/>
                </a:solidFill>
              </a:rPr>
              <a:t>hyperparameter</a:t>
            </a:r>
            <a:r>
              <a:rPr lang="en-US" sz="1800" dirty="0">
                <a:solidFill>
                  <a:schemeClr val="tx1"/>
                </a:solidFill>
              </a:rPr>
              <a:t> tuning steps. This performance confirms that the final Ridge model is both stable and reliable for house price prediction in the Ames dataset</a:t>
            </a:r>
            <a:r>
              <a:rPr lang="en-US" sz="1800" dirty="0" smtClean="0">
                <a:solidFill>
                  <a:schemeClr val="tx1"/>
                </a:solidFill>
              </a:rPr>
              <a:t>.</a:t>
            </a:r>
          </a:p>
          <a:p>
            <a:r>
              <a:rPr lang="en-US" sz="1800" dirty="0">
                <a:solidFill>
                  <a:schemeClr val="tx1"/>
                </a:solidFill>
              </a:rPr>
              <a:t>Deploy the final Ridge model as a </a:t>
            </a:r>
            <a:r>
              <a:rPr lang="en-US" sz="1800" dirty="0" err="1">
                <a:solidFill>
                  <a:schemeClr val="tx1"/>
                </a:solidFill>
              </a:rPr>
              <a:t>Streamlit</a:t>
            </a:r>
            <a:r>
              <a:rPr lang="en-US" sz="1800" dirty="0">
                <a:solidFill>
                  <a:schemeClr val="tx1"/>
                </a:solidFill>
              </a:rPr>
              <a:t> app so users can input property features and get instant price estimates. The model is saved as a </a:t>
            </a:r>
            <a:r>
              <a:rPr lang="en-US" sz="1800" dirty="0" err="1">
                <a:solidFill>
                  <a:schemeClr val="tx1"/>
                </a:solidFill>
              </a:rPr>
              <a:t>scikit</a:t>
            </a:r>
            <a:r>
              <a:rPr lang="en-US" sz="1800" dirty="0">
                <a:solidFill>
                  <a:schemeClr val="tx1"/>
                </a:solidFill>
              </a:rPr>
              <a:t>-learn pipeline (preprocessing + model), loaded by </a:t>
            </a:r>
            <a:r>
              <a:rPr lang="en-US" sz="1800" dirty="0" err="1">
                <a:solidFill>
                  <a:schemeClr val="tx1"/>
                </a:solidFill>
              </a:rPr>
              <a:t>Streamlit</a:t>
            </a:r>
            <a:r>
              <a:rPr lang="en-US" sz="1800" dirty="0">
                <a:solidFill>
                  <a:schemeClr val="tx1"/>
                </a:solidFill>
              </a:rPr>
              <a:t>, and returns predictions along with a brief, interpretable feature-impact summary. This provides a lightweight, shareable UI for property valuation and integrates easily into demo sites or internal dashboards.</a:t>
            </a:r>
          </a:p>
          <a:p>
            <a:pPr>
              <a:buFontTx/>
              <a:buChar char="-"/>
            </a:pPr>
            <a:endParaRPr lang="en-US" sz="1800" dirty="0">
              <a:solidFill>
                <a:schemeClr val="tx1"/>
              </a:solidFill>
            </a:endParaRPr>
          </a:p>
        </p:txBody>
      </p:sp>
    </p:spTree>
    <p:extLst>
      <p:ext uri="{BB962C8B-B14F-4D97-AF65-F5344CB8AC3E}">
        <p14:creationId xmlns:p14="http://schemas.microsoft.com/office/powerpoint/2010/main" val="342673426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F4E830A-06F9-4EAA-9E65-110CF24217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7E0AEC80-8115-4F41-B41A-43D5000262B8}"/>
              </a:ext>
              <a:ext uri="{C183D7F6-B498-43B3-948B-1728B52AA6E4}">
                <adec:decorative xmlns:adec="http://schemas.microsoft.com/office/drawing/2017/decorative" xmlns="" val="1"/>
              </a:ext>
            </a:extLst>
          </p:cNvPr>
          <p:cNvPicPr>
            <a:picLocks noChangeAspect="1"/>
          </p:cNvPicPr>
          <p:nvPr/>
        </p:nvPicPr>
        <p:blipFill rotWithShape="1">
          <a:blip r:embed="rId2">
            <a:alphaModFix amt="35000"/>
          </a:blip>
          <a:srcRect t="9418" b="6313"/>
          <a:stretch/>
        </p:blipFill>
        <p:spPr>
          <a:xfrm>
            <a:off x="3174" y="10"/>
            <a:ext cx="12192000" cy="6857990"/>
          </a:xfrm>
          <a:prstGeom prst="rect">
            <a:avLst/>
          </a:prstGeom>
        </p:spPr>
      </p:pic>
      <p:sp>
        <p:nvSpPr>
          <p:cNvPr id="3" name="Content Placeholder 2">
            <a:extLst>
              <a:ext uri="{FF2B5EF4-FFF2-40B4-BE49-F238E27FC236}">
                <a16:creationId xmlns:a16="http://schemas.microsoft.com/office/drawing/2014/main" id="{83D048AD-5F12-4F20-8B94-DCE98507F94A}"/>
              </a:ext>
            </a:extLst>
          </p:cNvPr>
          <p:cNvSpPr>
            <a:spLocks noGrp="1"/>
          </p:cNvSpPr>
          <p:nvPr>
            <p:ph idx="1"/>
          </p:nvPr>
        </p:nvSpPr>
        <p:spPr>
          <a:xfrm>
            <a:off x="684211" y="457200"/>
            <a:ext cx="10357861" cy="6151418"/>
          </a:xfrm>
        </p:spPr>
        <p:txBody>
          <a:bodyPr>
            <a:normAutofit/>
          </a:bodyPr>
          <a:lstStyle/>
          <a:p>
            <a:pPr marL="0" indent="0">
              <a:buNone/>
            </a:pPr>
            <a:r>
              <a:rPr lang="en-US" sz="4000" b="1" dirty="0" smtClean="0">
                <a:solidFill>
                  <a:schemeClr val="tx1"/>
                </a:solidFill>
              </a:rPr>
              <a:t>CONCLUSION</a:t>
            </a:r>
          </a:p>
          <a:p>
            <a:pPr marL="0" indent="0">
              <a:buNone/>
            </a:pPr>
            <a:r>
              <a:rPr lang="en-US" sz="1800" dirty="0">
                <a:solidFill>
                  <a:schemeClr val="tx1"/>
                </a:solidFill>
              </a:rPr>
              <a:t>This project successfully built an accurate and interpretable house price prediction model using Ridge Regression. Through careful handling of missing data, thoughtful feature engineering, outlier treatment, and extensive cross-validation, the model achieved strong performance both on the validation set and on </a:t>
            </a:r>
            <a:r>
              <a:rPr lang="en-US" sz="1800" dirty="0" err="1">
                <a:solidFill>
                  <a:schemeClr val="tx1"/>
                </a:solidFill>
              </a:rPr>
              <a:t>Kaggle</a:t>
            </a:r>
            <a:r>
              <a:rPr lang="en-US" sz="1800" dirty="0">
                <a:solidFill>
                  <a:schemeClr val="tx1"/>
                </a:solidFill>
              </a:rPr>
              <a:t>, with a score of </a:t>
            </a:r>
            <a:r>
              <a:rPr lang="en-US" sz="1800" b="1" dirty="0">
                <a:solidFill>
                  <a:schemeClr val="tx1"/>
                </a:solidFill>
              </a:rPr>
              <a:t>0.15142</a:t>
            </a:r>
            <a:r>
              <a:rPr lang="en-US" sz="1800" dirty="0">
                <a:solidFill>
                  <a:schemeClr val="tx1"/>
                </a:solidFill>
              </a:rPr>
              <a:t>. SHAP </a:t>
            </a:r>
            <a:r>
              <a:rPr lang="en-US" sz="1800" dirty="0" err="1">
                <a:solidFill>
                  <a:schemeClr val="tx1"/>
                </a:solidFill>
              </a:rPr>
              <a:t>explainability</a:t>
            </a:r>
            <a:r>
              <a:rPr lang="en-US" sz="1800" dirty="0">
                <a:solidFill>
                  <a:schemeClr val="tx1"/>
                </a:solidFill>
              </a:rPr>
              <a:t> confirmed that the model relies on meaningful real-estate drivers such as quality, size, and overall condition. The final model was packaged into a streamlined pipeline and deployed using </a:t>
            </a:r>
            <a:r>
              <a:rPr lang="en-US" sz="1800" dirty="0" err="1">
                <a:solidFill>
                  <a:schemeClr val="tx1"/>
                </a:solidFill>
              </a:rPr>
              <a:t>Streamlit</a:t>
            </a:r>
            <a:r>
              <a:rPr lang="en-US" sz="1800" dirty="0">
                <a:solidFill>
                  <a:schemeClr val="tx1"/>
                </a:solidFill>
              </a:rPr>
              <a:t>, enabling easy and interactive predictions. Overall, the project demonstrates a complete and reproducible machine learning workflow—from data cleaning to deployment—while delivering reliable insights and practical predictive value.</a:t>
            </a:r>
          </a:p>
        </p:txBody>
      </p:sp>
    </p:spTree>
    <p:extLst>
      <p:ext uri="{BB962C8B-B14F-4D97-AF65-F5344CB8AC3E}">
        <p14:creationId xmlns:p14="http://schemas.microsoft.com/office/powerpoint/2010/main" val="278510305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B414F3-C833-4395-8C69-0E806C518171}">
  <ds:schemaRefs>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 ds:uri="http://purl.org/dc/terms/"/>
    <ds:schemaRef ds:uri="16c05727-aa75-4e4a-9b5f-8a80a1165891"/>
    <ds:schemaRef ds:uri="71af3243-3dd4-4a8d-8c0d-dd76da1f02a5"/>
    <ds:schemaRef ds:uri="http://purl.org/dc/elements/1.1/"/>
  </ds:schemaRefs>
</ds:datastoreItem>
</file>

<file path=customXml/itemProps2.xml><?xml version="1.0" encoding="utf-8"?>
<ds:datastoreItem xmlns:ds="http://schemas.openxmlformats.org/officeDocument/2006/customXml" ds:itemID="{55FDEB4C-941C-4EBE-9462-062D8A0ADE9E}">
  <ds:schemaRefs>
    <ds:schemaRef ds:uri="http://schemas.microsoft.com/sharepoint/v3/contenttype/forms"/>
  </ds:schemaRefs>
</ds:datastoreItem>
</file>

<file path=customXml/itemProps3.xml><?xml version="1.0" encoding="utf-8"?>
<ds:datastoreItem xmlns:ds="http://schemas.openxmlformats.org/officeDocument/2006/customXml" ds:itemID="{00B8EF33-82AA-4779-AFAA-C56669D00D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Slice design</Template>
  <TotalTime>0</TotalTime>
  <Words>2387</Words>
  <Application>Microsoft Office PowerPoint</Application>
  <PresentationFormat>Widescreen</PresentationFormat>
  <Paragraphs>120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Century Gothic</vt:lpstr>
      <vt:lpstr>Wingdings</vt:lpstr>
      <vt:lpstr>Wingdings 3</vt:lpstr>
      <vt:lpstr>Slice</vt:lpstr>
      <vt:lpstr>Property Price Predictions  Advanced Machine Learning for Real Estate 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2025-11-29T02:42:45Z</dcterms:created>
  <dcterms:modified xsi:type="dcterms:W3CDTF">2025-11-29T12:10:49Z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