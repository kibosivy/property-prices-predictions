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5" r:id="rId19"/>
    <p:sldId id="276" r:id="rId20"/>
    <p:sldId id="277" r:id="rId21"/>
    <p:sldId id="279" r:id="rId22"/>
    <p:sldId id="280" r:id="rId23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44" d="100"/>
          <a:sy n="44" d="100"/>
        </p:scale>
        <p:origin x="2352" y="6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6737" y="3314954"/>
            <a:ext cx="6423025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1" i="0">
                <a:solidFill>
                  <a:srgbClr val="1C242F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3475" y="5988304"/>
            <a:ext cx="5289550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rgbClr val="1C242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rgbClr val="1C242F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500" b="0" i="0">
                <a:solidFill>
                  <a:srgbClr val="1C242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rgbClr val="1C242F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7825" y="2459482"/>
            <a:ext cx="3287077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1597" y="2459482"/>
            <a:ext cx="3287077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00" b="1" i="0">
                <a:solidFill>
                  <a:srgbClr val="1C242F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457199" y="457188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F7F9F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749299" y="1168400"/>
            <a:ext cx="6057900" cy="13417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00" b="1" i="0">
                <a:solidFill>
                  <a:srgbClr val="1C242F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5799" y="4483100"/>
            <a:ext cx="3084195" cy="3606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500" b="0" i="0">
                <a:solidFill>
                  <a:srgbClr val="1C242F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69210" y="9944862"/>
            <a:ext cx="2418080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7825" y="9944862"/>
            <a:ext cx="173799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12/2/2025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0680" y="9944862"/>
            <a:ext cx="173799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lovable.dev/projects/33eca673-e687-4b8a-bee1-3a5e719da513?utm_source=lovable-badge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kibosivy-property-prices-predictions-app-mqyip5.streamlit.app/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57199" y="457200"/>
            <a:ext cx="6858000" cy="9696450"/>
            <a:chOff x="457199" y="457200"/>
            <a:chExt cx="6858000" cy="969645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57199" y="457200"/>
              <a:ext cx="6857999" cy="9696449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57199" y="3864863"/>
              <a:ext cx="6857999" cy="2075687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627631" y="5017007"/>
              <a:ext cx="4507991" cy="1289303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728215" y="5843015"/>
              <a:ext cx="4315967" cy="899159"/>
            </a:xfrm>
            <a:prstGeom prst="rect">
              <a:avLst/>
            </a:prstGeom>
          </p:spPr>
        </p:pic>
        <p:sp>
          <p:nvSpPr>
            <p:cNvPr id="7" name="object 7">
              <a:hlinkClick r:id="rId6"/>
            </p:cNvPr>
            <p:cNvSpPr/>
            <p:nvPr/>
          </p:nvSpPr>
          <p:spPr>
            <a:xfrm>
              <a:off x="5876924" y="9791699"/>
              <a:ext cx="1343025" cy="266700"/>
            </a:xfrm>
            <a:custGeom>
              <a:avLst/>
              <a:gdLst/>
              <a:ahLst/>
              <a:cxnLst/>
              <a:rect l="l" t="t" r="r" b="b"/>
              <a:pathLst>
                <a:path w="1343025" h="266700">
                  <a:moveTo>
                    <a:pt x="1301715" y="266699"/>
                  </a:moveTo>
                  <a:lnTo>
                    <a:pt x="41309" y="266699"/>
                  </a:lnTo>
                  <a:lnTo>
                    <a:pt x="35234" y="265491"/>
                  </a:lnTo>
                  <a:lnTo>
                    <a:pt x="1208" y="231465"/>
                  </a:lnTo>
                  <a:lnTo>
                    <a:pt x="0" y="225390"/>
                  </a:lnTo>
                  <a:lnTo>
                    <a:pt x="0" y="219074"/>
                  </a:lnTo>
                  <a:lnTo>
                    <a:pt x="0" y="41309"/>
                  </a:lnTo>
                  <a:lnTo>
                    <a:pt x="23564" y="6042"/>
                  </a:lnTo>
                  <a:lnTo>
                    <a:pt x="41309" y="0"/>
                  </a:lnTo>
                  <a:lnTo>
                    <a:pt x="1301715" y="0"/>
                  </a:lnTo>
                  <a:lnTo>
                    <a:pt x="1336982" y="23564"/>
                  </a:lnTo>
                  <a:lnTo>
                    <a:pt x="1343024" y="41309"/>
                  </a:lnTo>
                  <a:lnTo>
                    <a:pt x="1343024" y="225390"/>
                  </a:lnTo>
                  <a:lnTo>
                    <a:pt x="1319459" y="260657"/>
                  </a:lnTo>
                  <a:lnTo>
                    <a:pt x="1307790" y="265491"/>
                  </a:lnTo>
                  <a:lnTo>
                    <a:pt x="1301715" y="26669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988049" y="9836150"/>
            <a:ext cx="457834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solidFill>
                  <a:srgbClr val="A1A1AA"/>
                </a:solidFill>
                <a:latin typeface="Arial MT"/>
                <a:cs typeface="Arial MT"/>
                <a:hlinkClick r:id="rId6"/>
              </a:rPr>
              <a:t>Edit </a:t>
            </a:r>
            <a:r>
              <a:rPr sz="900" spc="-20" dirty="0">
                <a:solidFill>
                  <a:srgbClr val="A1A1AA"/>
                </a:solidFill>
                <a:latin typeface="Arial MT"/>
                <a:cs typeface="Arial MT"/>
                <a:hlinkClick r:id="rId6"/>
              </a:rPr>
              <a:t>with</a:t>
            </a:r>
            <a:endParaRPr sz="900">
              <a:latin typeface="Arial MT"/>
              <a:cs typeface="Arial M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6467474" y="9870855"/>
            <a:ext cx="571500" cy="104139"/>
            <a:chOff x="6467474" y="9870855"/>
            <a:chExt cx="571500" cy="104139"/>
          </a:xfrm>
        </p:grpSpPr>
        <p:pic>
          <p:nvPicPr>
            <p:cNvPr id="10" name="object 10">
              <a:hlinkClick r:id="rId6"/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96650" y="9876305"/>
              <a:ext cx="442328" cy="98578"/>
            </a:xfrm>
            <a:prstGeom prst="rect">
              <a:avLst/>
            </a:prstGeom>
          </p:spPr>
        </p:pic>
        <p:pic>
          <p:nvPicPr>
            <p:cNvPr id="11" name="object 11">
              <a:hlinkClick r:id="rId6"/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467474" y="9870855"/>
              <a:ext cx="98534" cy="103461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7081639" y="9769475"/>
            <a:ext cx="103505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spc="-50" dirty="0">
                <a:solidFill>
                  <a:srgbClr val="A1A1AA"/>
                </a:solidFill>
                <a:latin typeface="Arial MT"/>
                <a:cs typeface="Arial MT"/>
                <a:hlinkClick r:id="rId6"/>
              </a:rPr>
              <a:t>×</a:t>
            </a:r>
            <a:endParaRPr sz="10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49299" y="1692275"/>
            <a:ext cx="315087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Problem </a:t>
            </a:r>
            <a:r>
              <a:rPr spc="-10" dirty="0"/>
              <a:t>Statement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28295" marR="68580" indent="-252729">
              <a:lnSpc>
                <a:spcPct val="116700"/>
              </a:lnSpc>
              <a:spcBef>
                <a:spcPts val="100"/>
              </a:spcBef>
              <a:buClr>
                <a:srgbClr val="1CC8C8"/>
              </a:buClr>
              <a:buSzPct val="150000"/>
              <a:buChar char="•"/>
              <a:tabLst>
                <a:tab pos="328295" algn="l"/>
              </a:tabLst>
            </a:pPr>
            <a:r>
              <a:rPr sz="1500" spc="-10" dirty="0"/>
              <a:t>High-</a:t>
            </a:r>
            <a:r>
              <a:rPr sz="1500" dirty="0"/>
              <a:t>dimensional</a:t>
            </a:r>
            <a:r>
              <a:rPr sz="1500" spc="-60" dirty="0"/>
              <a:t> </a:t>
            </a:r>
            <a:r>
              <a:rPr sz="1500" dirty="0"/>
              <a:t>feature</a:t>
            </a:r>
            <a:r>
              <a:rPr sz="1500" spc="-55" dirty="0"/>
              <a:t> </a:t>
            </a:r>
            <a:r>
              <a:rPr sz="1500" spc="-10" dirty="0"/>
              <a:t>space </a:t>
            </a:r>
            <a:r>
              <a:rPr sz="1500" dirty="0"/>
              <a:t>(79</a:t>
            </a:r>
            <a:r>
              <a:rPr sz="1500" spc="-25" dirty="0"/>
              <a:t> </a:t>
            </a:r>
            <a:r>
              <a:rPr sz="1500" spc="-10" dirty="0"/>
              <a:t>variables)</a:t>
            </a:r>
            <a:endParaRPr sz="1500"/>
          </a:p>
          <a:p>
            <a:pPr>
              <a:lnSpc>
                <a:spcPct val="100000"/>
              </a:lnSpc>
              <a:spcBef>
                <a:spcPts val="70"/>
              </a:spcBef>
              <a:buFont typeface="Arial MT"/>
              <a:buChar char="•"/>
            </a:pPr>
            <a:endParaRPr sz="1500"/>
          </a:p>
          <a:p>
            <a:pPr marL="328295" marR="460375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28295" algn="l"/>
              </a:tabLst>
            </a:pPr>
            <a:r>
              <a:rPr sz="1500" dirty="0"/>
              <a:t>Mixed</a:t>
            </a:r>
            <a:r>
              <a:rPr sz="1500" spc="-40" dirty="0"/>
              <a:t> </a:t>
            </a:r>
            <a:r>
              <a:rPr sz="1500" dirty="0"/>
              <a:t>data</a:t>
            </a:r>
            <a:r>
              <a:rPr sz="1500" spc="-35" dirty="0"/>
              <a:t> </a:t>
            </a:r>
            <a:r>
              <a:rPr sz="1500" dirty="0"/>
              <a:t>types</a:t>
            </a:r>
            <a:r>
              <a:rPr sz="1500" spc="-35" dirty="0"/>
              <a:t> </a:t>
            </a:r>
            <a:r>
              <a:rPr sz="1500" spc="-10" dirty="0"/>
              <a:t>(numeric, </a:t>
            </a:r>
            <a:r>
              <a:rPr sz="1500" dirty="0"/>
              <a:t>nominal,</a:t>
            </a:r>
            <a:r>
              <a:rPr sz="1500" spc="-60" dirty="0"/>
              <a:t> </a:t>
            </a:r>
            <a:r>
              <a:rPr sz="1500" spc="-10" dirty="0"/>
              <a:t>ordinal)</a:t>
            </a:r>
            <a:endParaRPr sz="1500"/>
          </a:p>
          <a:p>
            <a:pPr>
              <a:lnSpc>
                <a:spcPct val="100000"/>
              </a:lnSpc>
              <a:spcBef>
                <a:spcPts val="75"/>
              </a:spcBef>
              <a:buFont typeface="Arial MT"/>
              <a:buChar char="•"/>
            </a:pPr>
            <a:endParaRPr sz="1500"/>
          </a:p>
          <a:p>
            <a:pPr marL="328295" marR="68580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28295" algn="l"/>
              </a:tabLst>
            </a:pPr>
            <a:r>
              <a:rPr sz="1500" dirty="0"/>
              <a:t>Strong</a:t>
            </a:r>
            <a:r>
              <a:rPr sz="1500" spc="-60" dirty="0"/>
              <a:t> </a:t>
            </a:r>
            <a:r>
              <a:rPr sz="1500" dirty="0"/>
              <a:t>correlation</a:t>
            </a:r>
            <a:r>
              <a:rPr sz="1500" spc="-55" dirty="0"/>
              <a:t> </a:t>
            </a:r>
            <a:r>
              <a:rPr sz="1500" spc="-25" dirty="0"/>
              <a:t>and </a:t>
            </a:r>
            <a:r>
              <a:rPr sz="1500" dirty="0"/>
              <a:t>multicollinearity</a:t>
            </a:r>
            <a:r>
              <a:rPr sz="1500" spc="-75" dirty="0"/>
              <a:t> </a:t>
            </a:r>
            <a:r>
              <a:rPr sz="1500" dirty="0"/>
              <a:t>among</a:t>
            </a:r>
            <a:r>
              <a:rPr sz="1500" spc="-75" dirty="0"/>
              <a:t> </a:t>
            </a:r>
            <a:r>
              <a:rPr sz="1500" spc="-10" dirty="0"/>
              <a:t>features</a:t>
            </a:r>
            <a:endParaRPr sz="1500"/>
          </a:p>
          <a:p>
            <a:pPr>
              <a:lnSpc>
                <a:spcPct val="100000"/>
              </a:lnSpc>
              <a:spcBef>
                <a:spcPts val="75"/>
              </a:spcBef>
              <a:buFont typeface="Arial MT"/>
              <a:buChar char="•"/>
            </a:pPr>
            <a:endParaRPr sz="1500"/>
          </a:p>
          <a:p>
            <a:pPr marL="328295" marR="343535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28295" algn="l"/>
              </a:tabLst>
            </a:pPr>
            <a:r>
              <a:rPr sz="1500" dirty="0"/>
              <a:t>Structural</a:t>
            </a:r>
            <a:r>
              <a:rPr sz="1500" spc="-40" dirty="0"/>
              <a:t> </a:t>
            </a:r>
            <a:r>
              <a:rPr sz="1500" dirty="0"/>
              <a:t>and</a:t>
            </a:r>
            <a:r>
              <a:rPr sz="1500" spc="-40" dirty="0"/>
              <a:t> </a:t>
            </a:r>
            <a:r>
              <a:rPr sz="1500" spc="-10" dirty="0"/>
              <a:t>non-structural </a:t>
            </a:r>
            <a:r>
              <a:rPr sz="1500" dirty="0"/>
              <a:t>missing</a:t>
            </a:r>
            <a:r>
              <a:rPr sz="1500" spc="-55" dirty="0"/>
              <a:t> </a:t>
            </a:r>
            <a:r>
              <a:rPr sz="1500" spc="-10" dirty="0"/>
              <a:t>values</a:t>
            </a:r>
            <a:endParaRPr sz="1500"/>
          </a:p>
          <a:p>
            <a:pPr>
              <a:lnSpc>
                <a:spcPct val="100000"/>
              </a:lnSpc>
              <a:spcBef>
                <a:spcPts val="75"/>
              </a:spcBef>
              <a:buFont typeface="Arial MT"/>
              <a:buChar char="•"/>
            </a:pPr>
            <a:endParaRPr sz="1500"/>
          </a:p>
          <a:p>
            <a:pPr marL="328295" marR="269875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28295" algn="l"/>
              </a:tabLst>
            </a:pPr>
            <a:r>
              <a:rPr sz="1500" dirty="0"/>
              <a:t>Skewed</a:t>
            </a:r>
            <a:r>
              <a:rPr sz="1500" spc="-55" dirty="0"/>
              <a:t> </a:t>
            </a:r>
            <a:r>
              <a:rPr sz="1500" dirty="0"/>
              <a:t>numeric</a:t>
            </a:r>
            <a:r>
              <a:rPr sz="1500" spc="-55" dirty="0"/>
              <a:t> </a:t>
            </a:r>
            <a:r>
              <a:rPr sz="1500" spc="-10" dirty="0"/>
              <a:t>distributions </a:t>
            </a:r>
            <a:r>
              <a:rPr sz="1500" dirty="0"/>
              <a:t>and</a:t>
            </a:r>
            <a:r>
              <a:rPr sz="1500" spc="-35" dirty="0"/>
              <a:t> </a:t>
            </a:r>
            <a:r>
              <a:rPr sz="1500" dirty="0"/>
              <a:t>strong</a:t>
            </a:r>
            <a:r>
              <a:rPr sz="1500" spc="-35" dirty="0"/>
              <a:t> </a:t>
            </a:r>
            <a:r>
              <a:rPr sz="1500" spc="-10" dirty="0"/>
              <a:t>outliers</a:t>
            </a:r>
            <a:endParaRPr sz="1500"/>
          </a:p>
        </p:txBody>
      </p:sp>
      <p:sp>
        <p:nvSpPr>
          <p:cNvPr id="4" name="object 4"/>
          <p:cNvSpPr txBox="1"/>
          <p:nvPr/>
        </p:nvSpPr>
        <p:spPr>
          <a:xfrm>
            <a:off x="749299" y="2387600"/>
            <a:ext cx="5912485" cy="1966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700"/>
              </a:lnSpc>
              <a:spcBef>
                <a:spcPts val="100"/>
              </a:spcBef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Predicting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house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prices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accurately</a:t>
            </a:r>
            <a:r>
              <a:rPr sz="15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is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critical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in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real</a:t>
            </a:r>
            <a:r>
              <a:rPr sz="15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estate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analytics,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helping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sellers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set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reasonable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expectations,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buyers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make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informed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decisions,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and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developers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assess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market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value.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Housing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prices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25" dirty="0">
                <a:solidFill>
                  <a:srgbClr val="1C242F"/>
                </a:solidFill>
                <a:latin typeface="Arial MT"/>
                <a:cs typeface="Arial MT"/>
              </a:rPr>
              <a:t>are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influenced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by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complex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interactions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of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structural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characteristics,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quality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indicators,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amenities,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and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location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variables.</a:t>
            </a:r>
            <a:endParaRPr sz="15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894"/>
              </a:spcBef>
            </a:pPr>
            <a:endParaRPr sz="15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3288665" algn="l"/>
              </a:tabLst>
            </a:pP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Technical</a:t>
            </a:r>
            <a:r>
              <a:rPr sz="1800" b="1" spc="-60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Challenges</a:t>
            </a:r>
            <a:r>
              <a:rPr sz="1800" b="1" dirty="0">
                <a:solidFill>
                  <a:srgbClr val="164E9C"/>
                </a:solidFill>
                <a:latin typeface="Arial"/>
                <a:cs typeface="Arial"/>
              </a:rPr>
              <a:t>	</a:t>
            </a:r>
            <a:r>
              <a:rPr sz="1800" b="1" dirty="0">
                <a:solidFill>
                  <a:srgbClr val="1CC8C8"/>
                </a:solidFill>
                <a:latin typeface="Arial"/>
                <a:cs typeface="Arial"/>
              </a:rPr>
              <a:t>Project </a:t>
            </a:r>
            <a:r>
              <a:rPr sz="1800" b="1" spc="-10" dirty="0">
                <a:solidFill>
                  <a:srgbClr val="1CC8C8"/>
                </a:solidFill>
                <a:latin typeface="Arial"/>
                <a:cs typeface="Arial"/>
              </a:rPr>
              <a:t>Workflow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949700" y="4483100"/>
            <a:ext cx="3009900" cy="436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40995" marR="489584" indent="-252729">
              <a:lnSpc>
                <a:spcPct val="116700"/>
              </a:lnSpc>
              <a:spcBef>
                <a:spcPts val="100"/>
              </a:spcBef>
              <a:buClr>
                <a:srgbClr val="1CC8C8"/>
              </a:buClr>
              <a:buSzPct val="150000"/>
              <a:buChar char="•"/>
              <a:tabLst>
                <a:tab pos="340995" algn="l"/>
              </a:tabLst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Exploratory</a:t>
            </a:r>
            <a:r>
              <a:rPr sz="1500" spc="-6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Data</a:t>
            </a:r>
            <a:r>
              <a:rPr sz="1500" spc="-9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Analysis (EDA)</a:t>
            </a:r>
            <a:endParaRPr sz="15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0"/>
              </a:spcBef>
              <a:buFont typeface="Arial MT"/>
              <a:buChar char="•"/>
            </a:pPr>
            <a:endParaRPr sz="1500">
              <a:latin typeface="Arial MT"/>
              <a:cs typeface="Arial MT"/>
            </a:endParaRPr>
          </a:p>
          <a:p>
            <a:pPr marL="340995" marR="278130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40995" algn="l"/>
              </a:tabLst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Missing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value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treatment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25" dirty="0">
                <a:solidFill>
                  <a:srgbClr val="1C242F"/>
                </a:solidFill>
                <a:latin typeface="Arial MT"/>
                <a:cs typeface="Arial MT"/>
              </a:rPr>
              <a:t>and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outlier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handling</a:t>
            </a:r>
            <a:endParaRPr sz="15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5"/>
              </a:spcBef>
              <a:buFont typeface="Arial MT"/>
              <a:buChar char="•"/>
            </a:pPr>
            <a:endParaRPr sz="1500">
              <a:latin typeface="Arial MT"/>
              <a:cs typeface="Arial MT"/>
            </a:endParaRPr>
          </a:p>
          <a:p>
            <a:pPr marL="340995" marR="775970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4099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Domain-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driven</a:t>
            </a:r>
            <a:r>
              <a:rPr sz="15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feature engineering</a:t>
            </a:r>
            <a:endParaRPr sz="15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5"/>
              </a:spcBef>
              <a:buFont typeface="Arial MT"/>
              <a:buChar char="•"/>
            </a:pPr>
            <a:endParaRPr sz="1500">
              <a:latin typeface="Arial MT"/>
              <a:cs typeface="Arial MT"/>
            </a:endParaRPr>
          </a:p>
          <a:p>
            <a:pPr marL="340995" marR="55880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40995" algn="l"/>
              </a:tabLst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Model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development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and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cross- validation</a:t>
            </a:r>
            <a:endParaRPr sz="15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5"/>
              </a:spcBef>
              <a:buFont typeface="Arial MT"/>
              <a:buChar char="•"/>
            </a:pPr>
            <a:endParaRPr sz="1500">
              <a:latin typeface="Arial MT"/>
              <a:cs typeface="Arial MT"/>
            </a:endParaRPr>
          </a:p>
          <a:p>
            <a:pPr marL="340995" marR="415925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4099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Hyperparameter</a:t>
            </a:r>
            <a:r>
              <a:rPr sz="15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tuning</a:t>
            </a:r>
            <a:r>
              <a:rPr sz="15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25" dirty="0">
                <a:solidFill>
                  <a:srgbClr val="1C242F"/>
                </a:solidFill>
                <a:latin typeface="Arial MT"/>
                <a:cs typeface="Arial MT"/>
              </a:rPr>
              <a:t>via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GridSearchCV</a:t>
            </a:r>
            <a:endParaRPr sz="150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5"/>
              </a:spcBef>
              <a:buFont typeface="Arial MT"/>
              <a:buChar char="•"/>
            </a:pPr>
            <a:endParaRPr sz="1500">
              <a:latin typeface="Arial MT"/>
              <a:cs typeface="Arial MT"/>
            </a:endParaRPr>
          </a:p>
          <a:p>
            <a:pPr marL="340995" marR="630555" indent="-252729">
              <a:lnSpc>
                <a:spcPct val="116700"/>
              </a:lnSpc>
              <a:buClr>
                <a:srgbClr val="1CC8C8"/>
              </a:buClr>
              <a:buSzPct val="150000"/>
              <a:buChar char="•"/>
              <a:tabLst>
                <a:tab pos="340995" algn="l"/>
              </a:tabLst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SHAP</a:t>
            </a:r>
            <a:r>
              <a:rPr sz="1500" spc="-9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explainability</a:t>
            </a:r>
            <a:r>
              <a:rPr sz="1500" spc="-6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25" dirty="0">
                <a:solidFill>
                  <a:srgbClr val="1C242F"/>
                </a:solidFill>
                <a:latin typeface="Arial MT"/>
                <a:cs typeface="Arial MT"/>
              </a:rPr>
              <a:t>and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Streamlit</a:t>
            </a:r>
            <a:r>
              <a:rPr sz="1500" spc="-6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deployment</a:t>
            </a:r>
            <a:endParaRPr sz="15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99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2397125"/>
            <a:ext cx="288480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Dataset </a:t>
            </a:r>
            <a:r>
              <a:rPr spc="-10" dirty="0"/>
              <a:t>Overview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3133724"/>
            <a:ext cx="2971799" cy="140969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054100" y="3180460"/>
            <a:ext cx="1628139" cy="1042669"/>
          </a:xfrm>
          <a:prstGeom prst="rect">
            <a:avLst/>
          </a:prstGeom>
        </p:spPr>
        <p:txBody>
          <a:bodyPr vert="horz" wrap="square" lIns="0" tIns="1816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30"/>
              </a:spcBef>
            </a:pPr>
            <a:r>
              <a:rPr sz="3600" b="1" spc="-10" dirty="0">
                <a:solidFill>
                  <a:srgbClr val="164E9C"/>
                </a:solidFill>
                <a:latin typeface="Arial"/>
                <a:cs typeface="Arial"/>
              </a:rPr>
              <a:t>1,460</a:t>
            </a:r>
            <a:endParaRPr sz="3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Training</a:t>
            </a:r>
            <a:r>
              <a:rPr sz="15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Properties</a:t>
            </a:r>
            <a:endParaRPr sz="1500">
              <a:latin typeface="Arial MT"/>
              <a:cs typeface="Arial M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38599" y="3133724"/>
            <a:ext cx="2971800" cy="1409699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4330700" y="3180460"/>
            <a:ext cx="1515110" cy="1042669"/>
          </a:xfrm>
          <a:prstGeom prst="rect">
            <a:avLst/>
          </a:prstGeom>
        </p:spPr>
        <p:txBody>
          <a:bodyPr vert="horz" wrap="square" lIns="0" tIns="1816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430"/>
              </a:spcBef>
            </a:pPr>
            <a:r>
              <a:rPr sz="3600" b="1" spc="-25" dirty="0">
                <a:solidFill>
                  <a:srgbClr val="1CC8C8"/>
                </a:solidFill>
                <a:latin typeface="Arial"/>
                <a:cs typeface="Arial"/>
              </a:rPr>
              <a:t>79</a:t>
            </a:r>
            <a:endParaRPr sz="3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Feature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Variables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997521" y="4835525"/>
            <a:ext cx="3777615" cy="6311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4E9C"/>
                </a:solidFill>
                <a:latin typeface="Arial"/>
                <a:cs typeface="Arial"/>
              </a:rPr>
              <a:t>Kaggle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Competition</a:t>
            </a:r>
            <a:endParaRPr sz="18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990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House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Prices -</a:t>
            </a:r>
            <a:r>
              <a:rPr sz="1350" spc="-7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Advanced Regression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Techniques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01861" y="5721349"/>
            <a:ext cx="569785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Numeric</a:t>
            </a:r>
            <a:r>
              <a:rPr sz="1500" b="1" spc="-4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Features:</a:t>
            </a:r>
            <a:r>
              <a:rPr sz="1500" b="1" spc="-4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Living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area,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lot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size,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garage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capacity,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year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built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749299" y="5692774"/>
            <a:ext cx="12573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50" spc="-50" dirty="0">
                <a:solidFill>
                  <a:srgbClr val="1CC8C8"/>
                </a:solidFill>
                <a:latin typeface="Arial MT"/>
                <a:cs typeface="Arial MT"/>
              </a:rPr>
              <a:t>•</a:t>
            </a:r>
            <a:endParaRPr sz="22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250" spc="-50" dirty="0">
                <a:solidFill>
                  <a:srgbClr val="1CC8C8"/>
                </a:solidFill>
                <a:latin typeface="Arial MT"/>
                <a:cs typeface="Arial MT"/>
              </a:rPr>
              <a:t>•</a:t>
            </a:r>
            <a:endParaRPr sz="225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01861" y="6254749"/>
            <a:ext cx="579628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700"/>
              </a:lnSpc>
              <a:spcBef>
                <a:spcPts val="100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Ordinal</a:t>
            </a:r>
            <a:r>
              <a:rPr sz="1500" b="1" spc="-5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Features:</a:t>
            </a:r>
            <a:r>
              <a:rPr sz="1500" b="1" spc="-5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Quality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ratings,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condition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scores,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basement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finish levels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001861" y="7054850"/>
            <a:ext cx="585978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Categorical</a:t>
            </a:r>
            <a:r>
              <a:rPr sz="1500" b="1" spc="-6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Features:</a:t>
            </a:r>
            <a:r>
              <a:rPr sz="1500" b="1" spc="-5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Neighborhood,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house</a:t>
            </a:r>
            <a:r>
              <a:rPr sz="1500" spc="-6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style,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exterior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materials</a:t>
            </a:r>
            <a:endParaRPr sz="15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749299" y="7026275"/>
            <a:ext cx="125730" cy="939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50" spc="-50" dirty="0">
                <a:solidFill>
                  <a:srgbClr val="1CC8C8"/>
                </a:solidFill>
                <a:latin typeface="Arial MT"/>
                <a:cs typeface="Arial MT"/>
              </a:rPr>
              <a:t>•</a:t>
            </a:r>
            <a:endParaRPr sz="22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800"/>
              </a:spcBef>
            </a:pPr>
            <a:r>
              <a:rPr sz="2250" spc="-50" dirty="0">
                <a:solidFill>
                  <a:srgbClr val="1CC8C8"/>
                </a:solidFill>
                <a:latin typeface="Arial MT"/>
                <a:cs typeface="Arial MT"/>
              </a:rPr>
              <a:t>•</a:t>
            </a:r>
            <a:endParaRPr sz="225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01861" y="7588250"/>
            <a:ext cx="525272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7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Target</a:t>
            </a:r>
            <a:r>
              <a:rPr sz="1500" b="1" spc="-6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Variable:</a:t>
            </a:r>
            <a:r>
              <a:rPr sz="1500" b="1" spc="-5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SalePrice</a:t>
            </a:r>
            <a:r>
              <a:rPr sz="1500" spc="-6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(heavily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right-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skewed,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requires</a:t>
            </a:r>
            <a:r>
              <a:rPr sz="1500" spc="-6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25" dirty="0">
                <a:solidFill>
                  <a:srgbClr val="1C242F"/>
                </a:solidFill>
                <a:latin typeface="Arial MT"/>
                <a:cs typeface="Arial MT"/>
              </a:rPr>
              <a:t>log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transformation)</a:t>
            </a:r>
            <a:endParaRPr sz="15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2619373"/>
            <a:ext cx="6248399" cy="2971797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270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Exploratory Data</a:t>
            </a:r>
            <a:r>
              <a:rPr spc="-105" dirty="0"/>
              <a:t> </a:t>
            </a:r>
            <a:r>
              <a:rPr spc="-10" dirty="0"/>
              <a:t>Analysis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54100" y="2892425"/>
            <a:ext cx="2872740" cy="23647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50" b="1" spc="-10" dirty="0">
                <a:solidFill>
                  <a:srgbClr val="164E9C"/>
                </a:solidFill>
                <a:latin typeface="Arial"/>
                <a:cs typeface="Arial"/>
              </a:rPr>
              <a:t>Distribution</a:t>
            </a:r>
            <a:r>
              <a:rPr sz="2250" b="1" spc="-95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2250" b="1" spc="-10" dirty="0">
                <a:solidFill>
                  <a:srgbClr val="164E9C"/>
                </a:solidFill>
                <a:latin typeface="Arial"/>
                <a:cs typeface="Arial"/>
              </a:rPr>
              <a:t>Analysis</a:t>
            </a:r>
            <a:endParaRPr sz="2250">
              <a:latin typeface="Arial"/>
              <a:cs typeface="Arial"/>
            </a:endParaRPr>
          </a:p>
          <a:p>
            <a:pPr marL="12700" marR="206375">
              <a:lnSpc>
                <a:spcPct val="129600"/>
              </a:lnSpc>
              <a:spcBef>
                <a:spcPts val="1019"/>
              </a:spcBef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Right-Skewed </a:t>
            </a:r>
            <a:r>
              <a:rPr sz="1350" b="1" spc="-10" dirty="0">
                <a:solidFill>
                  <a:srgbClr val="1C242F"/>
                </a:solidFill>
                <a:latin typeface="Arial"/>
                <a:cs typeface="Arial"/>
              </a:rPr>
              <a:t>Distributions: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Many size-related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features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(LotArea, GrLivArea,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spc="-15" dirty="0">
                <a:solidFill>
                  <a:srgbClr val="1C242F"/>
                </a:solidFill>
                <a:latin typeface="Arial MT"/>
                <a:cs typeface="Arial MT"/>
              </a:rPr>
              <a:t>TotalBsmtSF)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contain long right tails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because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most homes are moderately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sized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while few properties are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extremely large.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987800" y="3364865"/>
            <a:ext cx="2651125" cy="16256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SalePrice: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Exhibited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significant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right skewness (skewness =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1.88),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requiring log transformation 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to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normalize the distribution for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linear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models and improve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training stability.</a:t>
            </a:r>
            <a:endParaRPr sz="1350">
              <a:latin typeface="Arial MT"/>
              <a:cs typeface="Arial M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1999" y="5895973"/>
            <a:ext cx="3009899" cy="2781297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054100" y="6959600"/>
            <a:ext cx="1221740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1445" indent="-118745">
              <a:lnSpc>
                <a:spcPct val="100000"/>
              </a:lnSpc>
              <a:spcBef>
                <a:spcPts val="100"/>
              </a:spcBef>
              <a:buChar char="•"/>
              <a:tabLst>
                <a:tab pos="13144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OverallQual</a:t>
            </a:r>
            <a:endParaRPr sz="1500">
              <a:latin typeface="Arial MT"/>
              <a:cs typeface="Arial MT"/>
            </a:endParaRPr>
          </a:p>
          <a:p>
            <a:pPr marL="131445" indent="-118745">
              <a:lnSpc>
                <a:spcPct val="100000"/>
              </a:lnSpc>
              <a:spcBef>
                <a:spcPts val="1200"/>
              </a:spcBef>
              <a:buChar char="•"/>
              <a:tabLst>
                <a:tab pos="13144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GrLivArea</a:t>
            </a:r>
            <a:endParaRPr sz="1500">
              <a:latin typeface="Arial MT"/>
              <a:cs typeface="Arial MT"/>
            </a:endParaRPr>
          </a:p>
          <a:p>
            <a:pPr marL="131445" indent="-118745">
              <a:lnSpc>
                <a:spcPct val="100000"/>
              </a:lnSpc>
              <a:spcBef>
                <a:spcPts val="1200"/>
              </a:spcBef>
              <a:buChar char="•"/>
              <a:tabLst>
                <a:tab pos="13144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GarageCars</a:t>
            </a:r>
            <a:endParaRPr sz="1500">
              <a:latin typeface="Arial MT"/>
              <a:cs typeface="Arial MT"/>
            </a:endParaRPr>
          </a:p>
          <a:p>
            <a:pPr marL="127635" indent="-114935">
              <a:lnSpc>
                <a:spcPct val="100000"/>
              </a:lnSpc>
              <a:spcBef>
                <a:spcPts val="1200"/>
              </a:spcBef>
              <a:buChar char="•"/>
              <a:tabLst>
                <a:tab pos="12763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TotalBsmtSF</a:t>
            </a:r>
            <a:endParaRPr sz="1500">
              <a:latin typeface="Arial MT"/>
              <a:cs typeface="Arial MT"/>
            </a:endParaRPr>
          </a:p>
        </p:txBody>
      </p:sp>
      <p:pic>
        <p:nvPicPr>
          <p:cNvPr id="8" name="object 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000499" y="5895973"/>
            <a:ext cx="3009899" cy="2781297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4292600" y="6654800"/>
            <a:ext cx="1193165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1445" indent="-118745">
              <a:lnSpc>
                <a:spcPct val="100000"/>
              </a:lnSpc>
              <a:spcBef>
                <a:spcPts val="100"/>
              </a:spcBef>
              <a:buChar char="•"/>
              <a:tabLst>
                <a:tab pos="13144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PoolQC</a:t>
            </a:r>
            <a:endParaRPr sz="1500">
              <a:latin typeface="Arial MT"/>
              <a:cs typeface="Arial MT"/>
            </a:endParaRPr>
          </a:p>
          <a:p>
            <a:pPr marL="131445" indent="-118745">
              <a:lnSpc>
                <a:spcPct val="100000"/>
              </a:lnSpc>
              <a:spcBef>
                <a:spcPts val="1200"/>
              </a:spcBef>
              <a:buChar char="•"/>
              <a:tabLst>
                <a:tab pos="13144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MiscFeature</a:t>
            </a:r>
            <a:endParaRPr sz="1500">
              <a:latin typeface="Arial MT"/>
              <a:cs typeface="Arial MT"/>
            </a:endParaRPr>
          </a:p>
          <a:p>
            <a:pPr marL="120650" indent="-107950">
              <a:lnSpc>
                <a:spcPct val="100000"/>
              </a:lnSpc>
              <a:spcBef>
                <a:spcPts val="1200"/>
              </a:spcBef>
              <a:buChar char="•"/>
              <a:tabLst>
                <a:tab pos="120650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Alley</a:t>
            </a:r>
            <a:endParaRPr sz="1500">
              <a:latin typeface="Arial MT"/>
              <a:cs typeface="Arial MT"/>
            </a:endParaRPr>
          </a:p>
          <a:p>
            <a:pPr marL="131445" indent="-118745">
              <a:lnSpc>
                <a:spcPct val="100000"/>
              </a:lnSpc>
              <a:spcBef>
                <a:spcPts val="1200"/>
              </a:spcBef>
              <a:buChar char="•"/>
              <a:tabLst>
                <a:tab pos="131445" algn="l"/>
              </a:tabLst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Fence</a:t>
            </a:r>
            <a:endParaRPr sz="15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98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2416175"/>
            <a:ext cx="376047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Missing</a:t>
            </a:r>
            <a:r>
              <a:rPr spc="-75" dirty="0"/>
              <a:t> </a:t>
            </a:r>
            <a:r>
              <a:rPr dirty="0"/>
              <a:t>Value</a:t>
            </a:r>
            <a:r>
              <a:rPr spc="-75" dirty="0"/>
              <a:t> </a:t>
            </a:r>
            <a:r>
              <a:rPr spc="-10" dirty="0"/>
              <a:t>Strategy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3483864" y="2834640"/>
            <a:ext cx="3831590" cy="2456815"/>
            <a:chOff x="3483864" y="2834640"/>
            <a:chExt cx="3831590" cy="2456815"/>
          </a:xfrm>
        </p:grpSpPr>
        <p:sp>
          <p:nvSpPr>
            <p:cNvPr id="5" name="object 5"/>
            <p:cNvSpPr/>
            <p:nvPr/>
          </p:nvSpPr>
          <p:spPr>
            <a:xfrm>
              <a:off x="3483864" y="2834640"/>
              <a:ext cx="3831590" cy="2456815"/>
            </a:xfrm>
            <a:custGeom>
              <a:avLst/>
              <a:gdLst/>
              <a:ahLst/>
              <a:cxnLst/>
              <a:rect l="l" t="t" r="r" b="b"/>
              <a:pathLst>
                <a:path w="3831590" h="2456815">
                  <a:moveTo>
                    <a:pt x="3831335" y="2456687"/>
                  </a:moveTo>
                  <a:lnTo>
                    <a:pt x="0" y="2456687"/>
                  </a:lnTo>
                  <a:lnTo>
                    <a:pt x="0" y="0"/>
                  </a:lnTo>
                  <a:lnTo>
                    <a:pt x="3831335" y="0"/>
                  </a:lnTo>
                  <a:lnTo>
                    <a:pt x="3831335" y="318134"/>
                  </a:lnTo>
                  <a:lnTo>
                    <a:pt x="669035" y="318134"/>
                  </a:lnTo>
                  <a:lnTo>
                    <a:pt x="657775" y="318678"/>
                  </a:lnTo>
                  <a:lnTo>
                    <a:pt x="615100" y="331646"/>
                  </a:lnTo>
                  <a:lnTo>
                    <a:pt x="580635" y="359958"/>
                  </a:lnTo>
                  <a:lnTo>
                    <a:pt x="559629" y="399304"/>
                  </a:lnTo>
                  <a:lnTo>
                    <a:pt x="554735" y="432434"/>
                  </a:lnTo>
                  <a:lnTo>
                    <a:pt x="554735" y="1546859"/>
                  </a:lnTo>
                  <a:lnTo>
                    <a:pt x="563435" y="1590600"/>
                  </a:lnTo>
                  <a:lnTo>
                    <a:pt x="588213" y="1627681"/>
                  </a:lnTo>
                  <a:lnTo>
                    <a:pt x="625294" y="1652458"/>
                  </a:lnTo>
                  <a:lnTo>
                    <a:pt x="669035" y="1661159"/>
                  </a:lnTo>
                  <a:lnTo>
                    <a:pt x="3831335" y="1661159"/>
                  </a:lnTo>
                  <a:lnTo>
                    <a:pt x="3831335" y="2456687"/>
                  </a:lnTo>
                  <a:close/>
                </a:path>
                <a:path w="3831590" h="2456815">
                  <a:moveTo>
                    <a:pt x="3831335" y="1661159"/>
                  </a:moveTo>
                  <a:lnTo>
                    <a:pt x="3412235" y="1661159"/>
                  </a:lnTo>
                  <a:lnTo>
                    <a:pt x="3423495" y="1660615"/>
                  </a:lnTo>
                  <a:lnTo>
                    <a:pt x="3434538" y="1658984"/>
                  </a:lnTo>
                  <a:lnTo>
                    <a:pt x="3475749" y="1641914"/>
                  </a:lnTo>
                  <a:lnTo>
                    <a:pt x="3507290" y="1610373"/>
                  </a:lnTo>
                  <a:lnTo>
                    <a:pt x="3524360" y="1569162"/>
                  </a:lnTo>
                  <a:lnTo>
                    <a:pt x="3526535" y="1546859"/>
                  </a:lnTo>
                  <a:lnTo>
                    <a:pt x="3526535" y="432434"/>
                  </a:lnTo>
                  <a:lnTo>
                    <a:pt x="3517834" y="388694"/>
                  </a:lnTo>
                  <a:lnTo>
                    <a:pt x="3493057" y="351612"/>
                  </a:lnTo>
                  <a:lnTo>
                    <a:pt x="3455975" y="326835"/>
                  </a:lnTo>
                  <a:lnTo>
                    <a:pt x="3412235" y="318134"/>
                  </a:lnTo>
                  <a:lnTo>
                    <a:pt x="3831335" y="318134"/>
                  </a:lnTo>
                  <a:lnTo>
                    <a:pt x="3831335" y="1661159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038600" y="3152775"/>
              <a:ext cx="2971799" cy="1343024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4147939" y="4576445"/>
            <a:ext cx="275336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685" marR="5080" indent="-7620">
              <a:lnSpc>
                <a:spcPct val="119000"/>
              </a:lnSpc>
              <a:spcBef>
                <a:spcPts val="10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Heatmap</a:t>
            </a:r>
            <a:r>
              <a:rPr sz="1050" spc="-5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reveals</a:t>
            </a:r>
            <a:r>
              <a:rPr sz="1050" spc="-5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concentrated</a:t>
            </a:r>
            <a:r>
              <a:rPr sz="1050" spc="-5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missingness</a:t>
            </a:r>
            <a:r>
              <a:rPr sz="1050" spc="-5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in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optional</a:t>
            </a:r>
            <a:r>
              <a:rPr sz="1050" spc="-4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features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(pools,</a:t>
            </a:r>
            <a:r>
              <a:rPr sz="1050" spc="-4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garages,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basements)</a:t>
            </a:r>
            <a:endParaRPr sz="105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61999" y="3152773"/>
            <a:ext cx="2971800" cy="1866900"/>
          </a:xfrm>
          <a:custGeom>
            <a:avLst/>
            <a:gdLst/>
            <a:ahLst/>
            <a:cxnLst/>
            <a:rect l="l" t="t" r="r" b="b"/>
            <a:pathLst>
              <a:path w="2971800" h="1866900">
                <a:moveTo>
                  <a:pt x="2865004" y="1866899"/>
                </a:moveTo>
                <a:lnTo>
                  <a:pt x="106794" y="1866899"/>
                </a:lnTo>
                <a:lnTo>
                  <a:pt x="99362" y="1866165"/>
                </a:lnTo>
                <a:lnTo>
                  <a:pt x="57038" y="1851802"/>
                </a:lnTo>
                <a:lnTo>
                  <a:pt x="23432" y="1822335"/>
                </a:lnTo>
                <a:lnTo>
                  <a:pt x="3660" y="1782254"/>
                </a:lnTo>
                <a:lnTo>
                  <a:pt x="0" y="1760101"/>
                </a:lnTo>
                <a:lnTo>
                  <a:pt x="0" y="1752599"/>
                </a:lnTo>
                <a:lnTo>
                  <a:pt x="0" y="106793"/>
                </a:lnTo>
                <a:lnTo>
                  <a:pt x="11572" y="63619"/>
                </a:lnTo>
                <a:lnTo>
                  <a:pt x="38784" y="28170"/>
                </a:lnTo>
                <a:lnTo>
                  <a:pt x="77493" y="5822"/>
                </a:lnTo>
                <a:lnTo>
                  <a:pt x="106794" y="0"/>
                </a:lnTo>
                <a:lnTo>
                  <a:pt x="2865004" y="0"/>
                </a:lnTo>
                <a:lnTo>
                  <a:pt x="2908173" y="11567"/>
                </a:lnTo>
                <a:lnTo>
                  <a:pt x="2943628" y="38783"/>
                </a:lnTo>
                <a:lnTo>
                  <a:pt x="2965971" y="77488"/>
                </a:lnTo>
                <a:lnTo>
                  <a:pt x="2971799" y="106793"/>
                </a:lnTo>
                <a:lnTo>
                  <a:pt x="2971799" y="1760101"/>
                </a:lnTo>
                <a:lnTo>
                  <a:pt x="2960226" y="1803266"/>
                </a:lnTo>
                <a:lnTo>
                  <a:pt x="2933014" y="1838724"/>
                </a:lnTo>
                <a:lnTo>
                  <a:pt x="2894306" y="1861067"/>
                </a:lnTo>
                <a:lnTo>
                  <a:pt x="2872437" y="1866165"/>
                </a:lnTo>
                <a:lnTo>
                  <a:pt x="2865004" y="1866899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39800" y="3340100"/>
            <a:ext cx="2575560" cy="14655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Structural</a:t>
            </a:r>
            <a:r>
              <a:rPr sz="1500" b="1" spc="-35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Absence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Features like BsmtQual,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GarageType,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PoolQC filled with "None"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when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component doesn't exist (verified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by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checking related numeric features 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=</a:t>
            </a:r>
            <a:r>
              <a:rPr sz="1200" spc="50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0)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61999" y="5172073"/>
            <a:ext cx="2971800" cy="1409700"/>
          </a:xfrm>
          <a:custGeom>
            <a:avLst/>
            <a:gdLst/>
            <a:ahLst/>
            <a:cxnLst/>
            <a:rect l="l" t="t" r="r" b="b"/>
            <a:pathLst>
              <a:path w="2971800" h="1409700">
                <a:moveTo>
                  <a:pt x="2865004" y="1409699"/>
                </a:moveTo>
                <a:lnTo>
                  <a:pt x="106794" y="1409699"/>
                </a:lnTo>
                <a:lnTo>
                  <a:pt x="99362" y="1408965"/>
                </a:lnTo>
                <a:lnTo>
                  <a:pt x="57038" y="1394602"/>
                </a:lnTo>
                <a:lnTo>
                  <a:pt x="23432" y="1365135"/>
                </a:lnTo>
                <a:lnTo>
                  <a:pt x="3660" y="1325054"/>
                </a:lnTo>
                <a:lnTo>
                  <a:pt x="0" y="1302906"/>
                </a:lnTo>
                <a:lnTo>
                  <a:pt x="0" y="1295399"/>
                </a:lnTo>
                <a:lnTo>
                  <a:pt x="0" y="106788"/>
                </a:lnTo>
                <a:lnTo>
                  <a:pt x="11572" y="63614"/>
                </a:lnTo>
                <a:lnTo>
                  <a:pt x="38784" y="28165"/>
                </a:lnTo>
                <a:lnTo>
                  <a:pt x="77493" y="5827"/>
                </a:lnTo>
                <a:lnTo>
                  <a:pt x="106794" y="0"/>
                </a:lnTo>
                <a:lnTo>
                  <a:pt x="2865004" y="0"/>
                </a:lnTo>
                <a:lnTo>
                  <a:pt x="2908173" y="11567"/>
                </a:lnTo>
                <a:lnTo>
                  <a:pt x="2943628" y="38774"/>
                </a:lnTo>
                <a:lnTo>
                  <a:pt x="2965971" y="77483"/>
                </a:lnTo>
                <a:lnTo>
                  <a:pt x="2971799" y="106788"/>
                </a:lnTo>
                <a:lnTo>
                  <a:pt x="2971799" y="1302906"/>
                </a:lnTo>
                <a:lnTo>
                  <a:pt x="2960226" y="1346066"/>
                </a:lnTo>
                <a:lnTo>
                  <a:pt x="2933014" y="1381524"/>
                </a:lnTo>
                <a:lnTo>
                  <a:pt x="2894306" y="1403862"/>
                </a:lnTo>
                <a:lnTo>
                  <a:pt x="2872437" y="1408965"/>
                </a:lnTo>
                <a:lnTo>
                  <a:pt x="2865004" y="1409699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939800" y="5359399"/>
            <a:ext cx="2380615" cy="1008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Neighborhood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Median</a:t>
            </a:r>
            <a:endParaRPr sz="1500">
              <a:latin typeface="Arial"/>
              <a:cs typeface="Arial"/>
            </a:endParaRPr>
          </a:p>
          <a:p>
            <a:pPr marL="12700" marR="5080" algn="just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LotFrontage imputed using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median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values from same neighborhood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to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preserve geographic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patterns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761999" y="6734172"/>
            <a:ext cx="2971800" cy="1409700"/>
          </a:xfrm>
          <a:custGeom>
            <a:avLst/>
            <a:gdLst/>
            <a:ahLst/>
            <a:cxnLst/>
            <a:rect l="l" t="t" r="r" b="b"/>
            <a:pathLst>
              <a:path w="2971800" h="1409700">
                <a:moveTo>
                  <a:pt x="2865004" y="1409695"/>
                </a:moveTo>
                <a:lnTo>
                  <a:pt x="106794" y="1409695"/>
                </a:lnTo>
                <a:lnTo>
                  <a:pt x="99362" y="1408960"/>
                </a:lnTo>
                <a:lnTo>
                  <a:pt x="57038" y="1394602"/>
                </a:lnTo>
                <a:lnTo>
                  <a:pt x="23432" y="1365135"/>
                </a:lnTo>
                <a:lnTo>
                  <a:pt x="3660" y="1325054"/>
                </a:lnTo>
                <a:lnTo>
                  <a:pt x="0" y="1302901"/>
                </a:lnTo>
                <a:lnTo>
                  <a:pt x="0" y="1295399"/>
                </a:lnTo>
                <a:lnTo>
                  <a:pt x="0" y="106793"/>
                </a:lnTo>
                <a:lnTo>
                  <a:pt x="11572" y="63624"/>
                </a:lnTo>
                <a:lnTo>
                  <a:pt x="38784" y="28170"/>
                </a:lnTo>
                <a:lnTo>
                  <a:pt x="77493" y="5822"/>
                </a:lnTo>
                <a:lnTo>
                  <a:pt x="106794" y="0"/>
                </a:lnTo>
                <a:lnTo>
                  <a:pt x="2865004" y="0"/>
                </a:lnTo>
                <a:lnTo>
                  <a:pt x="2908173" y="11562"/>
                </a:lnTo>
                <a:lnTo>
                  <a:pt x="2943628" y="38783"/>
                </a:lnTo>
                <a:lnTo>
                  <a:pt x="2965971" y="77492"/>
                </a:lnTo>
                <a:lnTo>
                  <a:pt x="2971799" y="106793"/>
                </a:lnTo>
                <a:lnTo>
                  <a:pt x="2971799" y="1302901"/>
                </a:lnTo>
                <a:lnTo>
                  <a:pt x="2960226" y="1346070"/>
                </a:lnTo>
                <a:lnTo>
                  <a:pt x="2933014" y="1381524"/>
                </a:lnTo>
                <a:lnTo>
                  <a:pt x="2894306" y="1403862"/>
                </a:lnTo>
                <a:lnTo>
                  <a:pt x="2872437" y="1408960"/>
                </a:lnTo>
                <a:lnTo>
                  <a:pt x="2865004" y="1409695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939800" y="6921500"/>
            <a:ext cx="2363470" cy="1008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Mode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Imputation</a:t>
            </a:r>
            <a:endParaRPr sz="1500">
              <a:latin typeface="Arial"/>
              <a:cs typeface="Arial"/>
            </a:endParaRPr>
          </a:p>
          <a:p>
            <a:pPr marL="12700" marR="5080" algn="just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Categorical features like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Electrical,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MSZoning filled with most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frequent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value for minor data entry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gaps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49299" y="1168400"/>
            <a:ext cx="415988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Outlier</a:t>
            </a:r>
            <a:r>
              <a:rPr spc="-60" dirty="0"/>
              <a:t> </a:t>
            </a:r>
            <a:r>
              <a:rPr dirty="0"/>
              <a:t>Handling</a:t>
            </a:r>
            <a:r>
              <a:rPr spc="-60" dirty="0"/>
              <a:t> </a:t>
            </a:r>
            <a:r>
              <a:rPr spc="-10" dirty="0"/>
              <a:t>Strategy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1904998"/>
            <a:ext cx="1933574" cy="289559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77900" y="3151504"/>
            <a:ext cx="1490980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Removed homes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with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very large living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area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(GrLivArea &gt;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4500)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but unusually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low</a:t>
            </a:r>
            <a:r>
              <a:rPr sz="1200" spc="50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sale prices,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likely</a:t>
            </a:r>
            <a:r>
              <a:rPr sz="1200" spc="50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data entry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errors</a:t>
            </a:r>
            <a:endParaRPr sz="1200">
              <a:latin typeface="Arial MT"/>
              <a:cs typeface="Arial MT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24174" y="1904998"/>
            <a:ext cx="1924049" cy="2895599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136800" y="2541904"/>
            <a:ext cx="1482725" cy="1168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Applied standard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IQR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rule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(Q1 -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1.5×IQR,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Q3 + 1.5×IQR)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for</a:t>
            </a:r>
            <a:endParaRPr sz="1200">
              <a:latin typeface="Arial MT"/>
              <a:cs typeface="Arial MT"/>
            </a:endParaRPr>
          </a:p>
          <a:p>
            <a:pPr marL="12700" marR="30480">
              <a:lnSpc>
                <a:spcPct val="125000"/>
              </a:lnSpc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features with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obvious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extreme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tails</a:t>
            </a:r>
            <a:endParaRPr sz="1200">
              <a:latin typeface="Arial MT"/>
              <a:cs typeface="Arial MT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76824" y="1904998"/>
            <a:ext cx="1933575" cy="2895599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5295850" y="2120900"/>
            <a:ext cx="1522095" cy="1589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1C242F"/>
                </a:solidFill>
                <a:latin typeface="Arial"/>
                <a:cs typeface="Arial"/>
              </a:rPr>
              <a:t>Winsorization</a:t>
            </a:r>
            <a:endParaRPr sz="1800">
              <a:latin typeface="Arial"/>
              <a:cs typeface="Arial"/>
            </a:endParaRPr>
          </a:p>
          <a:p>
            <a:pPr marL="12700" marR="35560">
              <a:lnSpc>
                <a:spcPct val="125000"/>
              </a:lnSpc>
              <a:spcBef>
                <a:spcPts val="115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Capped zero-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inflated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features at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99th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percentile to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preserve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ordering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while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controlling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extremes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1243583" y="4712208"/>
            <a:ext cx="5285740" cy="5441950"/>
            <a:chOff x="1243583" y="4712208"/>
            <a:chExt cx="5285740" cy="5441950"/>
          </a:xfrm>
        </p:grpSpPr>
        <p:sp>
          <p:nvSpPr>
            <p:cNvPr id="10" name="object 10"/>
            <p:cNvSpPr/>
            <p:nvPr/>
          </p:nvSpPr>
          <p:spPr>
            <a:xfrm>
              <a:off x="1243583" y="4712208"/>
              <a:ext cx="5285740" cy="5441950"/>
            </a:xfrm>
            <a:custGeom>
              <a:avLst/>
              <a:gdLst/>
              <a:ahLst/>
              <a:cxnLst/>
              <a:rect l="l" t="t" r="r" b="b"/>
              <a:pathLst>
                <a:path w="5285740" h="5441950">
                  <a:moveTo>
                    <a:pt x="556640" y="5441441"/>
                  </a:moveTo>
                  <a:lnTo>
                    <a:pt x="0" y="5441441"/>
                  </a:lnTo>
                  <a:lnTo>
                    <a:pt x="0" y="0"/>
                  </a:lnTo>
                  <a:lnTo>
                    <a:pt x="5285231" y="0"/>
                  </a:lnTo>
                  <a:lnTo>
                    <a:pt x="5285231" y="316991"/>
                  </a:lnTo>
                  <a:lnTo>
                    <a:pt x="670940" y="316991"/>
                  </a:lnTo>
                  <a:lnTo>
                    <a:pt x="659681" y="317535"/>
                  </a:lnTo>
                  <a:lnTo>
                    <a:pt x="617005" y="330503"/>
                  </a:lnTo>
                  <a:lnTo>
                    <a:pt x="582541" y="358815"/>
                  </a:lnTo>
                  <a:lnTo>
                    <a:pt x="561534" y="398161"/>
                  </a:lnTo>
                  <a:lnTo>
                    <a:pt x="556640" y="431291"/>
                  </a:lnTo>
                  <a:lnTo>
                    <a:pt x="556640" y="5441441"/>
                  </a:lnTo>
                  <a:close/>
                </a:path>
                <a:path w="5285740" h="5441950">
                  <a:moveTo>
                    <a:pt x="5285231" y="5441441"/>
                  </a:moveTo>
                  <a:lnTo>
                    <a:pt x="4728590" y="5441441"/>
                  </a:lnTo>
                  <a:lnTo>
                    <a:pt x="4728590" y="431291"/>
                  </a:lnTo>
                  <a:lnTo>
                    <a:pt x="4728046" y="420031"/>
                  </a:lnTo>
                  <a:lnTo>
                    <a:pt x="4715078" y="377355"/>
                  </a:lnTo>
                  <a:lnTo>
                    <a:pt x="4686766" y="342891"/>
                  </a:lnTo>
                  <a:lnTo>
                    <a:pt x="4647420" y="321885"/>
                  </a:lnTo>
                  <a:lnTo>
                    <a:pt x="4614290" y="316991"/>
                  </a:lnTo>
                  <a:lnTo>
                    <a:pt x="5285231" y="316991"/>
                  </a:lnTo>
                  <a:lnTo>
                    <a:pt x="5285231" y="5441441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800224" y="5029199"/>
              <a:ext cx="4171949" cy="512444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457199" y="457199"/>
            <a:ext cx="6858000" cy="2857500"/>
            <a:chOff x="457199" y="457199"/>
            <a:chExt cx="6858000" cy="2857500"/>
          </a:xfrm>
        </p:grpSpPr>
        <p:sp>
          <p:nvSpPr>
            <p:cNvPr id="3" name="object 3"/>
            <p:cNvSpPr/>
            <p:nvPr/>
          </p:nvSpPr>
          <p:spPr>
            <a:xfrm>
              <a:off x="457199" y="457199"/>
              <a:ext cx="6858000" cy="2857500"/>
            </a:xfrm>
            <a:custGeom>
              <a:avLst/>
              <a:gdLst/>
              <a:ahLst/>
              <a:cxnLst/>
              <a:rect l="l" t="t" r="r" b="b"/>
              <a:pathLst>
                <a:path w="6858000" h="2857500">
                  <a:moveTo>
                    <a:pt x="6857999" y="2857499"/>
                  </a:moveTo>
                  <a:lnTo>
                    <a:pt x="0" y="2857499"/>
                  </a:lnTo>
                  <a:lnTo>
                    <a:pt x="0" y="0"/>
                  </a:lnTo>
                  <a:lnTo>
                    <a:pt x="6857999" y="0"/>
                  </a:lnTo>
                  <a:lnTo>
                    <a:pt x="6857999" y="2857499"/>
                  </a:lnTo>
                  <a:close/>
                </a:path>
              </a:pathLst>
            </a:custGeom>
            <a:solidFill>
              <a:srgbClr val="F7F9F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243583" y="457200"/>
              <a:ext cx="5285740" cy="2624455"/>
            </a:xfrm>
            <a:custGeom>
              <a:avLst/>
              <a:gdLst/>
              <a:ahLst/>
              <a:cxnLst/>
              <a:rect l="l" t="t" r="r" b="b"/>
              <a:pathLst>
                <a:path w="5285740" h="2624455">
                  <a:moveTo>
                    <a:pt x="5285231" y="2624327"/>
                  </a:moveTo>
                  <a:lnTo>
                    <a:pt x="0" y="2624327"/>
                  </a:lnTo>
                  <a:lnTo>
                    <a:pt x="0" y="0"/>
                  </a:lnTo>
                  <a:lnTo>
                    <a:pt x="556640" y="0"/>
                  </a:lnTo>
                  <a:lnTo>
                    <a:pt x="556640" y="1714499"/>
                  </a:lnTo>
                  <a:lnTo>
                    <a:pt x="557184" y="1725759"/>
                  </a:lnTo>
                  <a:lnTo>
                    <a:pt x="570152" y="1768434"/>
                  </a:lnTo>
                  <a:lnTo>
                    <a:pt x="598465" y="1802899"/>
                  </a:lnTo>
                  <a:lnTo>
                    <a:pt x="637811" y="1823905"/>
                  </a:lnTo>
                  <a:lnTo>
                    <a:pt x="670940" y="1828799"/>
                  </a:lnTo>
                  <a:lnTo>
                    <a:pt x="5285231" y="1828799"/>
                  </a:lnTo>
                  <a:lnTo>
                    <a:pt x="5285231" y="2624327"/>
                  </a:lnTo>
                  <a:close/>
                </a:path>
                <a:path w="5285740" h="2624455">
                  <a:moveTo>
                    <a:pt x="5285231" y="1828799"/>
                  </a:moveTo>
                  <a:lnTo>
                    <a:pt x="4614290" y="1828799"/>
                  </a:lnTo>
                  <a:lnTo>
                    <a:pt x="4625550" y="1828256"/>
                  </a:lnTo>
                  <a:lnTo>
                    <a:pt x="4636593" y="1826624"/>
                  </a:lnTo>
                  <a:lnTo>
                    <a:pt x="4677803" y="1809554"/>
                  </a:lnTo>
                  <a:lnTo>
                    <a:pt x="4709345" y="1778013"/>
                  </a:lnTo>
                  <a:lnTo>
                    <a:pt x="4726415" y="1736802"/>
                  </a:lnTo>
                  <a:lnTo>
                    <a:pt x="4728590" y="1714499"/>
                  </a:lnTo>
                  <a:lnTo>
                    <a:pt x="4728590" y="0"/>
                  </a:lnTo>
                  <a:lnTo>
                    <a:pt x="5285231" y="0"/>
                  </a:lnTo>
                  <a:lnTo>
                    <a:pt x="5285231" y="1828799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800224" y="457200"/>
              <a:ext cx="4171949" cy="1828799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3061791" y="2359025"/>
            <a:ext cx="1648460" cy="18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Outlier</a:t>
            </a:r>
            <a:r>
              <a:rPr sz="1050" spc="2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Distribution</a:t>
            </a:r>
            <a:r>
              <a:rPr sz="1050" spc="-4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Analysis</a:t>
            </a:r>
            <a:endParaRPr sz="10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95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1168400"/>
            <a:ext cx="5082540" cy="817880"/>
          </a:xfrm>
          <a:prstGeom prst="rect">
            <a:avLst/>
          </a:prstGeom>
        </p:spPr>
        <p:txBody>
          <a:bodyPr vert="horz" wrap="square" lIns="0" tIns="50800" rIns="0" bIns="0" rtlCol="0">
            <a:spAutoFit/>
          </a:bodyPr>
          <a:lstStyle/>
          <a:p>
            <a:pPr marL="12700" marR="5080">
              <a:lnSpc>
                <a:spcPts val="3000"/>
              </a:lnSpc>
              <a:spcBef>
                <a:spcPts val="400"/>
              </a:spcBef>
            </a:pPr>
            <a:r>
              <a:rPr dirty="0"/>
              <a:t>Bivariate</a:t>
            </a:r>
            <a:r>
              <a:rPr spc="-105" dirty="0"/>
              <a:t> </a:t>
            </a:r>
            <a:r>
              <a:rPr dirty="0"/>
              <a:t>Analysis: Features </a:t>
            </a:r>
            <a:r>
              <a:rPr spc="-25" dirty="0"/>
              <a:t>vs </a:t>
            </a:r>
            <a:r>
              <a:rPr spc="-10" dirty="0"/>
              <a:t>SalePrice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457200" y="1969008"/>
            <a:ext cx="6553200" cy="8185150"/>
            <a:chOff x="457200" y="1969008"/>
            <a:chExt cx="6553200" cy="8185150"/>
          </a:xfrm>
        </p:grpSpPr>
        <p:sp>
          <p:nvSpPr>
            <p:cNvPr id="5" name="object 5"/>
            <p:cNvSpPr/>
            <p:nvPr/>
          </p:nvSpPr>
          <p:spPr>
            <a:xfrm>
              <a:off x="457200" y="1969008"/>
              <a:ext cx="3831590" cy="8185150"/>
            </a:xfrm>
            <a:custGeom>
              <a:avLst/>
              <a:gdLst/>
              <a:ahLst/>
              <a:cxnLst/>
              <a:rect l="l" t="t" r="r" b="b"/>
              <a:pathLst>
                <a:path w="3831590" h="8185150">
                  <a:moveTo>
                    <a:pt x="3831335" y="8184641"/>
                  </a:moveTo>
                  <a:lnTo>
                    <a:pt x="0" y="8184641"/>
                  </a:lnTo>
                  <a:lnTo>
                    <a:pt x="0" y="0"/>
                  </a:lnTo>
                  <a:lnTo>
                    <a:pt x="3831335" y="0"/>
                  </a:lnTo>
                  <a:lnTo>
                    <a:pt x="3831335" y="316991"/>
                  </a:lnTo>
                  <a:lnTo>
                    <a:pt x="419099" y="316991"/>
                  </a:lnTo>
                  <a:lnTo>
                    <a:pt x="407840" y="317535"/>
                  </a:lnTo>
                  <a:lnTo>
                    <a:pt x="365164" y="330503"/>
                  </a:lnTo>
                  <a:lnTo>
                    <a:pt x="330700" y="358815"/>
                  </a:lnTo>
                  <a:lnTo>
                    <a:pt x="309693" y="398161"/>
                  </a:lnTo>
                  <a:lnTo>
                    <a:pt x="304799" y="431291"/>
                  </a:lnTo>
                  <a:lnTo>
                    <a:pt x="304799" y="7660766"/>
                  </a:lnTo>
                  <a:lnTo>
                    <a:pt x="313500" y="7704506"/>
                  </a:lnTo>
                  <a:lnTo>
                    <a:pt x="338277" y="7741588"/>
                  </a:lnTo>
                  <a:lnTo>
                    <a:pt x="375359" y="7766365"/>
                  </a:lnTo>
                  <a:lnTo>
                    <a:pt x="419099" y="7775066"/>
                  </a:lnTo>
                  <a:lnTo>
                    <a:pt x="3831335" y="7775066"/>
                  </a:lnTo>
                  <a:lnTo>
                    <a:pt x="3831335" y="8184641"/>
                  </a:lnTo>
                  <a:close/>
                </a:path>
                <a:path w="3831590" h="8185150">
                  <a:moveTo>
                    <a:pt x="3831335" y="7775066"/>
                  </a:moveTo>
                  <a:lnTo>
                    <a:pt x="3162299" y="7775066"/>
                  </a:lnTo>
                  <a:lnTo>
                    <a:pt x="3173559" y="7774522"/>
                  </a:lnTo>
                  <a:lnTo>
                    <a:pt x="3184602" y="7772891"/>
                  </a:lnTo>
                  <a:lnTo>
                    <a:pt x="3225813" y="7755821"/>
                  </a:lnTo>
                  <a:lnTo>
                    <a:pt x="3257354" y="7724279"/>
                  </a:lnTo>
                  <a:lnTo>
                    <a:pt x="3274424" y="7683069"/>
                  </a:lnTo>
                  <a:lnTo>
                    <a:pt x="3276599" y="7660766"/>
                  </a:lnTo>
                  <a:lnTo>
                    <a:pt x="3276599" y="431291"/>
                  </a:lnTo>
                  <a:lnTo>
                    <a:pt x="3267898" y="387550"/>
                  </a:lnTo>
                  <a:lnTo>
                    <a:pt x="3243122" y="350469"/>
                  </a:lnTo>
                  <a:lnTo>
                    <a:pt x="3206040" y="325692"/>
                  </a:lnTo>
                  <a:lnTo>
                    <a:pt x="3162299" y="316991"/>
                  </a:lnTo>
                  <a:lnTo>
                    <a:pt x="3831335" y="316991"/>
                  </a:lnTo>
                  <a:lnTo>
                    <a:pt x="3831335" y="7775066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2000" y="2285999"/>
              <a:ext cx="2971799" cy="7458074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4038599" y="2286002"/>
              <a:ext cx="2971800" cy="1409700"/>
            </a:xfrm>
            <a:custGeom>
              <a:avLst/>
              <a:gdLst/>
              <a:ahLst/>
              <a:cxnLst/>
              <a:rect l="l" t="t" r="r" b="b"/>
              <a:pathLst>
                <a:path w="2971800" h="1409700">
                  <a:moveTo>
                    <a:pt x="2865004" y="1409695"/>
                  </a:moveTo>
                  <a:lnTo>
                    <a:pt x="106795" y="1409695"/>
                  </a:lnTo>
                  <a:lnTo>
                    <a:pt x="99362" y="1408960"/>
                  </a:lnTo>
                  <a:lnTo>
                    <a:pt x="57038" y="1394598"/>
                  </a:lnTo>
                  <a:lnTo>
                    <a:pt x="23432" y="1365130"/>
                  </a:lnTo>
                  <a:lnTo>
                    <a:pt x="3660" y="1325049"/>
                  </a:lnTo>
                  <a:lnTo>
                    <a:pt x="0" y="1302897"/>
                  </a:lnTo>
                  <a:lnTo>
                    <a:pt x="0" y="1295395"/>
                  </a:lnTo>
                  <a:lnTo>
                    <a:pt x="0" y="106788"/>
                  </a:lnTo>
                  <a:lnTo>
                    <a:pt x="11572" y="63614"/>
                  </a:lnTo>
                  <a:lnTo>
                    <a:pt x="38784" y="28160"/>
                  </a:lnTo>
                  <a:lnTo>
                    <a:pt x="77492" y="5822"/>
                  </a:lnTo>
                  <a:lnTo>
                    <a:pt x="106795" y="0"/>
                  </a:lnTo>
                  <a:lnTo>
                    <a:pt x="2865004" y="0"/>
                  </a:lnTo>
                  <a:lnTo>
                    <a:pt x="2908174" y="11562"/>
                  </a:lnTo>
                  <a:lnTo>
                    <a:pt x="2943629" y="38774"/>
                  </a:lnTo>
                  <a:lnTo>
                    <a:pt x="2965970" y="77483"/>
                  </a:lnTo>
                  <a:lnTo>
                    <a:pt x="2971800" y="106788"/>
                  </a:lnTo>
                  <a:lnTo>
                    <a:pt x="2971800" y="1302897"/>
                  </a:lnTo>
                  <a:lnTo>
                    <a:pt x="2960226" y="1346061"/>
                  </a:lnTo>
                  <a:lnTo>
                    <a:pt x="2933015" y="1381520"/>
                  </a:lnTo>
                  <a:lnTo>
                    <a:pt x="2894306" y="1403853"/>
                  </a:lnTo>
                  <a:lnTo>
                    <a:pt x="2872437" y="1408960"/>
                  </a:lnTo>
                  <a:lnTo>
                    <a:pt x="2865004" y="1409695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4216400" y="2473325"/>
            <a:ext cx="2597785" cy="1008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Strong Linear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Relationships</a:t>
            </a:r>
            <a:endParaRPr sz="1500">
              <a:latin typeface="Arial"/>
              <a:cs typeface="Arial"/>
            </a:endParaRPr>
          </a:p>
          <a:p>
            <a:pPr marL="12700" marR="5080" algn="just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GrLivArea,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TotalBsmtSF,</a:t>
            </a:r>
            <a:r>
              <a:rPr sz="1200" spc="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GarageCars,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OverallQual show clear upward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linear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trends with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SalePrice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4038599" y="3848097"/>
            <a:ext cx="2971800" cy="1409700"/>
          </a:xfrm>
          <a:custGeom>
            <a:avLst/>
            <a:gdLst/>
            <a:ahLst/>
            <a:cxnLst/>
            <a:rect l="l" t="t" r="r" b="b"/>
            <a:pathLst>
              <a:path w="2971800" h="1409700">
                <a:moveTo>
                  <a:pt x="2865004" y="1409695"/>
                </a:moveTo>
                <a:lnTo>
                  <a:pt x="106795" y="1409695"/>
                </a:lnTo>
                <a:lnTo>
                  <a:pt x="99362" y="1408965"/>
                </a:lnTo>
                <a:lnTo>
                  <a:pt x="57038" y="1394594"/>
                </a:lnTo>
                <a:lnTo>
                  <a:pt x="23432" y="1365130"/>
                </a:lnTo>
                <a:lnTo>
                  <a:pt x="3660" y="1325049"/>
                </a:lnTo>
                <a:lnTo>
                  <a:pt x="0" y="1302901"/>
                </a:lnTo>
                <a:lnTo>
                  <a:pt x="0" y="1295399"/>
                </a:lnTo>
                <a:lnTo>
                  <a:pt x="0" y="106788"/>
                </a:lnTo>
                <a:lnTo>
                  <a:pt x="11572" y="63614"/>
                </a:lnTo>
                <a:lnTo>
                  <a:pt x="38784" y="28165"/>
                </a:lnTo>
                <a:lnTo>
                  <a:pt x="77492" y="5827"/>
                </a:lnTo>
                <a:lnTo>
                  <a:pt x="106795" y="0"/>
                </a:lnTo>
                <a:lnTo>
                  <a:pt x="2865004" y="0"/>
                </a:lnTo>
                <a:lnTo>
                  <a:pt x="2908174" y="11562"/>
                </a:lnTo>
                <a:lnTo>
                  <a:pt x="2943629" y="38779"/>
                </a:lnTo>
                <a:lnTo>
                  <a:pt x="2965970" y="77483"/>
                </a:lnTo>
                <a:lnTo>
                  <a:pt x="2971800" y="106788"/>
                </a:lnTo>
                <a:lnTo>
                  <a:pt x="2971800" y="1302901"/>
                </a:lnTo>
                <a:lnTo>
                  <a:pt x="2960226" y="1346061"/>
                </a:lnTo>
                <a:lnTo>
                  <a:pt x="2933015" y="1381520"/>
                </a:lnTo>
                <a:lnTo>
                  <a:pt x="2894306" y="1403858"/>
                </a:lnTo>
                <a:lnTo>
                  <a:pt x="2872437" y="1408960"/>
                </a:lnTo>
                <a:lnTo>
                  <a:pt x="2865004" y="1409695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4216400" y="4035425"/>
            <a:ext cx="2468245" cy="1008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Moderate</a:t>
            </a:r>
            <a:r>
              <a:rPr sz="1500" b="1" spc="-70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Relationships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YearBuilt,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YearRemodAdd,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FullBath,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Fireplaces have weaker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but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meaningful positive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trends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038599" y="5410197"/>
            <a:ext cx="2971800" cy="1409700"/>
          </a:xfrm>
          <a:custGeom>
            <a:avLst/>
            <a:gdLst/>
            <a:ahLst/>
            <a:cxnLst/>
            <a:rect l="l" t="t" r="r" b="b"/>
            <a:pathLst>
              <a:path w="2971800" h="1409700">
                <a:moveTo>
                  <a:pt x="2865004" y="1409695"/>
                </a:moveTo>
                <a:lnTo>
                  <a:pt x="106795" y="1409695"/>
                </a:lnTo>
                <a:lnTo>
                  <a:pt x="99362" y="1408965"/>
                </a:lnTo>
                <a:lnTo>
                  <a:pt x="57038" y="1394598"/>
                </a:lnTo>
                <a:lnTo>
                  <a:pt x="23432" y="1365135"/>
                </a:lnTo>
                <a:lnTo>
                  <a:pt x="3660" y="1325054"/>
                </a:lnTo>
                <a:lnTo>
                  <a:pt x="0" y="1302901"/>
                </a:lnTo>
                <a:lnTo>
                  <a:pt x="0" y="1295399"/>
                </a:lnTo>
                <a:lnTo>
                  <a:pt x="0" y="106793"/>
                </a:lnTo>
                <a:lnTo>
                  <a:pt x="11572" y="63614"/>
                </a:lnTo>
                <a:lnTo>
                  <a:pt x="38784" y="28165"/>
                </a:lnTo>
                <a:lnTo>
                  <a:pt x="77492" y="5822"/>
                </a:lnTo>
                <a:lnTo>
                  <a:pt x="106795" y="0"/>
                </a:lnTo>
                <a:lnTo>
                  <a:pt x="2865004" y="0"/>
                </a:lnTo>
                <a:lnTo>
                  <a:pt x="2908174" y="11562"/>
                </a:lnTo>
                <a:lnTo>
                  <a:pt x="2943629" y="38779"/>
                </a:lnTo>
                <a:lnTo>
                  <a:pt x="2965970" y="77483"/>
                </a:lnTo>
                <a:lnTo>
                  <a:pt x="2971800" y="106793"/>
                </a:lnTo>
                <a:lnTo>
                  <a:pt x="2971800" y="1302901"/>
                </a:lnTo>
                <a:lnTo>
                  <a:pt x="2960226" y="1346066"/>
                </a:lnTo>
                <a:lnTo>
                  <a:pt x="2933015" y="1381520"/>
                </a:lnTo>
                <a:lnTo>
                  <a:pt x="2894306" y="1403862"/>
                </a:lnTo>
                <a:lnTo>
                  <a:pt x="2872437" y="1408965"/>
                </a:lnTo>
                <a:lnTo>
                  <a:pt x="2865004" y="1409695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216400" y="5597524"/>
            <a:ext cx="2487930" cy="1008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Weak</a:t>
            </a:r>
            <a:r>
              <a:rPr sz="1500" b="1" spc="-6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Relationships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PoolArea,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MiscVal,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3SsnPorch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show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little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relationship - rare, zero-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heavy features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8604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Correlation Matrix &amp; </a:t>
            </a:r>
            <a:r>
              <a:rPr spc="-10" dirty="0"/>
              <a:t>Multicollinearity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457200" y="2435352"/>
            <a:ext cx="6553200" cy="3398520"/>
            <a:chOff x="457200" y="2435352"/>
            <a:chExt cx="6553200" cy="3398520"/>
          </a:xfrm>
        </p:grpSpPr>
        <p:sp>
          <p:nvSpPr>
            <p:cNvPr id="4" name="object 4"/>
            <p:cNvSpPr/>
            <p:nvPr/>
          </p:nvSpPr>
          <p:spPr>
            <a:xfrm>
              <a:off x="457200" y="2435352"/>
              <a:ext cx="3831590" cy="3398520"/>
            </a:xfrm>
            <a:custGeom>
              <a:avLst/>
              <a:gdLst/>
              <a:ahLst/>
              <a:cxnLst/>
              <a:rect l="l" t="t" r="r" b="b"/>
              <a:pathLst>
                <a:path w="3831590" h="3398520">
                  <a:moveTo>
                    <a:pt x="3831335" y="3398519"/>
                  </a:moveTo>
                  <a:lnTo>
                    <a:pt x="0" y="3398519"/>
                  </a:lnTo>
                  <a:lnTo>
                    <a:pt x="0" y="0"/>
                  </a:lnTo>
                  <a:lnTo>
                    <a:pt x="3831335" y="0"/>
                  </a:lnTo>
                  <a:lnTo>
                    <a:pt x="3831335" y="317372"/>
                  </a:lnTo>
                  <a:lnTo>
                    <a:pt x="419099" y="317372"/>
                  </a:lnTo>
                  <a:lnTo>
                    <a:pt x="407840" y="317916"/>
                  </a:lnTo>
                  <a:lnTo>
                    <a:pt x="365164" y="330884"/>
                  </a:lnTo>
                  <a:lnTo>
                    <a:pt x="330700" y="359196"/>
                  </a:lnTo>
                  <a:lnTo>
                    <a:pt x="309693" y="398542"/>
                  </a:lnTo>
                  <a:lnTo>
                    <a:pt x="304799" y="431672"/>
                  </a:lnTo>
                  <a:lnTo>
                    <a:pt x="304799" y="2489072"/>
                  </a:lnTo>
                  <a:lnTo>
                    <a:pt x="313500" y="2532813"/>
                  </a:lnTo>
                  <a:lnTo>
                    <a:pt x="338277" y="2569895"/>
                  </a:lnTo>
                  <a:lnTo>
                    <a:pt x="375360" y="2594672"/>
                  </a:lnTo>
                  <a:lnTo>
                    <a:pt x="419099" y="2603372"/>
                  </a:lnTo>
                  <a:lnTo>
                    <a:pt x="3831335" y="2603372"/>
                  </a:lnTo>
                  <a:lnTo>
                    <a:pt x="3831335" y="3398519"/>
                  </a:lnTo>
                  <a:close/>
                </a:path>
                <a:path w="3831590" h="3398520">
                  <a:moveTo>
                    <a:pt x="3831335" y="2603372"/>
                  </a:moveTo>
                  <a:lnTo>
                    <a:pt x="3162299" y="2603372"/>
                  </a:lnTo>
                  <a:lnTo>
                    <a:pt x="3173559" y="2602829"/>
                  </a:lnTo>
                  <a:lnTo>
                    <a:pt x="3184602" y="2601197"/>
                  </a:lnTo>
                  <a:lnTo>
                    <a:pt x="3225813" y="2584127"/>
                  </a:lnTo>
                  <a:lnTo>
                    <a:pt x="3257354" y="2552586"/>
                  </a:lnTo>
                  <a:lnTo>
                    <a:pt x="3274424" y="2511375"/>
                  </a:lnTo>
                  <a:lnTo>
                    <a:pt x="3276599" y="2489072"/>
                  </a:lnTo>
                  <a:lnTo>
                    <a:pt x="3276599" y="431672"/>
                  </a:lnTo>
                  <a:lnTo>
                    <a:pt x="3267898" y="387931"/>
                  </a:lnTo>
                  <a:lnTo>
                    <a:pt x="3243122" y="350850"/>
                  </a:lnTo>
                  <a:lnTo>
                    <a:pt x="3206040" y="326073"/>
                  </a:lnTo>
                  <a:lnTo>
                    <a:pt x="3162299" y="317372"/>
                  </a:lnTo>
                  <a:lnTo>
                    <a:pt x="3831335" y="317372"/>
                  </a:lnTo>
                  <a:lnTo>
                    <a:pt x="3831335" y="2603372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2000" y="2752724"/>
              <a:ext cx="2971799" cy="22859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4038599" y="2752726"/>
              <a:ext cx="2971800" cy="3048000"/>
            </a:xfrm>
            <a:custGeom>
              <a:avLst/>
              <a:gdLst/>
              <a:ahLst/>
              <a:cxnLst/>
              <a:rect l="l" t="t" r="r" b="b"/>
              <a:pathLst>
                <a:path w="2971800" h="3048000">
                  <a:moveTo>
                    <a:pt x="2865004" y="3047990"/>
                  </a:moveTo>
                  <a:lnTo>
                    <a:pt x="106795" y="3047990"/>
                  </a:lnTo>
                  <a:lnTo>
                    <a:pt x="99362" y="3047255"/>
                  </a:lnTo>
                  <a:lnTo>
                    <a:pt x="57038" y="3032889"/>
                  </a:lnTo>
                  <a:lnTo>
                    <a:pt x="23432" y="3003425"/>
                  </a:lnTo>
                  <a:lnTo>
                    <a:pt x="3660" y="2963349"/>
                  </a:lnTo>
                  <a:lnTo>
                    <a:pt x="0" y="2941196"/>
                  </a:lnTo>
                  <a:lnTo>
                    <a:pt x="0" y="2933695"/>
                  </a:lnTo>
                  <a:lnTo>
                    <a:pt x="0" y="106783"/>
                  </a:lnTo>
                  <a:lnTo>
                    <a:pt x="11572" y="63609"/>
                  </a:lnTo>
                  <a:lnTo>
                    <a:pt x="38784" y="28160"/>
                  </a:lnTo>
                  <a:lnTo>
                    <a:pt x="77492" y="5817"/>
                  </a:lnTo>
                  <a:lnTo>
                    <a:pt x="106795" y="0"/>
                  </a:lnTo>
                  <a:lnTo>
                    <a:pt x="2865004" y="0"/>
                  </a:lnTo>
                  <a:lnTo>
                    <a:pt x="2908174" y="11557"/>
                  </a:lnTo>
                  <a:lnTo>
                    <a:pt x="2943629" y="38774"/>
                  </a:lnTo>
                  <a:lnTo>
                    <a:pt x="2965970" y="77479"/>
                  </a:lnTo>
                  <a:lnTo>
                    <a:pt x="2971800" y="106783"/>
                  </a:lnTo>
                  <a:lnTo>
                    <a:pt x="2971800" y="2941196"/>
                  </a:lnTo>
                  <a:lnTo>
                    <a:pt x="2960226" y="2984361"/>
                  </a:lnTo>
                  <a:lnTo>
                    <a:pt x="2933015" y="3019815"/>
                  </a:lnTo>
                  <a:lnTo>
                    <a:pt x="2894306" y="3042158"/>
                  </a:lnTo>
                  <a:lnTo>
                    <a:pt x="2872437" y="3047255"/>
                  </a:lnTo>
                  <a:lnTo>
                    <a:pt x="2865004" y="304799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16400" y="2901950"/>
            <a:ext cx="2597785" cy="2684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700"/>
              </a:lnSpc>
              <a:spcBef>
                <a:spcPts val="100"/>
              </a:spcBef>
            </a:pP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Strong Positive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Correlations </a:t>
            </a: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with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SalePrice</a:t>
            </a:r>
            <a:endParaRPr sz="1500">
              <a:latin typeface="Arial"/>
              <a:cs typeface="Arial"/>
            </a:endParaRPr>
          </a:p>
          <a:p>
            <a:pPr marL="12700" marR="50165" indent="95885">
              <a:lnSpc>
                <a:spcPct val="125000"/>
              </a:lnSpc>
              <a:spcBef>
                <a:spcPts val="54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OverallQual</a:t>
            </a:r>
            <a:r>
              <a:rPr sz="1200" b="1" spc="-2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–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Strongest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correlation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with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price</a:t>
            </a:r>
            <a:endParaRPr sz="1200">
              <a:latin typeface="Arial MT"/>
              <a:cs typeface="Arial MT"/>
            </a:endParaRPr>
          </a:p>
          <a:p>
            <a:pPr marL="12700" marR="266065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GrLivArea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– Larger living area 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=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higher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value</a:t>
            </a:r>
            <a:endParaRPr sz="1200">
              <a:latin typeface="Arial MT"/>
              <a:cs typeface="Arial MT"/>
            </a:endParaRPr>
          </a:p>
          <a:p>
            <a:pPr marL="12700" marR="33020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GarageCars/GarageArea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–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Garage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capacity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impact</a:t>
            </a:r>
            <a:endParaRPr sz="1200">
              <a:latin typeface="Arial MT"/>
              <a:cs typeface="Arial MT"/>
            </a:endParaRPr>
          </a:p>
          <a:p>
            <a:pPr marL="12700" marR="697230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spc="-10" dirty="0">
                <a:solidFill>
                  <a:srgbClr val="1C242F"/>
                </a:solidFill>
                <a:latin typeface="Arial"/>
                <a:cs typeface="Arial"/>
              </a:rPr>
              <a:t>TotalBsmtSF</a:t>
            </a:r>
            <a:r>
              <a:rPr sz="1200" b="1" spc="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–</a:t>
            </a:r>
            <a:r>
              <a:rPr sz="1200" spc="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Basement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contribution to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value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4038599" y="5953121"/>
            <a:ext cx="2971800" cy="2590800"/>
          </a:xfrm>
          <a:custGeom>
            <a:avLst/>
            <a:gdLst/>
            <a:ahLst/>
            <a:cxnLst/>
            <a:rect l="l" t="t" r="r" b="b"/>
            <a:pathLst>
              <a:path w="2971800" h="2590800">
                <a:moveTo>
                  <a:pt x="2865004" y="2590799"/>
                </a:moveTo>
                <a:lnTo>
                  <a:pt x="106795" y="2590799"/>
                </a:lnTo>
                <a:lnTo>
                  <a:pt x="99362" y="2590065"/>
                </a:lnTo>
                <a:lnTo>
                  <a:pt x="57038" y="2575694"/>
                </a:lnTo>
                <a:lnTo>
                  <a:pt x="23432" y="2546225"/>
                </a:lnTo>
                <a:lnTo>
                  <a:pt x="3660" y="2506144"/>
                </a:lnTo>
                <a:lnTo>
                  <a:pt x="0" y="2483996"/>
                </a:lnTo>
                <a:lnTo>
                  <a:pt x="0" y="2476499"/>
                </a:lnTo>
                <a:lnTo>
                  <a:pt x="0" y="106793"/>
                </a:lnTo>
                <a:lnTo>
                  <a:pt x="11572" y="63614"/>
                </a:lnTo>
                <a:lnTo>
                  <a:pt x="38784" y="28165"/>
                </a:lnTo>
                <a:lnTo>
                  <a:pt x="77492" y="5827"/>
                </a:lnTo>
                <a:lnTo>
                  <a:pt x="106795" y="0"/>
                </a:lnTo>
                <a:lnTo>
                  <a:pt x="2865004" y="0"/>
                </a:lnTo>
                <a:lnTo>
                  <a:pt x="2908174" y="11570"/>
                </a:lnTo>
                <a:lnTo>
                  <a:pt x="2943629" y="38779"/>
                </a:lnTo>
                <a:lnTo>
                  <a:pt x="2965970" y="77483"/>
                </a:lnTo>
                <a:lnTo>
                  <a:pt x="2971800" y="106793"/>
                </a:lnTo>
                <a:lnTo>
                  <a:pt x="2971800" y="2483996"/>
                </a:lnTo>
                <a:lnTo>
                  <a:pt x="2960226" y="2527157"/>
                </a:lnTo>
                <a:lnTo>
                  <a:pt x="2933015" y="2562615"/>
                </a:lnTo>
                <a:lnTo>
                  <a:pt x="2894306" y="2584967"/>
                </a:lnTo>
                <a:lnTo>
                  <a:pt x="2872437" y="2590065"/>
                </a:lnTo>
                <a:lnTo>
                  <a:pt x="2865004" y="2590799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4216400" y="6102349"/>
            <a:ext cx="2501900" cy="22428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15265">
              <a:lnSpc>
                <a:spcPct val="116700"/>
              </a:lnSpc>
              <a:spcBef>
                <a:spcPts val="100"/>
              </a:spcBef>
            </a:pP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Multicollinearity </a:t>
            </a: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Patterns Detected</a:t>
            </a:r>
            <a:endParaRPr sz="1500">
              <a:latin typeface="Arial"/>
              <a:cs typeface="Arial"/>
            </a:endParaRPr>
          </a:p>
          <a:p>
            <a:pPr marL="108585" indent="-95885">
              <a:lnSpc>
                <a:spcPct val="100000"/>
              </a:lnSpc>
              <a:spcBef>
                <a:spcPts val="900"/>
              </a:spcBef>
              <a:buChar char="•"/>
              <a:tabLst>
                <a:tab pos="108585" algn="l"/>
              </a:tabLst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GarageCars ↔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GarageArea</a:t>
            </a:r>
            <a:endParaRPr sz="1200">
              <a:latin typeface="Arial MT"/>
              <a:cs typeface="Arial MT"/>
            </a:endParaRPr>
          </a:p>
          <a:p>
            <a:pPr marL="108585" indent="-95885">
              <a:lnSpc>
                <a:spcPct val="100000"/>
              </a:lnSpc>
              <a:spcBef>
                <a:spcPts val="960"/>
              </a:spcBef>
              <a:buChar char="•"/>
              <a:tabLst>
                <a:tab pos="108585" algn="l"/>
              </a:tabLst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GrLivArea ↔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1stFlrSF</a:t>
            </a:r>
            <a:endParaRPr sz="1200">
              <a:latin typeface="Arial MT"/>
              <a:cs typeface="Arial MT"/>
            </a:endParaRPr>
          </a:p>
          <a:p>
            <a:pPr marL="105410" indent="-92710">
              <a:lnSpc>
                <a:spcPct val="100000"/>
              </a:lnSpc>
              <a:spcBef>
                <a:spcPts val="960"/>
              </a:spcBef>
              <a:buChar char="•"/>
              <a:tabLst>
                <a:tab pos="105410" algn="l"/>
              </a:tabLst>
            </a:pP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TotalBsmtSF</a:t>
            </a:r>
            <a:r>
              <a:rPr sz="1200" spc="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↔</a:t>
            </a:r>
            <a:r>
              <a:rPr sz="1200" spc="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1stFlrSF</a:t>
            </a:r>
            <a:endParaRPr sz="1200">
              <a:latin typeface="Arial MT"/>
              <a:cs typeface="Arial MT"/>
            </a:endParaRPr>
          </a:p>
          <a:p>
            <a:pPr marL="105410" indent="-92710">
              <a:lnSpc>
                <a:spcPct val="100000"/>
              </a:lnSpc>
              <a:spcBef>
                <a:spcPts val="960"/>
              </a:spcBef>
              <a:buChar char="•"/>
              <a:tabLst>
                <a:tab pos="105410" algn="l"/>
              </a:tabLst>
            </a:pP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YearBuilt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↔</a:t>
            </a:r>
            <a:r>
              <a:rPr sz="12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YearRemodAdd</a:t>
            </a:r>
            <a:endParaRPr sz="1200">
              <a:latin typeface="Arial MT"/>
              <a:cs typeface="Arial MT"/>
            </a:endParaRPr>
          </a:p>
          <a:p>
            <a:pPr marL="12700" marR="5080">
              <a:lnSpc>
                <a:spcPct val="119000"/>
              </a:lnSpc>
              <a:spcBef>
                <a:spcPts val="72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→</a:t>
            </a:r>
            <a:r>
              <a:rPr sz="1050" spc="-3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Feature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engineering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needed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to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capture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combined</a:t>
            </a:r>
            <a:r>
              <a:rPr sz="1050" spc="-5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signals</a:t>
            </a:r>
            <a:endParaRPr sz="10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96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2416175"/>
            <a:ext cx="58750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Domain-Driven Feature </a:t>
            </a:r>
            <a:r>
              <a:rPr spc="-10" dirty="0"/>
              <a:t>Engineering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374229" y="3111500"/>
            <a:ext cx="502412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3095" marR="5080" indent="-1891030">
              <a:lnSpc>
                <a:spcPct val="116700"/>
              </a:lnSpc>
              <a:spcBef>
                <a:spcPts val="100"/>
              </a:spcBef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Created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7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engineered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features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to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capture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complex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property characteristics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1999" y="3914768"/>
            <a:ext cx="3009900" cy="1181100"/>
            <a:chOff x="761999" y="3914768"/>
            <a:chExt cx="3009900" cy="1181100"/>
          </a:xfrm>
        </p:grpSpPr>
        <p:sp>
          <p:nvSpPr>
            <p:cNvPr id="6" name="object 6"/>
            <p:cNvSpPr/>
            <p:nvPr/>
          </p:nvSpPr>
          <p:spPr>
            <a:xfrm>
              <a:off x="781049" y="3914781"/>
              <a:ext cx="2990850" cy="1181100"/>
            </a:xfrm>
            <a:custGeom>
              <a:avLst/>
              <a:gdLst/>
              <a:ahLst/>
              <a:cxnLst/>
              <a:rect l="l" t="t" r="r" b="b"/>
              <a:pathLst>
                <a:path w="2990850" h="1181100">
                  <a:moveTo>
                    <a:pt x="2884054" y="1181080"/>
                  </a:moveTo>
                  <a:lnTo>
                    <a:pt x="88995" y="1181080"/>
                  </a:lnTo>
                  <a:lnTo>
                    <a:pt x="82801" y="1180346"/>
                  </a:lnTo>
                  <a:lnTo>
                    <a:pt x="37131" y="1157650"/>
                  </a:lnTo>
                  <a:lnTo>
                    <a:pt x="12577" y="1124042"/>
                  </a:lnTo>
                  <a:lnTo>
                    <a:pt x="610" y="1081719"/>
                  </a:lnTo>
                  <a:lnTo>
                    <a:pt x="0" y="1074297"/>
                  </a:lnTo>
                  <a:lnTo>
                    <a:pt x="0" y="1066790"/>
                  </a:lnTo>
                  <a:lnTo>
                    <a:pt x="0" y="106783"/>
                  </a:lnTo>
                  <a:lnTo>
                    <a:pt x="9643" y="63614"/>
                  </a:lnTo>
                  <a:lnTo>
                    <a:pt x="32320" y="28155"/>
                  </a:lnTo>
                  <a:lnTo>
                    <a:pt x="64577" y="5813"/>
                  </a:lnTo>
                  <a:lnTo>
                    <a:pt x="88995" y="0"/>
                  </a:lnTo>
                  <a:lnTo>
                    <a:pt x="2884054" y="0"/>
                  </a:lnTo>
                  <a:lnTo>
                    <a:pt x="2927223" y="11561"/>
                  </a:lnTo>
                  <a:lnTo>
                    <a:pt x="2962678" y="38769"/>
                  </a:lnTo>
                  <a:lnTo>
                    <a:pt x="2985021" y="77474"/>
                  </a:lnTo>
                  <a:lnTo>
                    <a:pt x="2990849" y="106783"/>
                  </a:lnTo>
                  <a:lnTo>
                    <a:pt x="2990849" y="1074297"/>
                  </a:lnTo>
                  <a:lnTo>
                    <a:pt x="2979276" y="1117448"/>
                  </a:lnTo>
                  <a:lnTo>
                    <a:pt x="2952064" y="1152915"/>
                  </a:lnTo>
                  <a:lnTo>
                    <a:pt x="2913356" y="1175258"/>
                  </a:lnTo>
                  <a:lnTo>
                    <a:pt x="2891487" y="1180346"/>
                  </a:lnTo>
                  <a:lnTo>
                    <a:pt x="2884054" y="1181080"/>
                  </a:lnTo>
                  <a:close/>
                </a:path>
              </a:pathLst>
            </a:custGeom>
            <a:solidFill>
              <a:srgbClr val="FFFFFF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1999" y="3914768"/>
              <a:ext cx="114300" cy="1181100"/>
            </a:xfrm>
            <a:custGeom>
              <a:avLst/>
              <a:gdLst/>
              <a:ahLst/>
              <a:cxnLst/>
              <a:rect l="l" t="t" r="r" b="b"/>
              <a:pathLst>
                <a:path w="114300" h="1181100">
                  <a:moveTo>
                    <a:pt x="114300" y="1181099"/>
                  </a:moveTo>
                  <a:lnTo>
                    <a:pt x="70559" y="1172402"/>
                  </a:lnTo>
                  <a:lnTo>
                    <a:pt x="33477" y="1147625"/>
                  </a:lnTo>
                  <a:lnTo>
                    <a:pt x="8700" y="1110543"/>
                  </a:lnTo>
                  <a:lnTo>
                    <a:pt x="0" y="1066803"/>
                  </a:lnTo>
                  <a:lnTo>
                    <a:pt x="0" y="114303"/>
                  </a:lnTo>
                  <a:lnTo>
                    <a:pt x="8700" y="70562"/>
                  </a:lnTo>
                  <a:lnTo>
                    <a:pt x="33477" y="33480"/>
                  </a:lnTo>
                  <a:lnTo>
                    <a:pt x="70559" y="8703"/>
                  </a:lnTo>
                  <a:lnTo>
                    <a:pt x="114300" y="0"/>
                  </a:lnTo>
                  <a:lnTo>
                    <a:pt x="106793" y="546"/>
                  </a:lnTo>
                  <a:lnTo>
                    <a:pt x="99431" y="2178"/>
                  </a:lnTo>
                  <a:lnTo>
                    <a:pt x="65982" y="25903"/>
                  </a:lnTo>
                  <a:lnTo>
                    <a:pt x="47107" y="60367"/>
                  </a:lnTo>
                  <a:lnTo>
                    <a:pt x="38462" y="103043"/>
                  </a:lnTo>
                  <a:lnTo>
                    <a:pt x="38100" y="114303"/>
                  </a:lnTo>
                  <a:lnTo>
                    <a:pt x="38100" y="1066803"/>
                  </a:lnTo>
                  <a:lnTo>
                    <a:pt x="43900" y="1110543"/>
                  </a:lnTo>
                  <a:lnTo>
                    <a:pt x="60418" y="1147625"/>
                  </a:lnTo>
                  <a:lnTo>
                    <a:pt x="92213" y="1176209"/>
                  </a:lnTo>
                  <a:lnTo>
                    <a:pt x="106793" y="1180559"/>
                  </a:lnTo>
                  <a:lnTo>
                    <a:pt x="114300" y="1181099"/>
                  </a:lnTo>
                  <a:close/>
                </a:path>
              </a:pathLst>
            </a:custGeom>
            <a:solidFill>
              <a:srgbClr val="164E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977900" y="4102100"/>
            <a:ext cx="2567940" cy="7950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TotalSF</a:t>
            </a:r>
            <a:endParaRPr sz="1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0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=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1stFlrSF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+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2ndFlrSF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+</a:t>
            </a:r>
            <a:r>
              <a:rPr sz="12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TotalBsmtSF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Complete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living</a:t>
            </a:r>
            <a:r>
              <a:rPr sz="1050" spc="-3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area</a:t>
            </a:r>
            <a:r>
              <a:rPr sz="1050" spc="-3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aggregation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761999" y="5210168"/>
            <a:ext cx="3009900" cy="1409700"/>
            <a:chOff x="761999" y="5210168"/>
            <a:chExt cx="3009900" cy="1409700"/>
          </a:xfrm>
        </p:grpSpPr>
        <p:sp>
          <p:nvSpPr>
            <p:cNvPr id="10" name="object 10"/>
            <p:cNvSpPr/>
            <p:nvPr/>
          </p:nvSpPr>
          <p:spPr>
            <a:xfrm>
              <a:off x="781049" y="5210171"/>
              <a:ext cx="2990850" cy="1409700"/>
            </a:xfrm>
            <a:custGeom>
              <a:avLst/>
              <a:gdLst/>
              <a:ahLst/>
              <a:cxnLst/>
              <a:rect l="l" t="t" r="r" b="b"/>
              <a:pathLst>
                <a:path w="2990850" h="1409700">
                  <a:moveTo>
                    <a:pt x="2884054" y="1409690"/>
                  </a:moveTo>
                  <a:lnTo>
                    <a:pt x="88995" y="1409690"/>
                  </a:lnTo>
                  <a:lnTo>
                    <a:pt x="82801" y="1408955"/>
                  </a:lnTo>
                  <a:lnTo>
                    <a:pt x="37131" y="1386259"/>
                  </a:lnTo>
                  <a:lnTo>
                    <a:pt x="12577" y="1352643"/>
                  </a:lnTo>
                  <a:lnTo>
                    <a:pt x="610" y="1310329"/>
                  </a:lnTo>
                  <a:lnTo>
                    <a:pt x="0" y="1302906"/>
                  </a:lnTo>
                  <a:lnTo>
                    <a:pt x="0" y="1295399"/>
                  </a:lnTo>
                  <a:lnTo>
                    <a:pt x="0" y="106793"/>
                  </a:lnTo>
                  <a:lnTo>
                    <a:pt x="9643" y="63614"/>
                  </a:lnTo>
                  <a:lnTo>
                    <a:pt x="32320" y="28165"/>
                  </a:lnTo>
                  <a:lnTo>
                    <a:pt x="64577" y="5814"/>
                  </a:lnTo>
                  <a:lnTo>
                    <a:pt x="88995" y="0"/>
                  </a:lnTo>
                  <a:lnTo>
                    <a:pt x="2884054" y="0"/>
                  </a:lnTo>
                  <a:lnTo>
                    <a:pt x="2927223" y="11562"/>
                  </a:lnTo>
                  <a:lnTo>
                    <a:pt x="2962678" y="38769"/>
                  </a:lnTo>
                  <a:lnTo>
                    <a:pt x="2985021" y="77474"/>
                  </a:lnTo>
                  <a:lnTo>
                    <a:pt x="2990849" y="106793"/>
                  </a:lnTo>
                  <a:lnTo>
                    <a:pt x="2990849" y="1302906"/>
                  </a:lnTo>
                  <a:lnTo>
                    <a:pt x="2979276" y="1346057"/>
                  </a:lnTo>
                  <a:lnTo>
                    <a:pt x="2952064" y="1381524"/>
                  </a:lnTo>
                  <a:lnTo>
                    <a:pt x="2913356" y="1403858"/>
                  </a:lnTo>
                  <a:lnTo>
                    <a:pt x="2891487" y="1408955"/>
                  </a:lnTo>
                  <a:lnTo>
                    <a:pt x="2884054" y="1409690"/>
                  </a:lnTo>
                  <a:close/>
                </a:path>
              </a:pathLst>
            </a:custGeom>
            <a:solidFill>
              <a:srgbClr val="FFFFFF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761999" y="5210168"/>
              <a:ext cx="114300" cy="1409700"/>
            </a:xfrm>
            <a:custGeom>
              <a:avLst/>
              <a:gdLst/>
              <a:ahLst/>
              <a:cxnLst/>
              <a:rect l="l" t="t" r="r" b="b"/>
              <a:pathLst>
                <a:path w="114300" h="1409700">
                  <a:moveTo>
                    <a:pt x="114300" y="1409699"/>
                  </a:moveTo>
                  <a:lnTo>
                    <a:pt x="70559" y="1401002"/>
                  </a:lnTo>
                  <a:lnTo>
                    <a:pt x="33477" y="1376225"/>
                  </a:lnTo>
                  <a:lnTo>
                    <a:pt x="8700" y="1339143"/>
                  </a:lnTo>
                  <a:lnTo>
                    <a:pt x="0" y="1295403"/>
                  </a:lnTo>
                  <a:lnTo>
                    <a:pt x="0" y="114303"/>
                  </a:lnTo>
                  <a:lnTo>
                    <a:pt x="8700" y="70562"/>
                  </a:lnTo>
                  <a:lnTo>
                    <a:pt x="33477" y="33480"/>
                  </a:lnTo>
                  <a:lnTo>
                    <a:pt x="70559" y="8703"/>
                  </a:lnTo>
                  <a:lnTo>
                    <a:pt x="114300" y="0"/>
                  </a:lnTo>
                  <a:lnTo>
                    <a:pt x="106793" y="547"/>
                  </a:lnTo>
                  <a:lnTo>
                    <a:pt x="99431" y="2178"/>
                  </a:lnTo>
                  <a:lnTo>
                    <a:pt x="65982" y="25903"/>
                  </a:lnTo>
                  <a:lnTo>
                    <a:pt x="47107" y="60368"/>
                  </a:lnTo>
                  <a:lnTo>
                    <a:pt x="38462" y="103043"/>
                  </a:lnTo>
                  <a:lnTo>
                    <a:pt x="38100" y="114303"/>
                  </a:lnTo>
                  <a:lnTo>
                    <a:pt x="38100" y="1295403"/>
                  </a:lnTo>
                  <a:lnTo>
                    <a:pt x="43900" y="1339143"/>
                  </a:lnTo>
                  <a:lnTo>
                    <a:pt x="60418" y="1376225"/>
                  </a:lnTo>
                  <a:lnTo>
                    <a:pt x="92213" y="1404808"/>
                  </a:lnTo>
                  <a:lnTo>
                    <a:pt x="106793" y="1409159"/>
                  </a:lnTo>
                  <a:lnTo>
                    <a:pt x="114300" y="1409699"/>
                  </a:lnTo>
                  <a:close/>
                </a:path>
              </a:pathLst>
            </a:custGeom>
            <a:solidFill>
              <a:srgbClr val="164E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977900" y="5397499"/>
            <a:ext cx="2338070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Total_Bathrooms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= FullBath + 0.5×HalfBath 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+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BsmtFullBath +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0.5×BsmtHalfBath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Standardized</a:t>
            </a:r>
            <a:r>
              <a:rPr sz="1050" spc="-5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bathroom</a:t>
            </a:r>
            <a:r>
              <a:rPr sz="1050" spc="-5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count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761999" y="6734168"/>
            <a:ext cx="3009900" cy="1409700"/>
            <a:chOff x="761999" y="6734168"/>
            <a:chExt cx="3009900" cy="1409700"/>
          </a:xfrm>
        </p:grpSpPr>
        <p:sp>
          <p:nvSpPr>
            <p:cNvPr id="14" name="object 14"/>
            <p:cNvSpPr/>
            <p:nvPr/>
          </p:nvSpPr>
          <p:spPr>
            <a:xfrm>
              <a:off x="781049" y="6734181"/>
              <a:ext cx="2990850" cy="1409700"/>
            </a:xfrm>
            <a:custGeom>
              <a:avLst/>
              <a:gdLst/>
              <a:ahLst/>
              <a:cxnLst/>
              <a:rect l="l" t="t" r="r" b="b"/>
              <a:pathLst>
                <a:path w="2990850" h="1409700">
                  <a:moveTo>
                    <a:pt x="2884054" y="1409690"/>
                  </a:moveTo>
                  <a:lnTo>
                    <a:pt x="88995" y="1409690"/>
                  </a:lnTo>
                  <a:lnTo>
                    <a:pt x="82801" y="1408955"/>
                  </a:lnTo>
                  <a:lnTo>
                    <a:pt x="37131" y="1386240"/>
                  </a:lnTo>
                  <a:lnTo>
                    <a:pt x="12577" y="1352633"/>
                  </a:lnTo>
                  <a:lnTo>
                    <a:pt x="610" y="1310329"/>
                  </a:lnTo>
                  <a:lnTo>
                    <a:pt x="0" y="1302897"/>
                  </a:lnTo>
                  <a:lnTo>
                    <a:pt x="0" y="1295390"/>
                  </a:lnTo>
                  <a:lnTo>
                    <a:pt x="0" y="106783"/>
                  </a:lnTo>
                  <a:lnTo>
                    <a:pt x="9643" y="63614"/>
                  </a:lnTo>
                  <a:lnTo>
                    <a:pt x="32320" y="28155"/>
                  </a:lnTo>
                  <a:lnTo>
                    <a:pt x="64577" y="5804"/>
                  </a:lnTo>
                  <a:lnTo>
                    <a:pt x="88995" y="0"/>
                  </a:lnTo>
                  <a:lnTo>
                    <a:pt x="2884054" y="0"/>
                  </a:lnTo>
                  <a:lnTo>
                    <a:pt x="2927223" y="11552"/>
                  </a:lnTo>
                  <a:lnTo>
                    <a:pt x="2962678" y="38769"/>
                  </a:lnTo>
                  <a:lnTo>
                    <a:pt x="2985021" y="77474"/>
                  </a:lnTo>
                  <a:lnTo>
                    <a:pt x="2990849" y="106783"/>
                  </a:lnTo>
                  <a:lnTo>
                    <a:pt x="2990849" y="1302897"/>
                  </a:lnTo>
                  <a:lnTo>
                    <a:pt x="2979276" y="1346048"/>
                  </a:lnTo>
                  <a:lnTo>
                    <a:pt x="2952064" y="1381505"/>
                  </a:lnTo>
                  <a:lnTo>
                    <a:pt x="2913356" y="1403848"/>
                  </a:lnTo>
                  <a:lnTo>
                    <a:pt x="2891487" y="1408955"/>
                  </a:lnTo>
                  <a:lnTo>
                    <a:pt x="2884054" y="1409690"/>
                  </a:lnTo>
                  <a:close/>
                </a:path>
              </a:pathLst>
            </a:custGeom>
            <a:solidFill>
              <a:srgbClr val="FFFFFF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761999" y="6734168"/>
              <a:ext cx="114300" cy="1409700"/>
            </a:xfrm>
            <a:custGeom>
              <a:avLst/>
              <a:gdLst/>
              <a:ahLst/>
              <a:cxnLst/>
              <a:rect l="l" t="t" r="r" b="b"/>
              <a:pathLst>
                <a:path w="114300" h="1409700">
                  <a:moveTo>
                    <a:pt x="114300" y="1409699"/>
                  </a:moveTo>
                  <a:lnTo>
                    <a:pt x="70559" y="1401002"/>
                  </a:lnTo>
                  <a:lnTo>
                    <a:pt x="33477" y="1376225"/>
                  </a:lnTo>
                  <a:lnTo>
                    <a:pt x="8700" y="1339143"/>
                  </a:lnTo>
                  <a:lnTo>
                    <a:pt x="0" y="1295403"/>
                  </a:lnTo>
                  <a:lnTo>
                    <a:pt x="0" y="114303"/>
                  </a:lnTo>
                  <a:lnTo>
                    <a:pt x="8700" y="70562"/>
                  </a:lnTo>
                  <a:lnTo>
                    <a:pt x="33477" y="33480"/>
                  </a:lnTo>
                  <a:lnTo>
                    <a:pt x="70559" y="8703"/>
                  </a:lnTo>
                  <a:lnTo>
                    <a:pt x="114300" y="0"/>
                  </a:lnTo>
                  <a:lnTo>
                    <a:pt x="106793" y="547"/>
                  </a:lnTo>
                  <a:lnTo>
                    <a:pt x="99431" y="2178"/>
                  </a:lnTo>
                  <a:lnTo>
                    <a:pt x="65982" y="25903"/>
                  </a:lnTo>
                  <a:lnTo>
                    <a:pt x="47107" y="60368"/>
                  </a:lnTo>
                  <a:lnTo>
                    <a:pt x="38462" y="103043"/>
                  </a:lnTo>
                  <a:lnTo>
                    <a:pt x="38100" y="114303"/>
                  </a:lnTo>
                  <a:lnTo>
                    <a:pt x="38100" y="1295403"/>
                  </a:lnTo>
                  <a:lnTo>
                    <a:pt x="43900" y="1339143"/>
                  </a:lnTo>
                  <a:lnTo>
                    <a:pt x="60418" y="1376225"/>
                  </a:lnTo>
                  <a:lnTo>
                    <a:pt x="92213" y="1404808"/>
                  </a:lnTo>
                  <a:lnTo>
                    <a:pt x="106793" y="1409159"/>
                  </a:lnTo>
                  <a:lnTo>
                    <a:pt x="114300" y="1409699"/>
                  </a:lnTo>
                  <a:close/>
                </a:path>
              </a:pathLst>
            </a:custGeom>
            <a:solidFill>
              <a:srgbClr val="164E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977900" y="6921500"/>
            <a:ext cx="2353310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HouseAge</a:t>
            </a:r>
            <a:r>
              <a:rPr sz="1500" b="1" spc="-45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&amp;</a:t>
            </a:r>
            <a:r>
              <a:rPr sz="1500" b="1" spc="-45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RemodAge</a:t>
            </a:r>
            <a:endParaRPr sz="1500">
              <a:latin typeface="Arial"/>
              <a:cs typeface="Arial"/>
            </a:endParaRPr>
          </a:p>
          <a:p>
            <a:pPr marL="12700" marR="505459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YrSold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-</a:t>
            </a:r>
            <a:r>
              <a:rPr sz="12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YearBuilt,</a:t>
            </a:r>
            <a:r>
              <a:rPr sz="12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YrSold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-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YearRemodAdd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Captures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aging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and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renovation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recency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4000499" y="3914768"/>
            <a:ext cx="3009900" cy="1181100"/>
            <a:chOff x="4000499" y="3914768"/>
            <a:chExt cx="3009900" cy="1181100"/>
          </a:xfrm>
        </p:grpSpPr>
        <p:sp>
          <p:nvSpPr>
            <p:cNvPr id="18" name="object 18"/>
            <p:cNvSpPr/>
            <p:nvPr/>
          </p:nvSpPr>
          <p:spPr>
            <a:xfrm>
              <a:off x="4019549" y="3914781"/>
              <a:ext cx="2990850" cy="1181100"/>
            </a:xfrm>
            <a:custGeom>
              <a:avLst/>
              <a:gdLst/>
              <a:ahLst/>
              <a:cxnLst/>
              <a:rect l="l" t="t" r="r" b="b"/>
              <a:pathLst>
                <a:path w="2990850" h="1181100">
                  <a:moveTo>
                    <a:pt x="2884054" y="1181080"/>
                  </a:moveTo>
                  <a:lnTo>
                    <a:pt x="88995" y="1181080"/>
                  </a:lnTo>
                  <a:lnTo>
                    <a:pt x="82801" y="1180346"/>
                  </a:lnTo>
                  <a:lnTo>
                    <a:pt x="37131" y="1157650"/>
                  </a:lnTo>
                  <a:lnTo>
                    <a:pt x="12577" y="1124042"/>
                  </a:lnTo>
                  <a:lnTo>
                    <a:pt x="610" y="1081719"/>
                  </a:lnTo>
                  <a:lnTo>
                    <a:pt x="0" y="1074297"/>
                  </a:lnTo>
                  <a:lnTo>
                    <a:pt x="0" y="1066790"/>
                  </a:lnTo>
                  <a:lnTo>
                    <a:pt x="0" y="106783"/>
                  </a:lnTo>
                  <a:lnTo>
                    <a:pt x="9643" y="63614"/>
                  </a:lnTo>
                  <a:lnTo>
                    <a:pt x="32320" y="28155"/>
                  </a:lnTo>
                  <a:lnTo>
                    <a:pt x="64577" y="5813"/>
                  </a:lnTo>
                  <a:lnTo>
                    <a:pt x="88995" y="0"/>
                  </a:lnTo>
                  <a:lnTo>
                    <a:pt x="2884054" y="0"/>
                  </a:lnTo>
                  <a:lnTo>
                    <a:pt x="2927224" y="11561"/>
                  </a:lnTo>
                  <a:lnTo>
                    <a:pt x="2962679" y="38769"/>
                  </a:lnTo>
                  <a:lnTo>
                    <a:pt x="2985020" y="77474"/>
                  </a:lnTo>
                  <a:lnTo>
                    <a:pt x="2990850" y="106783"/>
                  </a:lnTo>
                  <a:lnTo>
                    <a:pt x="2990850" y="1074297"/>
                  </a:lnTo>
                  <a:lnTo>
                    <a:pt x="2979276" y="1117448"/>
                  </a:lnTo>
                  <a:lnTo>
                    <a:pt x="2952065" y="1152915"/>
                  </a:lnTo>
                  <a:lnTo>
                    <a:pt x="2913356" y="1175258"/>
                  </a:lnTo>
                  <a:lnTo>
                    <a:pt x="2891487" y="1180346"/>
                  </a:lnTo>
                  <a:lnTo>
                    <a:pt x="2884054" y="1181080"/>
                  </a:lnTo>
                  <a:close/>
                </a:path>
              </a:pathLst>
            </a:custGeom>
            <a:solidFill>
              <a:srgbClr val="FFFFFF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4000499" y="3914768"/>
              <a:ext cx="114300" cy="1181100"/>
            </a:xfrm>
            <a:custGeom>
              <a:avLst/>
              <a:gdLst/>
              <a:ahLst/>
              <a:cxnLst/>
              <a:rect l="l" t="t" r="r" b="b"/>
              <a:pathLst>
                <a:path w="114300" h="1181100">
                  <a:moveTo>
                    <a:pt x="114300" y="1181099"/>
                  </a:moveTo>
                  <a:lnTo>
                    <a:pt x="70559" y="1172402"/>
                  </a:lnTo>
                  <a:lnTo>
                    <a:pt x="33477" y="1147625"/>
                  </a:lnTo>
                  <a:lnTo>
                    <a:pt x="8700" y="1110543"/>
                  </a:lnTo>
                  <a:lnTo>
                    <a:pt x="0" y="1066803"/>
                  </a:lnTo>
                  <a:lnTo>
                    <a:pt x="0" y="114303"/>
                  </a:lnTo>
                  <a:lnTo>
                    <a:pt x="8700" y="70562"/>
                  </a:lnTo>
                  <a:lnTo>
                    <a:pt x="33477" y="33480"/>
                  </a:lnTo>
                  <a:lnTo>
                    <a:pt x="70559" y="8703"/>
                  </a:lnTo>
                  <a:lnTo>
                    <a:pt x="114300" y="0"/>
                  </a:lnTo>
                  <a:lnTo>
                    <a:pt x="106793" y="546"/>
                  </a:lnTo>
                  <a:lnTo>
                    <a:pt x="99431" y="2178"/>
                  </a:lnTo>
                  <a:lnTo>
                    <a:pt x="65982" y="25903"/>
                  </a:lnTo>
                  <a:lnTo>
                    <a:pt x="47108" y="60367"/>
                  </a:lnTo>
                  <a:lnTo>
                    <a:pt x="38462" y="103043"/>
                  </a:lnTo>
                  <a:lnTo>
                    <a:pt x="38100" y="114303"/>
                  </a:lnTo>
                  <a:lnTo>
                    <a:pt x="38100" y="1066803"/>
                  </a:lnTo>
                  <a:lnTo>
                    <a:pt x="43900" y="1110543"/>
                  </a:lnTo>
                  <a:lnTo>
                    <a:pt x="60418" y="1147625"/>
                  </a:lnTo>
                  <a:lnTo>
                    <a:pt x="92213" y="1176209"/>
                  </a:lnTo>
                  <a:lnTo>
                    <a:pt x="106793" y="1180559"/>
                  </a:lnTo>
                  <a:lnTo>
                    <a:pt x="114300" y="1181099"/>
                  </a:lnTo>
                  <a:close/>
                </a:path>
              </a:pathLst>
            </a:custGeom>
            <a:solidFill>
              <a:srgbClr val="1CC8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4216400" y="4102100"/>
            <a:ext cx="1821180" cy="7950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OverallQualArea</a:t>
            </a:r>
            <a:endParaRPr sz="1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0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= OverallQual ×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GrLivArea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Quality-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size</a:t>
            </a:r>
            <a:r>
              <a:rPr sz="1050" spc="-1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interaction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term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4000499" y="5210168"/>
            <a:ext cx="3009900" cy="1409700"/>
            <a:chOff x="4000499" y="5210168"/>
            <a:chExt cx="3009900" cy="1409700"/>
          </a:xfrm>
        </p:grpSpPr>
        <p:sp>
          <p:nvSpPr>
            <p:cNvPr id="22" name="object 22"/>
            <p:cNvSpPr/>
            <p:nvPr/>
          </p:nvSpPr>
          <p:spPr>
            <a:xfrm>
              <a:off x="4019549" y="5210171"/>
              <a:ext cx="2990850" cy="1409700"/>
            </a:xfrm>
            <a:custGeom>
              <a:avLst/>
              <a:gdLst/>
              <a:ahLst/>
              <a:cxnLst/>
              <a:rect l="l" t="t" r="r" b="b"/>
              <a:pathLst>
                <a:path w="2990850" h="1409700">
                  <a:moveTo>
                    <a:pt x="2884054" y="1409690"/>
                  </a:moveTo>
                  <a:lnTo>
                    <a:pt x="88995" y="1409690"/>
                  </a:lnTo>
                  <a:lnTo>
                    <a:pt x="82801" y="1408955"/>
                  </a:lnTo>
                  <a:lnTo>
                    <a:pt x="37131" y="1386259"/>
                  </a:lnTo>
                  <a:lnTo>
                    <a:pt x="12577" y="1352643"/>
                  </a:lnTo>
                  <a:lnTo>
                    <a:pt x="610" y="1310329"/>
                  </a:lnTo>
                  <a:lnTo>
                    <a:pt x="0" y="1302906"/>
                  </a:lnTo>
                  <a:lnTo>
                    <a:pt x="0" y="1295399"/>
                  </a:lnTo>
                  <a:lnTo>
                    <a:pt x="0" y="106793"/>
                  </a:lnTo>
                  <a:lnTo>
                    <a:pt x="9643" y="63614"/>
                  </a:lnTo>
                  <a:lnTo>
                    <a:pt x="32320" y="28165"/>
                  </a:lnTo>
                  <a:lnTo>
                    <a:pt x="64577" y="5814"/>
                  </a:lnTo>
                  <a:lnTo>
                    <a:pt x="88995" y="0"/>
                  </a:lnTo>
                  <a:lnTo>
                    <a:pt x="2884054" y="0"/>
                  </a:lnTo>
                  <a:lnTo>
                    <a:pt x="2927224" y="11562"/>
                  </a:lnTo>
                  <a:lnTo>
                    <a:pt x="2962679" y="38769"/>
                  </a:lnTo>
                  <a:lnTo>
                    <a:pt x="2985020" y="77474"/>
                  </a:lnTo>
                  <a:lnTo>
                    <a:pt x="2990850" y="106793"/>
                  </a:lnTo>
                  <a:lnTo>
                    <a:pt x="2990850" y="1302906"/>
                  </a:lnTo>
                  <a:lnTo>
                    <a:pt x="2979276" y="1346057"/>
                  </a:lnTo>
                  <a:lnTo>
                    <a:pt x="2952065" y="1381524"/>
                  </a:lnTo>
                  <a:lnTo>
                    <a:pt x="2913356" y="1403858"/>
                  </a:lnTo>
                  <a:lnTo>
                    <a:pt x="2891487" y="1408955"/>
                  </a:lnTo>
                  <a:lnTo>
                    <a:pt x="2884054" y="1409690"/>
                  </a:lnTo>
                  <a:close/>
                </a:path>
              </a:pathLst>
            </a:custGeom>
            <a:solidFill>
              <a:srgbClr val="FFFFFF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4000499" y="5210168"/>
              <a:ext cx="114300" cy="1409700"/>
            </a:xfrm>
            <a:custGeom>
              <a:avLst/>
              <a:gdLst/>
              <a:ahLst/>
              <a:cxnLst/>
              <a:rect l="l" t="t" r="r" b="b"/>
              <a:pathLst>
                <a:path w="114300" h="1409700">
                  <a:moveTo>
                    <a:pt x="114300" y="1409699"/>
                  </a:moveTo>
                  <a:lnTo>
                    <a:pt x="70559" y="1401002"/>
                  </a:lnTo>
                  <a:lnTo>
                    <a:pt x="33477" y="1376225"/>
                  </a:lnTo>
                  <a:lnTo>
                    <a:pt x="8700" y="1339143"/>
                  </a:lnTo>
                  <a:lnTo>
                    <a:pt x="0" y="1295403"/>
                  </a:lnTo>
                  <a:lnTo>
                    <a:pt x="0" y="114303"/>
                  </a:lnTo>
                  <a:lnTo>
                    <a:pt x="8700" y="70562"/>
                  </a:lnTo>
                  <a:lnTo>
                    <a:pt x="33477" y="33480"/>
                  </a:lnTo>
                  <a:lnTo>
                    <a:pt x="70559" y="8703"/>
                  </a:lnTo>
                  <a:lnTo>
                    <a:pt x="114300" y="0"/>
                  </a:lnTo>
                  <a:lnTo>
                    <a:pt x="106793" y="547"/>
                  </a:lnTo>
                  <a:lnTo>
                    <a:pt x="99431" y="2178"/>
                  </a:lnTo>
                  <a:lnTo>
                    <a:pt x="65982" y="25903"/>
                  </a:lnTo>
                  <a:lnTo>
                    <a:pt x="47108" y="60368"/>
                  </a:lnTo>
                  <a:lnTo>
                    <a:pt x="38462" y="103043"/>
                  </a:lnTo>
                  <a:lnTo>
                    <a:pt x="38100" y="114303"/>
                  </a:lnTo>
                  <a:lnTo>
                    <a:pt x="38100" y="1295403"/>
                  </a:lnTo>
                  <a:lnTo>
                    <a:pt x="43900" y="1339143"/>
                  </a:lnTo>
                  <a:lnTo>
                    <a:pt x="60418" y="1376225"/>
                  </a:lnTo>
                  <a:lnTo>
                    <a:pt x="92213" y="1404808"/>
                  </a:lnTo>
                  <a:lnTo>
                    <a:pt x="106793" y="1409159"/>
                  </a:lnTo>
                  <a:lnTo>
                    <a:pt x="114300" y="1409699"/>
                  </a:lnTo>
                  <a:close/>
                </a:path>
              </a:pathLst>
            </a:custGeom>
            <a:solidFill>
              <a:srgbClr val="1CC8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4216400" y="5397499"/>
            <a:ext cx="2113915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QualityScore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= OverallQual + OverallCond 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+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KitchenQual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Composite</a:t>
            </a:r>
            <a:r>
              <a:rPr sz="1050" spc="-4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quality</a:t>
            </a:r>
            <a:r>
              <a:rPr sz="1050" spc="-4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metric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4000499" y="6734168"/>
            <a:ext cx="3009900" cy="1409700"/>
            <a:chOff x="4000499" y="6734168"/>
            <a:chExt cx="3009900" cy="1409700"/>
          </a:xfrm>
        </p:grpSpPr>
        <p:sp>
          <p:nvSpPr>
            <p:cNvPr id="26" name="object 26"/>
            <p:cNvSpPr/>
            <p:nvPr/>
          </p:nvSpPr>
          <p:spPr>
            <a:xfrm>
              <a:off x="4019549" y="6734181"/>
              <a:ext cx="2990850" cy="1409700"/>
            </a:xfrm>
            <a:custGeom>
              <a:avLst/>
              <a:gdLst/>
              <a:ahLst/>
              <a:cxnLst/>
              <a:rect l="l" t="t" r="r" b="b"/>
              <a:pathLst>
                <a:path w="2990850" h="1409700">
                  <a:moveTo>
                    <a:pt x="2884054" y="1409690"/>
                  </a:moveTo>
                  <a:lnTo>
                    <a:pt x="88995" y="1409690"/>
                  </a:lnTo>
                  <a:lnTo>
                    <a:pt x="82801" y="1408955"/>
                  </a:lnTo>
                  <a:lnTo>
                    <a:pt x="37131" y="1386240"/>
                  </a:lnTo>
                  <a:lnTo>
                    <a:pt x="12577" y="1352633"/>
                  </a:lnTo>
                  <a:lnTo>
                    <a:pt x="610" y="1310329"/>
                  </a:lnTo>
                  <a:lnTo>
                    <a:pt x="0" y="1302897"/>
                  </a:lnTo>
                  <a:lnTo>
                    <a:pt x="0" y="1295390"/>
                  </a:lnTo>
                  <a:lnTo>
                    <a:pt x="0" y="106783"/>
                  </a:lnTo>
                  <a:lnTo>
                    <a:pt x="9643" y="63614"/>
                  </a:lnTo>
                  <a:lnTo>
                    <a:pt x="32320" y="28155"/>
                  </a:lnTo>
                  <a:lnTo>
                    <a:pt x="64577" y="5804"/>
                  </a:lnTo>
                  <a:lnTo>
                    <a:pt x="88995" y="0"/>
                  </a:lnTo>
                  <a:lnTo>
                    <a:pt x="2884054" y="0"/>
                  </a:lnTo>
                  <a:lnTo>
                    <a:pt x="2927224" y="11552"/>
                  </a:lnTo>
                  <a:lnTo>
                    <a:pt x="2962679" y="38769"/>
                  </a:lnTo>
                  <a:lnTo>
                    <a:pt x="2985020" y="77474"/>
                  </a:lnTo>
                  <a:lnTo>
                    <a:pt x="2990850" y="106783"/>
                  </a:lnTo>
                  <a:lnTo>
                    <a:pt x="2990850" y="1302897"/>
                  </a:lnTo>
                  <a:lnTo>
                    <a:pt x="2979276" y="1346048"/>
                  </a:lnTo>
                  <a:lnTo>
                    <a:pt x="2952065" y="1381505"/>
                  </a:lnTo>
                  <a:lnTo>
                    <a:pt x="2913356" y="1403848"/>
                  </a:lnTo>
                  <a:lnTo>
                    <a:pt x="2891487" y="1408955"/>
                  </a:lnTo>
                  <a:lnTo>
                    <a:pt x="2884054" y="1409690"/>
                  </a:lnTo>
                  <a:close/>
                </a:path>
              </a:pathLst>
            </a:custGeom>
            <a:solidFill>
              <a:srgbClr val="FFFFFF">
                <a:alpha val="8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4000499" y="6734168"/>
              <a:ext cx="114300" cy="1409700"/>
            </a:xfrm>
            <a:custGeom>
              <a:avLst/>
              <a:gdLst/>
              <a:ahLst/>
              <a:cxnLst/>
              <a:rect l="l" t="t" r="r" b="b"/>
              <a:pathLst>
                <a:path w="114300" h="1409700">
                  <a:moveTo>
                    <a:pt x="114300" y="1409699"/>
                  </a:moveTo>
                  <a:lnTo>
                    <a:pt x="70559" y="1401002"/>
                  </a:lnTo>
                  <a:lnTo>
                    <a:pt x="33477" y="1376225"/>
                  </a:lnTo>
                  <a:lnTo>
                    <a:pt x="8700" y="1339143"/>
                  </a:lnTo>
                  <a:lnTo>
                    <a:pt x="0" y="1295403"/>
                  </a:lnTo>
                  <a:lnTo>
                    <a:pt x="0" y="114303"/>
                  </a:lnTo>
                  <a:lnTo>
                    <a:pt x="8700" y="70562"/>
                  </a:lnTo>
                  <a:lnTo>
                    <a:pt x="33477" y="33480"/>
                  </a:lnTo>
                  <a:lnTo>
                    <a:pt x="70559" y="8703"/>
                  </a:lnTo>
                  <a:lnTo>
                    <a:pt x="114300" y="0"/>
                  </a:lnTo>
                  <a:lnTo>
                    <a:pt x="106793" y="547"/>
                  </a:lnTo>
                  <a:lnTo>
                    <a:pt x="99431" y="2178"/>
                  </a:lnTo>
                  <a:lnTo>
                    <a:pt x="65982" y="25903"/>
                  </a:lnTo>
                  <a:lnTo>
                    <a:pt x="47108" y="60368"/>
                  </a:lnTo>
                  <a:lnTo>
                    <a:pt x="38462" y="103043"/>
                  </a:lnTo>
                  <a:lnTo>
                    <a:pt x="38100" y="114303"/>
                  </a:lnTo>
                  <a:lnTo>
                    <a:pt x="38100" y="1295403"/>
                  </a:lnTo>
                  <a:lnTo>
                    <a:pt x="43900" y="1339143"/>
                  </a:lnTo>
                  <a:lnTo>
                    <a:pt x="60418" y="1376225"/>
                  </a:lnTo>
                  <a:lnTo>
                    <a:pt x="92213" y="1404808"/>
                  </a:lnTo>
                  <a:lnTo>
                    <a:pt x="106793" y="1409159"/>
                  </a:lnTo>
                  <a:lnTo>
                    <a:pt x="114300" y="1409699"/>
                  </a:lnTo>
                  <a:close/>
                </a:path>
              </a:pathLst>
            </a:custGeom>
            <a:solidFill>
              <a:srgbClr val="1CC8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4216400" y="6921500"/>
            <a:ext cx="2453005" cy="10236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TotalPorch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= OpenPorchSF + EnclosedPorch 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+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3SsnPorch +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ScreenPorch</a:t>
            </a:r>
            <a:endParaRPr sz="12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660"/>
              </a:spcBef>
            </a:pP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Total</a:t>
            </a:r>
            <a:r>
              <a:rPr sz="1050" spc="-5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outdoor/porch</a:t>
            </a:r>
            <a:r>
              <a:rPr sz="1050" spc="-5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area</a:t>
            </a:r>
            <a:endParaRPr sz="10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49299" y="2854325"/>
            <a:ext cx="501777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Categorical Encoding </a:t>
            </a:r>
            <a:r>
              <a:rPr spc="-10" dirty="0"/>
              <a:t>Strategy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3590921"/>
            <a:ext cx="1933574" cy="411479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77900" y="4526915"/>
            <a:ext cx="1302385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For features </a:t>
            </a:r>
            <a:r>
              <a:rPr sz="1350" spc="-20" dirty="0">
                <a:solidFill>
                  <a:srgbClr val="1C242F"/>
                </a:solidFill>
                <a:latin typeface="Arial MT"/>
                <a:cs typeface="Arial MT"/>
              </a:rPr>
              <a:t>with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natural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ordering: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77900" y="5218430"/>
            <a:ext cx="1473835" cy="2235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marR="5080" indent="-228600">
              <a:lnSpc>
                <a:spcPct val="125000"/>
              </a:lnSpc>
              <a:spcBef>
                <a:spcPts val="100"/>
              </a:spcBef>
            </a:pPr>
            <a:r>
              <a:rPr sz="120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200" spc="265" dirty="0">
                <a:solidFill>
                  <a:srgbClr val="1CC8C8"/>
                </a:solidFill>
                <a:latin typeface="Arial MT"/>
                <a:cs typeface="Arial MT"/>
              </a:rPr>
              <a:t> </a:t>
            </a: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ExterQual: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Ex(5),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Gd(4),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TA(3),</a:t>
            </a:r>
            <a:endParaRPr sz="1200">
              <a:latin typeface="Arial MT"/>
              <a:cs typeface="Arial MT"/>
            </a:endParaRPr>
          </a:p>
          <a:p>
            <a:pPr marL="240665">
              <a:lnSpc>
                <a:spcPct val="100000"/>
              </a:lnSpc>
              <a:spcBef>
                <a:spcPts val="359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Fa(2),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Po(1)</a:t>
            </a:r>
            <a:endParaRPr sz="1200">
              <a:latin typeface="Arial MT"/>
              <a:cs typeface="Arial MT"/>
            </a:endParaRPr>
          </a:p>
          <a:p>
            <a:pPr marL="240665" marR="29845" indent="-228600">
              <a:lnSpc>
                <a:spcPct val="125000"/>
              </a:lnSpc>
              <a:spcBef>
                <a:spcPts val="600"/>
              </a:spcBef>
            </a:pPr>
            <a:r>
              <a:rPr sz="120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200" spc="265" dirty="0">
                <a:solidFill>
                  <a:srgbClr val="1CC8C8"/>
                </a:solidFill>
                <a:latin typeface="Arial MT"/>
                <a:cs typeface="Arial MT"/>
              </a:rPr>
              <a:t> </a:t>
            </a:r>
            <a:r>
              <a:rPr sz="1200" b="1" spc="-10" dirty="0">
                <a:solidFill>
                  <a:srgbClr val="1C242F"/>
                </a:solidFill>
                <a:latin typeface="Arial"/>
                <a:cs typeface="Arial"/>
              </a:rPr>
              <a:t>BsmtQual: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Excellent to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None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(5-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0)</a:t>
            </a:r>
            <a:endParaRPr sz="1200">
              <a:latin typeface="Arial MT"/>
              <a:cs typeface="Arial MT"/>
            </a:endParaRPr>
          </a:p>
          <a:p>
            <a:pPr marL="240665" marR="199390" indent="-228600">
              <a:lnSpc>
                <a:spcPct val="125000"/>
              </a:lnSpc>
              <a:spcBef>
                <a:spcPts val="600"/>
              </a:spcBef>
            </a:pPr>
            <a:r>
              <a:rPr sz="120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200" spc="265" dirty="0">
                <a:solidFill>
                  <a:srgbClr val="1CC8C8"/>
                </a:solidFill>
                <a:latin typeface="Arial MT"/>
                <a:cs typeface="Arial MT"/>
              </a:rPr>
              <a:t> </a:t>
            </a:r>
            <a:r>
              <a:rPr sz="1200" b="1" spc="-10" dirty="0">
                <a:solidFill>
                  <a:srgbClr val="1C242F"/>
                </a:solidFill>
                <a:latin typeface="Arial"/>
                <a:cs typeface="Arial"/>
              </a:rPr>
              <a:t>GarageFinish: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Fin, RFn,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Unf, None</a:t>
            </a:r>
            <a:endParaRPr sz="1200">
              <a:latin typeface="Arial MT"/>
              <a:cs typeface="Arial MT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924174" y="3590921"/>
            <a:ext cx="1924049" cy="411479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3136800" y="4526915"/>
            <a:ext cx="93091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nominal categories: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136800" y="5218430"/>
            <a:ext cx="1490980" cy="22504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9"/>
              </a:spcBef>
            </a:pPr>
            <a:r>
              <a:rPr sz="1200" dirty="0">
                <a:solidFill>
                  <a:srgbClr val="164E9C"/>
                </a:solidFill>
                <a:latin typeface="Arial MT"/>
                <a:cs typeface="Arial MT"/>
              </a:rPr>
              <a:t>→</a:t>
            </a:r>
            <a:r>
              <a:rPr sz="1200" spc="265" dirty="0">
                <a:solidFill>
                  <a:srgbClr val="164E9C"/>
                </a:solidFill>
                <a:latin typeface="Arial MT"/>
                <a:cs typeface="Arial MT"/>
              </a:rPr>
              <a:t> </a:t>
            </a:r>
            <a:r>
              <a:rPr sz="1200" b="1" spc="-10" dirty="0">
                <a:solidFill>
                  <a:srgbClr val="1C242F"/>
                </a:solidFill>
                <a:latin typeface="Arial"/>
                <a:cs typeface="Arial"/>
              </a:rPr>
              <a:t>Neighborhood:</a:t>
            </a:r>
            <a:endParaRPr sz="1200">
              <a:latin typeface="Arial"/>
              <a:cs typeface="Arial"/>
            </a:endParaRPr>
          </a:p>
          <a:p>
            <a:pPr marL="240665">
              <a:lnSpc>
                <a:spcPct val="100000"/>
              </a:lnSpc>
              <a:spcBef>
                <a:spcPts val="359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25 unique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areas</a:t>
            </a:r>
            <a:endParaRPr sz="1200">
              <a:latin typeface="Arial MT"/>
              <a:cs typeface="Arial MT"/>
            </a:endParaRPr>
          </a:p>
          <a:p>
            <a:pPr marL="240665" marR="5080" indent="-228600">
              <a:lnSpc>
                <a:spcPct val="125000"/>
              </a:lnSpc>
              <a:spcBef>
                <a:spcPts val="600"/>
              </a:spcBef>
            </a:pPr>
            <a:r>
              <a:rPr sz="1200" dirty="0">
                <a:solidFill>
                  <a:srgbClr val="164E9C"/>
                </a:solidFill>
                <a:latin typeface="Arial MT"/>
                <a:cs typeface="Arial MT"/>
              </a:rPr>
              <a:t>→</a:t>
            </a:r>
            <a:r>
              <a:rPr sz="1200" spc="265" dirty="0">
                <a:solidFill>
                  <a:srgbClr val="164E9C"/>
                </a:solidFill>
                <a:latin typeface="Arial MT"/>
                <a:cs typeface="Arial MT"/>
              </a:rPr>
              <a:t> </a:t>
            </a: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HouseStyle: 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8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architectural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types</a:t>
            </a:r>
            <a:endParaRPr sz="1200">
              <a:latin typeface="Arial MT"/>
              <a:cs typeface="Arial MT"/>
            </a:endParaRPr>
          </a:p>
          <a:p>
            <a:pPr marL="240665" marR="302260" indent="-228600">
              <a:lnSpc>
                <a:spcPct val="125000"/>
              </a:lnSpc>
              <a:spcBef>
                <a:spcPts val="600"/>
              </a:spcBef>
            </a:pPr>
            <a:r>
              <a:rPr sz="1200" dirty="0">
                <a:solidFill>
                  <a:srgbClr val="164E9C"/>
                </a:solidFill>
                <a:latin typeface="Arial MT"/>
                <a:cs typeface="Arial MT"/>
              </a:rPr>
              <a:t>→</a:t>
            </a:r>
            <a:r>
              <a:rPr sz="1200" spc="225" dirty="0">
                <a:solidFill>
                  <a:srgbClr val="164E9C"/>
                </a:solidFill>
                <a:latin typeface="Arial MT"/>
                <a:cs typeface="Arial MT"/>
              </a:rPr>
              <a:t> </a:t>
            </a: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MSZoning:</a:t>
            </a:r>
            <a:r>
              <a:rPr sz="1200" b="1" spc="-2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5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zoning classifications</a:t>
            </a:r>
            <a:endParaRPr sz="1200">
              <a:latin typeface="Arial MT"/>
              <a:cs typeface="Arial MT"/>
            </a:endParaRPr>
          </a:p>
          <a:p>
            <a:pPr marL="12700" marR="180340">
              <a:lnSpc>
                <a:spcPct val="119000"/>
              </a:lnSpc>
              <a:spcBef>
                <a:spcPts val="720"/>
              </a:spcBef>
            </a:pP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Train/Test</a:t>
            </a:r>
            <a:r>
              <a:rPr sz="1050" spc="1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alignment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automatically</a:t>
            </a:r>
            <a:r>
              <a:rPr sz="1050" spc="-6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handled</a:t>
            </a:r>
            <a:endParaRPr sz="1050">
              <a:latin typeface="Arial MT"/>
              <a:cs typeface="Arial MT"/>
            </a:endParaRPr>
          </a:p>
        </p:txBody>
      </p:sp>
      <p:pic>
        <p:nvPicPr>
          <p:cNvPr id="9" name="object 9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076824" y="3590921"/>
            <a:ext cx="1933575" cy="411479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5295850" y="3776345"/>
            <a:ext cx="1101090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1C242F"/>
                </a:solidFill>
                <a:latin typeface="Arial"/>
                <a:cs typeface="Arial"/>
              </a:rPr>
              <a:t>Train-</a:t>
            </a:r>
            <a:r>
              <a:rPr sz="1800" b="1" spc="-45" dirty="0">
                <a:solidFill>
                  <a:srgbClr val="1C242F"/>
                </a:solidFill>
                <a:latin typeface="Arial"/>
                <a:cs typeface="Arial"/>
              </a:rPr>
              <a:t>Test </a:t>
            </a:r>
            <a:r>
              <a:rPr sz="1800" b="1" spc="-10" dirty="0">
                <a:solidFill>
                  <a:srgbClr val="1C242F"/>
                </a:solidFill>
                <a:latin typeface="Arial"/>
                <a:cs typeface="Arial"/>
              </a:rPr>
              <a:t>Split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5295850" y="4526915"/>
            <a:ext cx="1054735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80/20 split 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validation: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295850" y="5218430"/>
            <a:ext cx="1490980" cy="1778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665" marR="148590" indent="-228600">
              <a:lnSpc>
                <a:spcPct val="125000"/>
              </a:lnSpc>
              <a:spcBef>
                <a:spcPts val="100"/>
              </a:spcBef>
            </a:pPr>
            <a:r>
              <a:rPr sz="120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200" spc="265" dirty="0">
                <a:solidFill>
                  <a:srgbClr val="1CC8C8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80% training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set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for model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fitting</a:t>
            </a:r>
            <a:endParaRPr sz="1200">
              <a:latin typeface="Arial MT"/>
              <a:cs typeface="Arial MT"/>
            </a:endParaRPr>
          </a:p>
          <a:p>
            <a:pPr marL="240665" marR="5080" indent="-228600">
              <a:lnSpc>
                <a:spcPct val="125000"/>
              </a:lnSpc>
              <a:spcBef>
                <a:spcPts val="600"/>
              </a:spcBef>
            </a:pPr>
            <a:r>
              <a:rPr sz="120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200" spc="265" dirty="0">
                <a:solidFill>
                  <a:srgbClr val="1CC8C8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20% validation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set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evaluation</a:t>
            </a:r>
            <a:endParaRPr sz="1200">
              <a:latin typeface="Arial MT"/>
              <a:cs typeface="Arial MT"/>
            </a:endParaRPr>
          </a:p>
          <a:p>
            <a:pPr marL="240665" marR="284480" indent="-228600">
              <a:lnSpc>
                <a:spcPct val="125000"/>
              </a:lnSpc>
              <a:spcBef>
                <a:spcPts val="600"/>
              </a:spcBef>
            </a:pPr>
            <a:r>
              <a:rPr sz="120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200" spc="265" dirty="0">
                <a:solidFill>
                  <a:srgbClr val="1CC8C8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5-fold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cross-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validation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robust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metrics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96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7366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</a:t>
            </a:r>
            <a:r>
              <a:rPr spc="-35" dirty="0"/>
              <a:t> </a:t>
            </a:r>
            <a:r>
              <a:rPr dirty="0"/>
              <a:t>Development</a:t>
            </a:r>
            <a:r>
              <a:rPr spc="-30" dirty="0"/>
              <a:t> </a:t>
            </a:r>
            <a:r>
              <a:rPr dirty="0"/>
              <a:t>&amp;</a:t>
            </a:r>
            <a:r>
              <a:rPr spc="-25" dirty="0"/>
              <a:t> </a:t>
            </a:r>
            <a:r>
              <a:rPr spc="-10" dirty="0"/>
              <a:t>Comparison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773535" y="2625725"/>
            <a:ext cx="422529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5-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Fold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Cross-Validation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Performance</a:t>
            </a:r>
            <a:r>
              <a:rPr sz="1500" spc="-5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Comparison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761999" y="3124195"/>
            <a:ext cx="3048000" cy="1581150"/>
            <a:chOff x="761999" y="3124195"/>
            <a:chExt cx="3048000" cy="1581150"/>
          </a:xfrm>
        </p:grpSpPr>
        <p:sp>
          <p:nvSpPr>
            <p:cNvPr id="6" name="object 6"/>
            <p:cNvSpPr/>
            <p:nvPr/>
          </p:nvSpPr>
          <p:spPr>
            <a:xfrm>
              <a:off x="766762" y="3128958"/>
              <a:ext cx="3038475" cy="1571625"/>
            </a:xfrm>
            <a:custGeom>
              <a:avLst/>
              <a:gdLst/>
              <a:ahLst/>
              <a:cxnLst/>
              <a:rect l="l" t="t" r="r" b="b"/>
              <a:pathLst>
                <a:path w="3038475" h="1571625">
                  <a:moveTo>
                    <a:pt x="2936129" y="1571624"/>
                  </a:moveTo>
                  <a:lnTo>
                    <a:pt x="102345" y="1571624"/>
                  </a:lnTo>
                  <a:lnTo>
                    <a:pt x="95221" y="1570918"/>
                  </a:lnTo>
                  <a:lnTo>
                    <a:pt x="54661" y="1557142"/>
                  </a:lnTo>
                  <a:lnTo>
                    <a:pt x="22456" y="1528920"/>
                  </a:lnTo>
                  <a:lnTo>
                    <a:pt x="3507" y="1490504"/>
                  </a:lnTo>
                  <a:lnTo>
                    <a:pt x="0" y="1469277"/>
                  </a:lnTo>
                  <a:lnTo>
                    <a:pt x="0" y="1462087"/>
                  </a:lnTo>
                  <a:lnTo>
                    <a:pt x="0" y="102337"/>
                  </a:lnTo>
                  <a:lnTo>
                    <a:pt x="11090" y="60954"/>
                  </a:lnTo>
                  <a:lnTo>
                    <a:pt x="37168" y="26984"/>
                  </a:lnTo>
                  <a:lnTo>
                    <a:pt x="74264" y="5572"/>
                  </a:lnTo>
                  <a:lnTo>
                    <a:pt x="102345" y="0"/>
                  </a:lnTo>
                  <a:lnTo>
                    <a:pt x="2936129" y="0"/>
                  </a:lnTo>
                  <a:lnTo>
                    <a:pt x="2977499" y="11088"/>
                  </a:lnTo>
                  <a:lnTo>
                    <a:pt x="3011477" y="37160"/>
                  </a:lnTo>
                  <a:lnTo>
                    <a:pt x="3032888" y="74246"/>
                  </a:lnTo>
                  <a:lnTo>
                    <a:pt x="3038474" y="102337"/>
                  </a:lnTo>
                  <a:lnTo>
                    <a:pt x="3038474" y="1469277"/>
                  </a:lnTo>
                  <a:lnTo>
                    <a:pt x="3027383" y="1510642"/>
                  </a:lnTo>
                  <a:lnTo>
                    <a:pt x="3001305" y="1544621"/>
                  </a:lnTo>
                  <a:lnTo>
                    <a:pt x="2964210" y="1566025"/>
                  </a:lnTo>
                  <a:lnTo>
                    <a:pt x="2943252" y="1570918"/>
                  </a:lnTo>
                  <a:lnTo>
                    <a:pt x="2936129" y="1571624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766762" y="3128958"/>
              <a:ext cx="3038475" cy="1571625"/>
            </a:xfrm>
            <a:custGeom>
              <a:avLst/>
              <a:gdLst/>
              <a:ahLst/>
              <a:cxnLst/>
              <a:rect l="l" t="t" r="r" b="b"/>
              <a:pathLst>
                <a:path w="3038475" h="1571625">
                  <a:moveTo>
                    <a:pt x="0" y="1462087"/>
                  </a:moveTo>
                  <a:lnTo>
                    <a:pt x="0" y="109537"/>
                  </a:lnTo>
                  <a:lnTo>
                    <a:pt x="0" y="102337"/>
                  </a:lnTo>
                  <a:lnTo>
                    <a:pt x="701" y="95212"/>
                  </a:lnTo>
                  <a:lnTo>
                    <a:pt x="2104" y="88162"/>
                  </a:lnTo>
                  <a:lnTo>
                    <a:pt x="3507" y="81101"/>
                  </a:lnTo>
                  <a:lnTo>
                    <a:pt x="5585" y="74246"/>
                  </a:lnTo>
                  <a:lnTo>
                    <a:pt x="8338" y="67605"/>
                  </a:lnTo>
                  <a:lnTo>
                    <a:pt x="11090" y="60954"/>
                  </a:lnTo>
                  <a:lnTo>
                    <a:pt x="14464" y="54647"/>
                  </a:lnTo>
                  <a:lnTo>
                    <a:pt x="18460" y="48667"/>
                  </a:lnTo>
                  <a:lnTo>
                    <a:pt x="22456" y="42685"/>
                  </a:lnTo>
                  <a:lnTo>
                    <a:pt x="26997" y="37160"/>
                  </a:lnTo>
                  <a:lnTo>
                    <a:pt x="60974" y="11088"/>
                  </a:lnTo>
                  <a:lnTo>
                    <a:pt x="88167" y="2102"/>
                  </a:lnTo>
                  <a:lnTo>
                    <a:pt x="95221" y="697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2928937" y="0"/>
                  </a:lnTo>
                  <a:lnTo>
                    <a:pt x="2936129" y="0"/>
                  </a:lnTo>
                  <a:lnTo>
                    <a:pt x="2943252" y="697"/>
                  </a:lnTo>
                  <a:lnTo>
                    <a:pt x="2950306" y="2102"/>
                  </a:lnTo>
                  <a:lnTo>
                    <a:pt x="2957360" y="3497"/>
                  </a:lnTo>
                  <a:lnTo>
                    <a:pt x="2995772" y="22444"/>
                  </a:lnTo>
                  <a:lnTo>
                    <a:pt x="3020014" y="48667"/>
                  </a:lnTo>
                  <a:lnTo>
                    <a:pt x="3024009" y="54647"/>
                  </a:lnTo>
                  <a:lnTo>
                    <a:pt x="3027383" y="60954"/>
                  </a:lnTo>
                  <a:lnTo>
                    <a:pt x="3030136" y="67605"/>
                  </a:lnTo>
                  <a:lnTo>
                    <a:pt x="3032888" y="74246"/>
                  </a:lnTo>
                  <a:lnTo>
                    <a:pt x="3034966" y="81101"/>
                  </a:lnTo>
                  <a:lnTo>
                    <a:pt x="3036369" y="88162"/>
                  </a:lnTo>
                  <a:lnTo>
                    <a:pt x="3037772" y="95212"/>
                  </a:lnTo>
                  <a:lnTo>
                    <a:pt x="3038474" y="102337"/>
                  </a:lnTo>
                  <a:lnTo>
                    <a:pt x="3038474" y="109537"/>
                  </a:lnTo>
                  <a:lnTo>
                    <a:pt x="3038474" y="1462087"/>
                  </a:lnTo>
                  <a:lnTo>
                    <a:pt x="3038474" y="1469277"/>
                  </a:lnTo>
                  <a:lnTo>
                    <a:pt x="3037772" y="1476393"/>
                  </a:lnTo>
                  <a:lnTo>
                    <a:pt x="3036369" y="1483444"/>
                  </a:lnTo>
                  <a:lnTo>
                    <a:pt x="3034966" y="1490504"/>
                  </a:lnTo>
                  <a:lnTo>
                    <a:pt x="3032888" y="1497349"/>
                  </a:lnTo>
                  <a:lnTo>
                    <a:pt x="3030136" y="1503991"/>
                  </a:lnTo>
                  <a:lnTo>
                    <a:pt x="3027383" y="1510642"/>
                  </a:lnTo>
                  <a:lnTo>
                    <a:pt x="3001305" y="1544621"/>
                  </a:lnTo>
                  <a:lnTo>
                    <a:pt x="2989792" y="1553151"/>
                  </a:lnTo>
                  <a:lnTo>
                    <a:pt x="2983812" y="1557142"/>
                  </a:lnTo>
                  <a:lnTo>
                    <a:pt x="2977499" y="1560518"/>
                  </a:lnTo>
                  <a:lnTo>
                    <a:pt x="2970855" y="1563271"/>
                  </a:lnTo>
                  <a:lnTo>
                    <a:pt x="2964210" y="1566025"/>
                  </a:lnTo>
                  <a:lnTo>
                    <a:pt x="2957360" y="1568109"/>
                  </a:lnTo>
                  <a:lnTo>
                    <a:pt x="2950306" y="1569513"/>
                  </a:lnTo>
                  <a:lnTo>
                    <a:pt x="2943252" y="1570918"/>
                  </a:lnTo>
                  <a:lnTo>
                    <a:pt x="2936129" y="1571624"/>
                  </a:lnTo>
                  <a:lnTo>
                    <a:pt x="2928937" y="1571624"/>
                  </a:lnTo>
                  <a:lnTo>
                    <a:pt x="109537" y="1571624"/>
                  </a:lnTo>
                  <a:lnTo>
                    <a:pt x="102345" y="1571624"/>
                  </a:lnTo>
                  <a:lnTo>
                    <a:pt x="95221" y="1570918"/>
                  </a:lnTo>
                  <a:lnTo>
                    <a:pt x="88167" y="1569513"/>
                  </a:lnTo>
                  <a:lnTo>
                    <a:pt x="81113" y="1568109"/>
                  </a:lnTo>
                  <a:lnTo>
                    <a:pt x="74264" y="1566025"/>
                  </a:lnTo>
                  <a:lnTo>
                    <a:pt x="67619" y="1563271"/>
                  </a:lnTo>
                  <a:lnTo>
                    <a:pt x="60974" y="1560518"/>
                  </a:lnTo>
                  <a:lnTo>
                    <a:pt x="54661" y="1557142"/>
                  </a:lnTo>
                  <a:lnTo>
                    <a:pt x="48681" y="1553151"/>
                  </a:lnTo>
                  <a:lnTo>
                    <a:pt x="42701" y="1549161"/>
                  </a:lnTo>
                  <a:lnTo>
                    <a:pt x="14464" y="1516958"/>
                  </a:lnTo>
                  <a:lnTo>
                    <a:pt x="8338" y="1503991"/>
                  </a:lnTo>
                  <a:lnTo>
                    <a:pt x="5585" y="1497349"/>
                  </a:lnTo>
                  <a:lnTo>
                    <a:pt x="3507" y="1490504"/>
                  </a:lnTo>
                  <a:lnTo>
                    <a:pt x="2104" y="1483444"/>
                  </a:lnTo>
                  <a:lnTo>
                    <a:pt x="701" y="1476393"/>
                  </a:lnTo>
                  <a:lnTo>
                    <a:pt x="0" y="1469277"/>
                  </a:lnTo>
                  <a:lnTo>
                    <a:pt x="0" y="1462087"/>
                  </a:lnTo>
                  <a:close/>
                </a:path>
              </a:pathLst>
            </a:custGeom>
            <a:ln w="9524">
              <a:solidFill>
                <a:srgbClr val="E4EA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987425" y="3319145"/>
            <a:ext cx="1482725" cy="8959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216535">
              <a:lnSpc>
                <a:spcPct val="1111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1C242F"/>
                </a:solidFill>
                <a:latin typeface="Arial"/>
                <a:cs typeface="Arial"/>
              </a:rPr>
              <a:t>Linear Regression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Baseline linear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model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859831" y="3597275"/>
            <a:ext cx="725170" cy="368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50" b="1" spc="-20" dirty="0">
                <a:solidFill>
                  <a:srgbClr val="1CC8C8"/>
                </a:solidFill>
                <a:latin typeface="Arial"/>
                <a:cs typeface="Arial"/>
              </a:rPr>
              <a:t>0.911</a:t>
            </a:r>
            <a:endParaRPr sz="225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3962399" y="3124195"/>
            <a:ext cx="3048000" cy="1581150"/>
            <a:chOff x="3962399" y="3124195"/>
            <a:chExt cx="3048000" cy="1581150"/>
          </a:xfrm>
        </p:grpSpPr>
        <p:sp>
          <p:nvSpPr>
            <p:cNvPr id="11" name="object 11"/>
            <p:cNvSpPr/>
            <p:nvPr/>
          </p:nvSpPr>
          <p:spPr>
            <a:xfrm>
              <a:off x="3967161" y="3128958"/>
              <a:ext cx="3038475" cy="1571625"/>
            </a:xfrm>
            <a:custGeom>
              <a:avLst/>
              <a:gdLst/>
              <a:ahLst/>
              <a:cxnLst/>
              <a:rect l="l" t="t" r="r" b="b"/>
              <a:pathLst>
                <a:path w="3038475" h="1571625">
                  <a:moveTo>
                    <a:pt x="2936129" y="1571624"/>
                  </a:moveTo>
                  <a:lnTo>
                    <a:pt x="102345" y="1571624"/>
                  </a:lnTo>
                  <a:lnTo>
                    <a:pt x="95221" y="1570918"/>
                  </a:lnTo>
                  <a:lnTo>
                    <a:pt x="54662" y="1557142"/>
                  </a:lnTo>
                  <a:lnTo>
                    <a:pt x="22456" y="1528920"/>
                  </a:lnTo>
                  <a:lnTo>
                    <a:pt x="3507" y="1490504"/>
                  </a:lnTo>
                  <a:lnTo>
                    <a:pt x="0" y="1469277"/>
                  </a:lnTo>
                  <a:lnTo>
                    <a:pt x="0" y="1462087"/>
                  </a:lnTo>
                  <a:lnTo>
                    <a:pt x="0" y="102337"/>
                  </a:lnTo>
                  <a:lnTo>
                    <a:pt x="11090" y="60954"/>
                  </a:lnTo>
                  <a:lnTo>
                    <a:pt x="37168" y="26984"/>
                  </a:lnTo>
                  <a:lnTo>
                    <a:pt x="74264" y="5572"/>
                  </a:lnTo>
                  <a:lnTo>
                    <a:pt x="102345" y="0"/>
                  </a:lnTo>
                  <a:lnTo>
                    <a:pt x="2936129" y="0"/>
                  </a:lnTo>
                  <a:lnTo>
                    <a:pt x="2977499" y="11088"/>
                  </a:lnTo>
                  <a:lnTo>
                    <a:pt x="3011477" y="37160"/>
                  </a:lnTo>
                  <a:lnTo>
                    <a:pt x="3032888" y="74246"/>
                  </a:lnTo>
                  <a:lnTo>
                    <a:pt x="3038474" y="102337"/>
                  </a:lnTo>
                  <a:lnTo>
                    <a:pt x="3038474" y="1469277"/>
                  </a:lnTo>
                  <a:lnTo>
                    <a:pt x="3027383" y="1510642"/>
                  </a:lnTo>
                  <a:lnTo>
                    <a:pt x="3001305" y="1544621"/>
                  </a:lnTo>
                  <a:lnTo>
                    <a:pt x="2964209" y="1566025"/>
                  </a:lnTo>
                  <a:lnTo>
                    <a:pt x="2943252" y="1570918"/>
                  </a:lnTo>
                  <a:lnTo>
                    <a:pt x="2936129" y="1571624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3967161" y="3128958"/>
              <a:ext cx="3038475" cy="1571625"/>
            </a:xfrm>
            <a:custGeom>
              <a:avLst/>
              <a:gdLst/>
              <a:ahLst/>
              <a:cxnLst/>
              <a:rect l="l" t="t" r="r" b="b"/>
              <a:pathLst>
                <a:path w="3038475" h="1571625">
                  <a:moveTo>
                    <a:pt x="0" y="1462087"/>
                  </a:moveTo>
                  <a:lnTo>
                    <a:pt x="0" y="109537"/>
                  </a:lnTo>
                  <a:lnTo>
                    <a:pt x="0" y="102337"/>
                  </a:lnTo>
                  <a:lnTo>
                    <a:pt x="701" y="95212"/>
                  </a:lnTo>
                  <a:lnTo>
                    <a:pt x="2104" y="88162"/>
                  </a:lnTo>
                  <a:lnTo>
                    <a:pt x="3507" y="81101"/>
                  </a:lnTo>
                  <a:lnTo>
                    <a:pt x="5585" y="74246"/>
                  </a:lnTo>
                  <a:lnTo>
                    <a:pt x="8337" y="67605"/>
                  </a:lnTo>
                  <a:lnTo>
                    <a:pt x="11090" y="60954"/>
                  </a:lnTo>
                  <a:lnTo>
                    <a:pt x="14464" y="54647"/>
                  </a:lnTo>
                  <a:lnTo>
                    <a:pt x="18460" y="48667"/>
                  </a:lnTo>
                  <a:lnTo>
                    <a:pt x="22456" y="42685"/>
                  </a:lnTo>
                  <a:lnTo>
                    <a:pt x="26997" y="37160"/>
                  </a:lnTo>
                  <a:lnTo>
                    <a:pt x="32082" y="32072"/>
                  </a:lnTo>
                  <a:lnTo>
                    <a:pt x="37168" y="26984"/>
                  </a:lnTo>
                  <a:lnTo>
                    <a:pt x="42701" y="22444"/>
                  </a:lnTo>
                  <a:lnTo>
                    <a:pt x="48681" y="18454"/>
                  </a:lnTo>
                  <a:lnTo>
                    <a:pt x="54662" y="14464"/>
                  </a:lnTo>
                  <a:lnTo>
                    <a:pt x="60974" y="11088"/>
                  </a:lnTo>
                  <a:lnTo>
                    <a:pt x="67619" y="8324"/>
                  </a:lnTo>
                  <a:lnTo>
                    <a:pt x="74264" y="5572"/>
                  </a:lnTo>
                  <a:lnTo>
                    <a:pt x="81113" y="3497"/>
                  </a:lnTo>
                  <a:lnTo>
                    <a:pt x="88167" y="2102"/>
                  </a:lnTo>
                  <a:lnTo>
                    <a:pt x="95221" y="697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2928937" y="0"/>
                  </a:lnTo>
                  <a:lnTo>
                    <a:pt x="2936129" y="0"/>
                  </a:lnTo>
                  <a:lnTo>
                    <a:pt x="2943252" y="697"/>
                  </a:lnTo>
                  <a:lnTo>
                    <a:pt x="2950306" y="2102"/>
                  </a:lnTo>
                  <a:lnTo>
                    <a:pt x="2957360" y="3497"/>
                  </a:lnTo>
                  <a:lnTo>
                    <a:pt x="2995772" y="22444"/>
                  </a:lnTo>
                  <a:lnTo>
                    <a:pt x="3020013" y="48667"/>
                  </a:lnTo>
                  <a:lnTo>
                    <a:pt x="3024009" y="54647"/>
                  </a:lnTo>
                  <a:lnTo>
                    <a:pt x="3027383" y="60954"/>
                  </a:lnTo>
                  <a:lnTo>
                    <a:pt x="3030136" y="67605"/>
                  </a:lnTo>
                  <a:lnTo>
                    <a:pt x="3032888" y="74246"/>
                  </a:lnTo>
                  <a:lnTo>
                    <a:pt x="3034966" y="81101"/>
                  </a:lnTo>
                  <a:lnTo>
                    <a:pt x="3036369" y="88162"/>
                  </a:lnTo>
                  <a:lnTo>
                    <a:pt x="3037772" y="95212"/>
                  </a:lnTo>
                  <a:lnTo>
                    <a:pt x="3038474" y="102337"/>
                  </a:lnTo>
                  <a:lnTo>
                    <a:pt x="3038475" y="109537"/>
                  </a:lnTo>
                  <a:lnTo>
                    <a:pt x="3038475" y="1462087"/>
                  </a:lnTo>
                  <a:lnTo>
                    <a:pt x="3038474" y="1469277"/>
                  </a:lnTo>
                  <a:lnTo>
                    <a:pt x="3037772" y="1476393"/>
                  </a:lnTo>
                  <a:lnTo>
                    <a:pt x="3036369" y="1483444"/>
                  </a:lnTo>
                  <a:lnTo>
                    <a:pt x="3034966" y="1490504"/>
                  </a:lnTo>
                  <a:lnTo>
                    <a:pt x="3032888" y="1497349"/>
                  </a:lnTo>
                  <a:lnTo>
                    <a:pt x="3030136" y="1503991"/>
                  </a:lnTo>
                  <a:lnTo>
                    <a:pt x="3027383" y="1510642"/>
                  </a:lnTo>
                  <a:lnTo>
                    <a:pt x="3001305" y="1544621"/>
                  </a:lnTo>
                  <a:lnTo>
                    <a:pt x="2989792" y="1553151"/>
                  </a:lnTo>
                  <a:lnTo>
                    <a:pt x="2983812" y="1557142"/>
                  </a:lnTo>
                  <a:lnTo>
                    <a:pt x="2977499" y="1560518"/>
                  </a:lnTo>
                  <a:lnTo>
                    <a:pt x="2970854" y="1563271"/>
                  </a:lnTo>
                  <a:lnTo>
                    <a:pt x="2964209" y="1566025"/>
                  </a:lnTo>
                  <a:lnTo>
                    <a:pt x="2957360" y="1568109"/>
                  </a:lnTo>
                  <a:lnTo>
                    <a:pt x="2950306" y="1569513"/>
                  </a:lnTo>
                  <a:lnTo>
                    <a:pt x="2943252" y="1570918"/>
                  </a:lnTo>
                  <a:lnTo>
                    <a:pt x="2936129" y="1571624"/>
                  </a:lnTo>
                  <a:lnTo>
                    <a:pt x="2928937" y="1571624"/>
                  </a:lnTo>
                  <a:lnTo>
                    <a:pt x="109537" y="1571624"/>
                  </a:lnTo>
                  <a:lnTo>
                    <a:pt x="102345" y="1571624"/>
                  </a:lnTo>
                  <a:lnTo>
                    <a:pt x="95221" y="1570918"/>
                  </a:lnTo>
                  <a:lnTo>
                    <a:pt x="88167" y="1569513"/>
                  </a:lnTo>
                  <a:lnTo>
                    <a:pt x="81113" y="1568109"/>
                  </a:lnTo>
                  <a:lnTo>
                    <a:pt x="74264" y="1566025"/>
                  </a:lnTo>
                  <a:lnTo>
                    <a:pt x="67619" y="1563271"/>
                  </a:lnTo>
                  <a:lnTo>
                    <a:pt x="60974" y="1560518"/>
                  </a:lnTo>
                  <a:lnTo>
                    <a:pt x="54662" y="1557142"/>
                  </a:lnTo>
                  <a:lnTo>
                    <a:pt x="48681" y="1553151"/>
                  </a:lnTo>
                  <a:lnTo>
                    <a:pt x="42701" y="1549161"/>
                  </a:lnTo>
                  <a:lnTo>
                    <a:pt x="14464" y="1516958"/>
                  </a:lnTo>
                  <a:lnTo>
                    <a:pt x="8337" y="1503991"/>
                  </a:lnTo>
                  <a:lnTo>
                    <a:pt x="5585" y="1497349"/>
                  </a:lnTo>
                  <a:lnTo>
                    <a:pt x="3507" y="1490504"/>
                  </a:lnTo>
                  <a:lnTo>
                    <a:pt x="2104" y="1483444"/>
                  </a:lnTo>
                  <a:lnTo>
                    <a:pt x="701" y="1476393"/>
                  </a:lnTo>
                  <a:lnTo>
                    <a:pt x="0" y="1469277"/>
                  </a:lnTo>
                  <a:lnTo>
                    <a:pt x="0" y="1462087"/>
                  </a:lnTo>
                  <a:close/>
                </a:path>
              </a:pathLst>
            </a:custGeom>
            <a:ln w="9524">
              <a:solidFill>
                <a:srgbClr val="E4EA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187825" y="3319145"/>
            <a:ext cx="1372870" cy="11245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680">
              <a:lnSpc>
                <a:spcPct val="1111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1C242F"/>
                </a:solidFill>
                <a:latin typeface="Arial"/>
                <a:cs typeface="Arial"/>
              </a:rPr>
              <a:t>Lasso Regression</a:t>
            </a:r>
            <a:endParaRPr sz="18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254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L1 regularization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sparsity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060231" y="3711575"/>
            <a:ext cx="725170" cy="368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50" b="1" spc="-20" dirty="0">
                <a:solidFill>
                  <a:srgbClr val="1CC8C8"/>
                </a:solidFill>
                <a:latin typeface="Arial"/>
                <a:cs typeface="Arial"/>
              </a:rPr>
              <a:t>0.911</a:t>
            </a:r>
            <a:endParaRPr sz="2250">
              <a:latin typeface="Arial"/>
              <a:cs typeface="Arial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761999" y="4857745"/>
            <a:ext cx="6248400" cy="1447800"/>
            <a:chOff x="761999" y="4857745"/>
            <a:chExt cx="6248400" cy="1447800"/>
          </a:xfrm>
        </p:grpSpPr>
        <p:pic>
          <p:nvPicPr>
            <p:cNvPr id="16" name="object 1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81049" y="4876798"/>
              <a:ext cx="6210299" cy="1409699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771524" y="4867270"/>
              <a:ext cx="6229350" cy="1428750"/>
            </a:xfrm>
            <a:custGeom>
              <a:avLst/>
              <a:gdLst/>
              <a:ahLst/>
              <a:cxnLst/>
              <a:rect l="l" t="t" r="r" b="b"/>
              <a:pathLst>
                <a:path w="6229350" h="1428750">
                  <a:moveTo>
                    <a:pt x="0" y="1323974"/>
                  </a:moveTo>
                  <a:lnTo>
                    <a:pt x="0" y="104774"/>
                  </a:lnTo>
                  <a:lnTo>
                    <a:pt x="0" y="97891"/>
                  </a:lnTo>
                  <a:lnTo>
                    <a:pt x="671" y="91073"/>
                  </a:lnTo>
                  <a:lnTo>
                    <a:pt x="13835" y="52266"/>
                  </a:lnTo>
                  <a:lnTo>
                    <a:pt x="17657" y="46545"/>
                  </a:lnTo>
                  <a:lnTo>
                    <a:pt x="21479" y="40825"/>
                  </a:lnTo>
                  <a:lnTo>
                    <a:pt x="25823" y="35541"/>
                  </a:lnTo>
                  <a:lnTo>
                    <a:pt x="30687" y="30677"/>
                  </a:lnTo>
                  <a:lnTo>
                    <a:pt x="35552" y="25803"/>
                  </a:lnTo>
                  <a:lnTo>
                    <a:pt x="40844" y="21458"/>
                  </a:lnTo>
                  <a:lnTo>
                    <a:pt x="46565" y="17645"/>
                  </a:lnTo>
                  <a:lnTo>
                    <a:pt x="52285" y="13822"/>
                  </a:lnTo>
                  <a:lnTo>
                    <a:pt x="58323" y="10604"/>
                  </a:lnTo>
                  <a:lnTo>
                    <a:pt x="64679" y="7971"/>
                  </a:lnTo>
                  <a:lnTo>
                    <a:pt x="71035" y="5338"/>
                  </a:lnTo>
                  <a:lnTo>
                    <a:pt x="77586" y="3348"/>
                  </a:lnTo>
                  <a:lnTo>
                    <a:pt x="84334" y="2008"/>
                  </a:lnTo>
                  <a:lnTo>
                    <a:pt x="91081" y="669"/>
                  </a:lnTo>
                  <a:lnTo>
                    <a:pt x="97895" y="0"/>
                  </a:lnTo>
                  <a:lnTo>
                    <a:pt x="104774" y="0"/>
                  </a:lnTo>
                  <a:lnTo>
                    <a:pt x="6124574" y="0"/>
                  </a:lnTo>
                  <a:lnTo>
                    <a:pt x="6131453" y="0"/>
                  </a:lnTo>
                  <a:lnTo>
                    <a:pt x="6138266" y="669"/>
                  </a:lnTo>
                  <a:lnTo>
                    <a:pt x="6177063" y="13822"/>
                  </a:lnTo>
                  <a:lnTo>
                    <a:pt x="6182783" y="17645"/>
                  </a:lnTo>
                  <a:lnTo>
                    <a:pt x="6188503" y="21458"/>
                  </a:lnTo>
                  <a:lnTo>
                    <a:pt x="6193796" y="25803"/>
                  </a:lnTo>
                  <a:lnTo>
                    <a:pt x="6198661" y="30677"/>
                  </a:lnTo>
                  <a:lnTo>
                    <a:pt x="6203525" y="35541"/>
                  </a:lnTo>
                  <a:lnTo>
                    <a:pt x="6221373" y="64666"/>
                  </a:lnTo>
                  <a:lnTo>
                    <a:pt x="6224006" y="71019"/>
                  </a:lnTo>
                  <a:lnTo>
                    <a:pt x="6229349" y="104774"/>
                  </a:lnTo>
                  <a:lnTo>
                    <a:pt x="6229349" y="1323974"/>
                  </a:lnTo>
                  <a:lnTo>
                    <a:pt x="6229348" y="1330849"/>
                  </a:lnTo>
                  <a:lnTo>
                    <a:pt x="6228677" y="1337657"/>
                  </a:lnTo>
                  <a:lnTo>
                    <a:pt x="6227335" y="1344401"/>
                  </a:lnTo>
                  <a:lnTo>
                    <a:pt x="6225993" y="1351144"/>
                  </a:lnTo>
                  <a:lnTo>
                    <a:pt x="6207868" y="1387896"/>
                  </a:lnTo>
                  <a:lnTo>
                    <a:pt x="6198661" y="1398053"/>
                  </a:lnTo>
                  <a:lnTo>
                    <a:pt x="6193796" y="1402919"/>
                  </a:lnTo>
                  <a:lnTo>
                    <a:pt x="6188503" y="1407253"/>
                  </a:lnTo>
                  <a:lnTo>
                    <a:pt x="6182783" y="1411076"/>
                  </a:lnTo>
                  <a:lnTo>
                    <a:pt x="6177063" y="1414899"/>
                  </a:lnTo>
                  <a:lnTo>
                    <a:pt x="6171025" y="1418127"/>
                  </a:lnTo>
                  <a:lnTo>
                    <a:pt x="6164669" y="1420759"/>
                  </a:lnTo>
                  <a:lnTo>
                    <a:pt x="6158313" y="1423392"/>
                  </a:lnTo>
                  <a:lnTo>
                    <a:pt x="6151761" y="1425382"/>
                  </a:lnTo>
                  <a:lnTo>
                    <a:pt x="6145014" y="1426722"/>
                  </a:lnTo>
                  <a:lnTo>
                    <a:pt x="6138266" y="1428070"/>
                  </a:lnTo>
                  <a:lnTo>
                    <a:pt x="6131453" y="1428740"/>
                  </a:lnTo>
                  <a:lnTo>
                    <a:pt x="6124574" y="1428749"/>
                  </a:lnTo>
                  <a:lnTo>
                    <a:pt x="104774" y="1428749"/>
                  </a:lnTo>
                  <a:lnTo>
                    <a:pt x="97895" y="1428740"/>
                  </a:lnTo>
                  <a:lnTo>
                    <a:pt x="91081" y="1428070"/>
                  </a:lnTo>
                  <a:lnTo>
                    <a:pt x="84334" y="1426722"/>
                  </a:lnTo>
                  <a:lnTo>
                    <a:pt x="77586" y="1425382"/>
                  </a:lnTo>
                  <a:lnTo>
                    <a:pt x="71035" y="1423392"/>
                  </a:lnTo>
                  <a:lnTo>
                    <a:pt x="64679" y="1420759"/>
                  </a:lnTo>
                  <a:lnTo>
                    <a:pt x="58323" y="1418127"/>
                  </a:lnTo>
                  <a:lnTo>
                    <a:pt x="52285" y="1414899"/>
                  </a:lnTo>
                  <a:lnTo>
                    <a:pt x="46565" y="1411076"/>
                  </a:lnTo>
                  <a:lnTo>
                    <a:pt x="40844" y="1407253"/>
                  </a:lnTo>
                  <a:lnTo>
                    <a:pt x="35552" y="1402919"/>
                  </a:lnTo>
                  <a:lnTo>
                    <a:pt x="30687" y="1398053"/>
                  </a:lnTo>
                  <a:lnTo>
                    <a:pt x="25823" y="1393189"/>
                  </a:lnTo>
                  <a:lnTo>
                    <a:pt x="5342" y="1357702"/>
                  </a:lnTo>
                  <a:lnTo>
                    <a:pt x="0" y="1330849"/>
                  </a:lnTo>
                  <a:lnTo>
                    <a:pt x="0" y="1323974"/>
                  </a:lnTo>
                  <a:close/>
                </a:path>
              </a:pathLst>
            </a:custGeom>
            <a:ln w="19049">
              <a:solidFill>
                <a:srgbClr val="164E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996950" y="4883150"/>
            <a:ext cx="3628390" cy="1151255"/>
          </a:xfrm>
          <a:prstGeom prst="rect">
            <a:avLst/>
          </a:prstGeom>
        </p:spPr>
        <p:txBody>
          <a:bodyPr vert="horz" wrap="square" lIns="0" tIns="2032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600"/>
              </a:spcBef>
            </a:pPr>
            <a:r>
              <a:rPr sz="2250" b="1" dirty="0">
                <a:solidFill>
                  <a:srgbClr val="164E9C"/>
                </a:solidFill>
                <a:latin typeface="Arial"/>
                <a:cs typeface="Arial"/>
              </a:rPr>
              <a:t>Ridge </a:t>
            </a:r>
            <a:r>
              <a:rPr sz="2250" b="1" spc="-10" dirty="0">
                <a:solidFill>
                  <a:srgbClr val="164E9C"/>
                </a:solidFill>
                <a:latin typeface="Arial"/>
                <a:cs typeface="Arial"/>
              </a:rPr>
              <a:t>Regression</a:t>
            </a:r>
            <a:endParaRPr sz="2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00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L2 regularization for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multicollinearity</a:t>
            </a:r>
            <a:endParaRPr sz="135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705"/>
              </a:spcBef>
            </a:pPr>
            <a:r>
              <a:rPr sz="1200" dirty="0">
                <a:solidFill>
                  <a:srgbClr val="616F83"/>
                </a:solidFill>
                <a:latin typeface="Arial MT"/>
                <a:cs typeface="Arial MT"/>
              </a:rPr>
              <a:t>Best</a:t>
            </a:r>
            <a:r>
              <a:rPr sz="1200" spc="-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616F83"/>
                </a:solidFill>
                <a:latin typeface="Arial MT"/>
                <a:cs typeface="Arial MT"/>
              </a:rPr>
              <a:t>balance of </a:t>
            </a:r>
            <a:r>
              <a:rPr sz="1200" spc="-10" dirty="0">
                <a:solidFill>
                  <a:srgbClr val="616F83"/>
                </a:solidFill>
                <a:latin typeface="Arial MT"/>
                <a:cs typeface="Arial MT"/>
              </a:rPr>
              <a:t>accuracy,</a:t>
            </a:r>
            <a:r>
              <a:rPr sz="120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616F83"/>
                </a:solidFill>
                <a:latin typeface="Arial MT"/>
                <a:cs typeface="Arial MT"/>
              </a:rPr>
              <a:t>stability,</a:t>
            </a:r>
            <a:r>
              <a:rPr sz="1200" dirty="0">
                <a:solidFill>
                  <a:srgbClr val="616F83"/>
                </a:solidFill>
                <a:latin typeface="Arial MT"/>
                <a:cs typeface="Arial MT"/>
              </a:rPr>
              <a:t> and </a:t>
            </a:r>
            <a:r>
              <a:rPr sz="1200" spc="-10" dirty="0">
                <a:solidFill>
                  <a:srgbClr val="616F83"/>
                </a:solidFill>
                <a:latin typeface="Arial MT"/>
                <a:cs typeface="Arial MT"/>
              </a:rPr>
              <a:t>interpretability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761999" y="5772522"/>
            <a:ext cx="4190365" cy="1695450"/>
            <a:chOff x="761999" y="5772522"/>
            <a:chExt cx="4190365" cy="1695450"/>
          </a:xfrm>
        </p:grpSpPr>
        <p:pic>
          <p:nvPicPr>
            <p:cNvPr id="20" name="object 2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794923" y="5772522"/>
              <a:ext cx="157242" cy="149730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766762" y="6462708"/>
              <a:ext cx="1971675" cy="1000125"/>
            </a:xfrm>
            <a:custGeom>
              <a:avLst/>
              <a:gdLst/>
              <a:ahLst/>
              <a:cxnLst/>
              <a:rect l="l" t="t" r="r" b="b"/>
              <a:pathLst>
                <a:path w="1971675" h="1000125">
                  <a:moveTo>
                    <a:pt x="1869329" y="1000115"/>
                  </a:moveTo>
                  <a:lnTo>
                    <a:pt x="102345" y="1000115"/>
                  </a:lnTo>
                  <a:lnTo>
                    <a:pt x="95221" y="999418"/>
                  </a:lnTo>
                  <a:lnTo>
                    <a:pt x="54661" y="985642"/>
                  </a:lnTo>
                  <a:lnTo>
                    <a:pt x="22456" y="957411"/>
                  </a:lnTo>
                  <a:lnTo>
                    <a:pt x="3507" y="919004"/>
                  </a:lnTo>
                  <a:lnTo>
                    <a:pt x="0" y="897777"/>
                  </a:lnTo>
                  <a:lnTo>
                    <a:pt x="0" y="890587"/>
                  </a:lnTo>
                  <a:lnTo>
                    <a:pt x="0" y="102337"/>
                  </a:lnTo>
                  <a:lnTo>
                    <a:pt x="11090" y="60954"/>
                  </a:lnTo>
                  <a:lnTo>
                    <a:pt x="37168" y="26984"/>
                  </a:lnTo>
                  <a:lnTo>
                    <a:pt x="74264" y="5580"/>
                  </a:lnTo>
                  <a:lnTo>
                    <a:pt x="102345" y="0"/>
                  </a:lnTo>
                  <a:lnTo>
                    <a:pt x="1869329" y="0"/>
                  </a:lnTo>
                  <a:lnTo>
                    <a:pt x="1910700" y="11078"/>
                  </a:lnTo>
                  <a:lnTo>
                    <a:pt x="1944677" y="37151"/>
                  </a:lnTo>
                  <a:lnTo>
                    <a:pt x="1966088" y="74246"/>
                  </a:lnTo>
                  <a:lnTo>
                    <a:pt x="1971674" y="102337"/>
                  </a:lnTo>
                  <a:lnTo>
                    <a:pt x="1971674" y="897777"/>
                  </a:lnTo>
                  <a:lnTo>
                    <a:pt x="1960583" y="939151"/>
                  </a:lnTo>
                  <a:lnTo>
                    <a:pt x="1934506" y="973121"/>
                  </a:lnTo>
                  <a:lnTo>
                    <a:pt x="1897410" y="994525"/>
                  </a:lnTo>
                  <a:lnTo>
                    <a:pt x="1876452" y="999418"/>
                  </a:lnTo>
                  <a:lnTo>
                    <a:pt x="1869329" y="1000115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766762" y="6462708"/>
              <a:ext cx="1971675" cy="1000125"/>
            </a:xfrm>
            <a:custGeom>
              <a:avLst/>
              <a:gdLst/>
              <a:ahLst/>
              <a:cxnLst/>
              <a:rect l="l" t="t" r="r" b="b"/>
              <a:pathLst>
                <a:path w="1971675" h="1000125">
                  <a:moveTo>
                    <a:pt x="0" y="890587"/>
                  </a:moveTo>
                  <a:lnTo>
                    <a:pt x="0" y="109537"/>
                  </a:lnTo>
                  <a:lnTo>
                    <a:pt x="0" y="102337"/>
                  </a:lnTo>
                  <a:lnTo>
                    <a:pt x="701" y="95212"/>
                  </a:lnTo>
                  <a:lnTo>
                    <a:pt x="2104" y="88152"/>
                  </a:lnTo>
                  <a:lnTo>
                    <a:pt x="3507" y="81092"/>
                  </a:lnTo>
                  <a:lnTo>
                    <a:pt x="5585" y="74246"/>
                  </a:lnTo>
                  <a:lnTo>
                    <a:pt x="8338" y="67605"/>
                  </a:lnTo>
                  <a:lnTo>
                    <a:pt x="11090" y="60954"/>
                  </a:lnTo>
                  <a:lnTo>
                    <a:pt x="14464" y="54638"/>
                  </a:lnTo>
                  <a:lnTo>
                    <a:pt x="18460" y="48657"/>
                  </a:lnTo>
                  <a:lnTo>
                    <a:pt x="22456" y="42676"/>
                  </a:lnTo>
                  <a:lnTo>
                    <a:pt x="26997" y="37151"/>
                  </a:lnTo>
                  <a:lnTo>
                    <a:pt x="32082" y="32072"/>
                  </a:lnTo>
                  <a:lnTo>
                    <a:pt x="37168" y="26984"/>
                  </a:lnTo>
                  <a:lnTo>
                    <a:pt x="74264" y="5580"/>
                  </a:lnTo>
                  <a:lnTo>
                    <a:pt x="88167" y="2102"/>
                  </a:lnTo>
                  <a:lnTo>
                    <a:pt x="95221" y="697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1862137" y="0"/>
                  </a:lnTo>
                  <a:lnTo>
                    <a:pt x="1869329" y="0"/>
                  </a:lnTo>
                  <a:lnTo>
                    <a:pt x="1876452" y="697"/>
                  </a:lnTo>
                  <a:lnTo>
                    <a:pt x="1883506" y="2102"/>
                  </a:lnTo>
                  <a:lnTo>
                    <a:pt x="1890560" y="3507"/>
                  </a:lnTo>
                  <a:lnTo>
                    <a:pt x="1928973" y="22436"/>
                  </a:lnTo>
                  <a:lnTo>
                    <a:pt x="1939591" y="32072"/>
                  </a:lnTo>
                  <a:lnTo>
                    <a:pt x="1944677" y="37151"/>
                  </a:lnTo>
                  <a:lnTo>
                    <a:pt x="1949218" y="42676"/>
                  </a:lnTo>
                  <a:lnTo>
                    <a:pt x="1953213" y="48657"/>
                  </a:lnTo>
                  <a:lnTo>
                    <a:pt x="1957209" y="54638"/>
                  </a:lnTo>
                  <a:lnTo>
                    <a:pt x="1960583" y="60954"/>
                  </a:lnTo>
                  <a:lnTo>
                    <a:pt x="1963336" y="67605"/>
                  </a:lnTo>
                  <a:lnTo>
                    <a:pt x="1966088" y="74246"/>
                  </a:lnTo>
                  <a:lnTo>
                    <a:pt x="1968166" y="81092"/>
                  </a:lnTo>
                  <a:lnTo>
                    <a:pt x="1969569" y="88152"/>
                  </a:lnTo>
                  <a:lnTo>
                    <a:pt x="1970973" y="95212"/>
                  </a:lnTo>
                  <a:lnTo>
                    <a:pt x="1971674" y="102337"/>
                  </a:lnTo>
                  <a:lnTo>
                    <a:pt x="1971674" y="109537"/>
                  </a:lnTo>
                  <a:lnTo>
                    <a:pt x="1971674" y="890587"/>
                  </a:lnTo>
                  <a:lnTo>
                    <a:pt x="1971674" y="897777"/>
                  </a:lnTo>
                  <a:lnTo>
                    <a:pt x="1970973" y="904893"/>
                  </a:lnTo>
                  <a:lnTo>
                    <a:pt x="1969569" y="911944"/>
                  </a:lnTo>
                  <a:lnTo>
                    <a:pt x="1968166" y="919004"/>
                  </a:lnTo>
                  <a:lnTo>
                    <a:pt x="1953214" y="951430"/>
                  </a:lnTo>
                  <a:lnTo>
                    <a:pt x="1949218" y="957411"/>
                  </a:lnTo>
                  <a:lnTo>
                    <a:pt x="1922992" y="981651"/>
                  </a:lnTo>
                  <a:lnTo>
                    <a:pt x="1917012" y="985642"/>
                  </a:lnTo>
                  <a:lnTo>
                    <a:pt x="1910700" y="989018"/>
                  </a:lnTo>
                  <a:lnTo>
                    <a:pt x="1904055" y="991771"/>
                  </a:lnTo>
                  <a:lnTo>
                    <a:pt x="1897410" y="994525"/>
                  </a:lnTo>
                  <a:lnTo>
                    <a:pt x="1890560" y="996609"/>
                  </a:lnTo>
                  <a:lnTo>
                    <a:pt x="1883506" y="998013"/>
                  </a:lnTo>
                  <a:lnTo>
                    <a:pt x="1876452" y="999418"/>
                  </a:lnTo>
                  <a:lnTo>
                    <a:pt x="1869329" y="1000115"/>
                  </a:lnTo>
                  <a:lnTo>
                    <a:pt x="1862137" y="1000124"/>
                  </a:lnTo>
                  <a:lnTo>
                    <a:pt x="109537" y="1000124"/>
                  </a:lnTo>
                  <a:lnTo>
                    <a:pt x="102345" y="1000115"/>
                  </a:lnTo>
                  <a:lnTo>
                    <a:pt x="95221" y="999418"/>
                  </a:lnTo>
                  <a:lnTo>
                    <a:pt x="88167" y="998013"/>
                  </a:lnTo>
                  <a:lnTo>
                    <a:pt x="81113" y="996609"/>
                  </a:lnTo>
                  <a:lnTo>
                    <a:pt x="74264" y="994525"/>
                  </a:lnTo>
                  <a:lnTo>
                    <a:pt x="67619" y="991771"/>
                  </a:lnTo>
                  <a:lnTo>
                    <a:pt x="60974" y="989018"/>
                  </a:lnTo>
                  <a:lnTo>
                    <a:pt x="54661" y="985642"/>
                  </a:lnTo>
                  <a:lnTo>
                    <a:pt x="48681" y="981651"/>
                  </a:lnTo>
                  <a:lnTo>
                    <a:pt x="42701" y="977661"/>
                  </a:lnTo>
                  <a:lnTo>
                    <a:pt x="18460" y="951430"/>
                  </a:lnTo>
                  <a:lnTo>
                    <a:pt x="14464" y="945458"/>
                  </a:lnTo>
                  <a:lnTo>
                    <a:pt x="2104" y="911944"/>
                  </a:lnTo>
                  <a:lnTo>
                    <a:pt x="701" y="904893"/>
                  </a:lnTo>
                  <a:lnTo>
                    <a:pt x="0" y="897777"/>
                  </a:lnTo>
                  <a:lnTo>
                    <a:pt x="0" y="890587"/>
                  </a:lnTo>
                  <a:close/>
                </a:path>
              </a:pathLst>
            </a:custGeom>
            <a:ln w="9524">
              <a:solidFill>
                <a:srgbClr val="E4EA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3" name="object 23"/>
          <p:cNvSpPr txBox="1"/>
          <p:nvPr/>
        </p:nvSpPr>
        <p:spPr>
          <a:xfrm>
            <a:off x="4993115" y="4923535"/>
            <a:ext cx="1782445" cy="1042669"/>
          </a:xfrm>
          <a:prstGeom prst="rect">
            <a:avLst/>
          </a:prstGeom>
        </p:spPr>
        <p:txBody>
          <a:bodyPr vert="horz" wrap="square" lIns="0" tIns="181610" rIns="0" bIns="0" rtlCol="0">
            <a:spAutoFit/>
          </a:bodyPr>
          <a:lstStyle/>
          <a:p>
            <a:pPr marL="650240">
              <a:lnSpc>
                <a:spcPct val="100000"/>
              </a:lnSpc>
              <a:spcBef>
                <a:spcPts val="1430"/>
              </a:spcBef>
            </a:pPr>
            <a:r>
              <a:rPr sz="3600" b="1" spc="-35" dirty="0">
                <a:solidFill>
                  <a:srgbClr val="164E9C"/>
                </a:solidFill>
                <a:latin typeface="Arial"/>
                <a:cs typeface="Arial"/>
              </a:rPr>
              <a:t>0.911</a:t>
            </a:r>
            <a:endParaRPr sz="36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SELECTED </a:t>
            </a: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MODEL</a:t>
            </a:r>
            <a:endParaRPr sz="15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87425" y="6683375"/>
            <a:ext cx="153035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50" b="1" spc="-15" baseline="1851" dirty="0">
                <a:solidFill>
                  <a:srgbClr val="1C242F"/>
                </a:solidFill>
                <a:latin typeface="Arial"/>
                <a:cs typeface="Arial"/>
              </a:rPr>
              <a:t>ElasticNet</a:t>
            </a:r>
            <a:r>
              <a:rPr sz="2250" b="1" spc="-300" baseline="1851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800" b="1" spc="-20" dirty="0">
                <a:solidFill>
                  <a:srgbClr val="616F83"/>
                </a:solidFill>
                <a:latin typeface="Arial"/>
                <a:cs typeface="Arial"/>
              </a:rPr>
              <a:t>0.911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25" name="object 25"/>
          <p:cNvGrpSpPr/>
          <p:nvPr/>
        </p:nvGrpSpPr>
        <p:grpSpPr>
          <a:xfrm>
            <a:off x="2895599" y="6457945"/>
            <a:ext cx="1981200" cy="1009650"/>
            <a:chOff x="2895599" y="6457945"/>
            <a:chExt cx="1981200" cy="1009650"/>
          </a:xfrm>
        </p:grpSpPr>
        <p:sp>
          <p:nvSpPr>
            <p:cNvPr id="26" name="object 26"/>
            <p:cNvSpPr/>
            <p:nvPr/>
          </p:nvSpPr>
          <p:spPr>
            <a:xfrm>
              <a:off x="2900362" y="6462708"/>
              <a:ext cx="1971675" cy="1000125"/>
            </a:xfrm>
            <a:custGeom>
              <a:avLst/>
              <a:gdLst/>
              <a:ahLst/>
              <a:cxnLst/>
              <a:rect l="l" t="t" r="r" b="b"/>
              <a:pathLst>
                <a:path w="1971675" h="1000125">
                  <a:moveTo>
                    <a:pt x="1869329" y="1000115"/>
                  </a:moveTo>
                  <a:lnTo>
                    <a:pt x="102345" y="1000115"/>
                  </a:lnTo>
                  <a:lnTo>
                    <a:pt x="95221" y="999418"/>
                  </a:lnTo>
                  <a:lnTo>
                    <a:pt x="54661" y="985642"/>
                  </a:lnTo>
                  <a:lnTo>
                    <a:pt x="22456" y="957411"/>
                  </a:lnTo>
                  <a:lnTo>
                    <a:pt x="3507" y="919004"/>
                  </a:lnTo>
                  <a:lnTo>
                    <a:pt x="0" y="897777"/>
                  </a:lnTo>
                  <a:lnTo>
                    <a:pt x="0" y="890587"/>
                  </a:lnTo>
                  <a:lnTo>
                    <a:pt x="0" y="102337"/>
                  </a:lnTo>
                  <a:lnTo>
                    <a:pt x="11090" y="60954"/>
                  </a:lnTo>
                  <a:lnTo>
                    <a:pt x="37168" y="26984"/>
                  </a:lnTo>
                  <a:lnTo>
                    <a:pt x="74263" y="5580"/>
                  </a:lnTo>
                  <a:lnTo>
                    <a:pt x="102345" y="0"/>
                  </a:lnTo>
                  <a:lnTo>
                    <a:pt x="1869329" y="0"/>
                  </a:lnTo>
                  <a:lnTo>
                    <a:pt x="1910699" y="11078"/>
                  </a:lnTo>
                  <a:lnTo>
                    <a:pt x="1944677" y="37151"/>
                  </a:lnTo>
                  <a:lnTo>
                    <a:pt x="1966088" y="74246"/>
                  </a:lnTo>
                  <a:lnTo>
                    <a:pt x="1971674" y="102337"/>
                  </a:lnTo>
                  <a:lnTo>
                    <a:pt x="1971674" y="897777"/>
                  </a:lnTo>
                  <a:lnTo>
                    <a:pt x="1960583" y="939151"/>
                  </a:lnTo>
                  <a:lnTo>
                    <a:pt x="1934505" y="973121"/>
                  </a:lnTo>
                  <a:lnTo>
                    <a:pt x="1897410" y="994525"/>
                  </a:lnTo>
                  <a:lnTo>
                    <a:pt x="1876452" y="999418"/>
                  </a:lnTo>
                  <a:lnTo>
                    <a:pt x="1869329" y="1000115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2900362" y="6462708"/>
              <a:ext cx="1971675" cy="1000125"/>
            </a:xfrm>
            <a:custGeom>
              <a:avLst/>
              <a:gdLst/>
              <a:ahLst/>
              <a:cxnLst/>
              <a:rect l="l" t="t" r="r" b="b"/>
              <a:pathLst>
                <a:path w="1971675" h="1000125">
                  <a:moveTo>
                    <a:pt x="0" y="890587"/>
                  </a:moveTo>
                  <a:lnTo>
                    <a:pt x="0" y="109537"/>
                  </a:lnTo>
                  <a:lnTo>
                    <a:pt x="0" y="102337"/>
                  </a:lnTo>
                  <a:lnTo>
                    <a:pt x="701" y="95212"/>
                  </a:lnTo>
                  <a:lnTo>
                    <a:pt x="2104" y="88152"/>
                  </a:lnTo>
                  <a:lnTo>
                    <a:pt x="3507" y="81092"/>
                  </a:lnTo>
                  <a:lnTo>
                    <a:pt x="5585" y="74246"/>
                  </a:lnTo>
                  <a:lnTo>
                    <a:pt x="8337" y="67605"/>
                  </a:lnTo>
                  <a:lnTo>
                    <a:pt x="11090" y="60954"/>
                  </a:lnTo>
                  <a:lnTo>
                    <a:pt x="14464" y="54638"/>
                  </a:lnTo>
                  <a:lnTo>
                    <a:pt x="18460" y="48657"/>
                  </a:lnTo>
                  <a:lnTo>
                    <a:pt x="22456" y="42676"/>
                  </a:lnTo>
                  <a:lnTo>
                    <a:pt x="26996" y="37151"/>
                  </a:lnTo>
                  <a:lnTo>
                    <a:pt x="32082" y="32072"/>
                  </a:lnTo>
                  <a:lnTo>
                    <a:pt x="37168" y="26984"/>
                  </a:lnTo>
                  <a:lnTo>
                    <a:pt x="74263" y="5580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1862137" y="0"/>
                  </a:lnTo>
                  <a:lnTo>
                    <a:pt x="1869329" y="0"/>
                  </a:lnTo>
                  <a:lnTo>
                    <a:pt x="1876452" y="697"/>
                  </a:lnTo>
                  <a:lnTo>
                    <a:pt x="1917012" y="14455"/>
                  </a:lnTo>
                  <a:lnTo>
                    <a:pt x="1939591" y="32072"/>
                  </a:lnTo>
                  <a:lnTo>
                    <a:pt x="1944677" y="37151"/>
                  </a:lnTo>
                  <a:lnTo>
                    <a:pt x="1949218" y="42676"/>
                  </a:lnTo>
                  <a:lnTo>
                    <a:pt x="1953214" y="48657"/>
                  </a:lnTo>
                  <a:lnTo>
                    <a:pt x="1957209" y="54638"/>
                  </a:lnTo>
                  <a:lnTo>
                    <a:pt x="1960584" y="60954"/>
                  </a:lnTo>
                  <a:lnTo>
                    <a:pt x="1963336" y="67605"/>
                  </a:lnTo>
                  <a:lnTo>
                    <a:pt x="1966088" y="74246"/>
                  </a:lnTo>
                  <a:lnTo>
                    <a:pt x="1971674" y="109537"/>
                  </a:lnTo>
                  <a:lnTo>
                    <a:pt x="1971674" y="890587"/>
                  </a:lnTo>
                  <a:lnTo>
                    <a:pt x="1971674" y="897777"/>
                  </a:lnTo>
                  <a:lnTo>
                    <a:pt x="1970972" y="904893"/>
                  </a:lnTo>
                  <a:lnTo>
                    <a:pt x="1969569" y="911944"/>
                  </a:lnTo>
                  <a:lnTo>
                    <a:pt x="1968166" y="919004"/>
                  </a:lnTo>
                  <a:lnTo>
                    <a:pt x="1953214" y="951430"/>
                  </a:lnTo>
                  <a:lnTo>
                    <a:pt x="1949218" y="957411"/>
                  </a:lnTo>
                  <a:lnTo>
                    <a:pt x="1922992" y="981651"/>
                  </a:lnTo>
                  <a:lnTo>
                    <a:pt x="1917012" y="985642"/>
                  </a:lnTo>
                  <a:lnTo>
                    <a:pt x="1910700" y="989018"/>
                  </a:lnTo>
                  <a:lnTo>
                    <a:pt x="1904055" y="991771"/>
                  </a:lnTo>
                  <a:lnTo>
                    <a:pt x="1897410" y="994525"/>
                  </a:lnTo>
                  <a:lnTo>
                    <a:pt x="1890560" y="996609"/>
                  </a:lnTo>
                  <a:lnTo>
                    <a:pt x="1883506" y="998013"/>
                  </a:lnTo>
                  <a:lnTo>
                    <a:pt x="1876452" y="999418"/>
                  </a:lnTo>
                  <a:lnTo>
                    <a:pt x="1869329" y="1000115"/>
                  </a:lnTo>
                  <a:lnTo>
                    <a:pt x="1862137" y="1000124"/>
                  </a:lnTo>
                  <a:lnTo>
                    <a:pt x="109537" y="1000124"/>
                  </a:lnTo>
                  <a:lnTo>
                    <a:pt x="102345" y="1000115"/>
                  </a:lnTo>
                  <a:lnTo>
                    <a:pt x="95221" y="999418"/>
                  </a:lnTo>
                  <a:lnTo>
                    <a:pt x="88167" y="998013"/>
                  </a:lnTo>
                  <a:lnTo>
                    <a:pt x="81113" y="996609"/>
                  </a:lnTo>
                  <a:lnTo>
                    <a:pt x="74264" y="994525"/>
                  </a:lnTo>
                  <a:lnTo>
                    <a:pt x="67619" y="991771"/>
                  </a:lnTo>
                  <a:lnTo>
                    <a:pt x="60974" y="989018"/>
                  </a:lnTo>
                  <a:lnTo>
                    <a:pt x="54661" y="985642"/>
                  </a:lnTo>
                  <a:lnTo>
                    <a:pt x="48681" y="981651"/>
                  </a:lnTo>
                  <a:lnTo>
                    <a:pt x="42701" y="977661"/>
                  </a:lnTo>
                  <a:lnTo>
                    <a:pt x="18460" y="951430"/>
                  </a:lnTo>
                  <a:lnTo>
                    <a:pt x="14464" y="945458"/>
                  </a:lnTo>
                  <a:lnTo>
                    <a:pt x="2104" y="911944"/>
                  </a:lnTo>
                  <a:lnTo>
                    <a:pt x="701" y="904893"/>
                  </a:lnTo>
                  <a:lnTo>
                    <a:pt x="0" y="897777"/>
                  </a:lnTo>
                  <a:lnTo>
                    <a:pt x="0" y="890587"/>
                  </a:lnTo>
                  <a:close/>
                </a:path>
              </a:pathLst>
            </a:custGeom>
            <a:ln w="9524">
              <a:solidFill>
                <a:srgbClr val="E4EA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3121024" y="6654799"/>
            <a:ext cx="78740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7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Random Forest</a:t>
            </a:r>
            <a:endParaRPr sz="15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4053879" y="6797675"/>
            <a:ext cx="5975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616F83"/>
                </a:solidFill>
                <a:latin typeface="Arial"/>
                <a:cs typeface="Arial"/>
              </a:rPr>
              <a:t>0.900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029199" y="6457945"/>
            <a:ext cx="1981200" cy="1009650"/>
            <a:chOff x="5029199" y="6457945"/>
            <a:chExt cx="1981200" cy="1009650"/>
          </a:xfrm>
        </p:grpSpPr>
        <p:sp>
          <p:nvSpPr>
            <p:cNvPr id="31" name="object 31"/>
            <p:cNvSpPr/>
            <p:nvPr/>
          </p:nvSpPr>
          <p:spPr>
            <a:xfrm>
              <a:off x="5033961" y="6462708"/>
              <a:ext cx="1971675" cy="1000125"/>
            </a:xfrm>
            <a:custGeom>
              <a:avLst/>
              <a:gdLst/>
              <a:ahLst/>
              <a:cxnLst/>
              <a:rect l="l" t="t" r="r" b="b"/>
              <a:pathLst>
                <a:path w="1971675" h="1000125">
                  <a:moveTo>
                    <a:pt x="1869329" y="1000115"/>
                  </a:moveTo>
                  <a:lnTo>
                    <a:pt x="102345" y="1000115"/>
                  </a:lnTo>
                  <a:lnTo>
                    <a:pt x="95221" y="999418"/>
                  </a:lnTo>
                  <a:lnTo>
                    <a:pt x="54661" y="985642"/>
                  </a:lnTo>
                  <a:lnTo>
                    <a:pt x="22455" y="957411"/>
                  </a:lnTo>
                  <a:lnTo>
                    <a:pt x="3507" y="919004"/>
                  </a:lnTo>
                  <a:lnTo>
                    <a:pt x="0" y="897777"/>
                  </a:lnTo>
                  <a:lnTo>
                    <a:pt x="0" y="890587"/>
                  </a:lnTo>
                  <a:lnTo>
                    <a:pt x="0" y="102337"/>
                  </a:lnTo>
                  <a:lnTo>
                    <a:pt x="11090" y="60954"/>
                  </a:lnTo>
                  <a:lnTo>
                    <a:pt x="37168" y="26984"/>
                  </a:lnTo>
                  <a:lnTo>
                    <a:pt x="74263" y="5580"/>
                  </a:lnTo>
                  <a:lnTo>
                    <a:pt x="102345" y="0"/>
                  </a:lnTo>
                  <a:lnTo>
                    <a:pt x="1869329" y="0"/>
                  </a:lnTo>
                  <a:lnTo>
                    <a:pt x="1910699" y="11078"/>
                  </a:lnTo>
                  <a:lnTo>
                    <a:pt x="1944677" y="37151"/>
                  </a:lnTo>
                  <a:lnTo>
                    <a:pt x="1966088" y="74246"/>
                  </a:lnTo>
                  <a:lnTo>
                    <a:pt x="1971674" y="102337"/>
                  </a:lnTo>
                  <a:lnTo>
                    <a:pt x="1971674" y="897777"/>
                  </a:lnTo>
                  <a:lnTo>
                    <a:pt x="1960583" y="939151"/>
                  </a:lnTo>
                  <a:lnTo>
                    <a:pt x="1934505" y="973121"/>
                  </a:lnTo>
                  <a:lnTo>
                    <a:pt x="1897409" y="994525"/>
                  </a:lnTo>
                  <a:lnTo>
                    <a:pt x="1876453" y="999418"/>
                  </a:lnTo>
                  <a:lnTo>
                    <a:pt x="1869329" y="1000115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033961" y="6462708"/>
              <a:ext cx="1971675" cy="1000125"/>
            </a:xfrm>
            <a:custGeom>
              <a:avLst/>
              <a:gdLst/>
              <a:ahLst/>
              <a:cxnLst/>
              <a:rect l="l" t="t" r="r" b="b"/>
              <a:pathLst>
                <a:path w="1971675" h="1000125">
                  <a:moveTo>
                    <a:pt x="0" y="890587"/>
                  </a:moveTo>
                  <a:lnTo>
                    <a:pt x="0" y="109537"/>
                  </a:lnTo>
                  <a:lnTo>
                    <a:pt x="0" y="102337"/>
                  </a:lnTo>
                  <a:lnTo>
                    <a:pt x="701" y="95212"/>
                  </a:lnTo>
                  <a:lnTo>
                    <a:pt x="2104" y="88152"/>
                  </a:lnTo>
                  <a:lnTo>
                    <a:pt x="3507" y="81092"/>
                  </a:lnTo>
                  <a:lnTo>
                    <a:pt x="5585" y="74246"/>
                  </a:lnTo>
                  <a:lnTo>
                    <a:pt x="8337" y="67605"/>
                  </a:lnTo>
                  <a:lnTo>
                    <a:pt x="11090" y="60954"/>
                  </a:lnTo>
                  <a:lnTo>
                    <a:pt x="32082" y="32072"/>
                  </a:lnTo>
                  <a:lnTo>
                    <a:pt x="37168" y="26984"/>
                  </a:lnTo>
                  <a:lnTo>
                    <a:pt x="74263" y="5580"/>
                  </a:lnTo>
                  <a:lnTo>
                    <a:pt x="88167" y="2102"/>
                  </a:lnTo>
                  <a:lnTo>
                    <a:pt x="95221" y="697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1862137" y="0"/>
                  </a:lnTo>
                  <a:lnTo>
                    <a:pt x="1869329" y="0"/>
                  </a:lnTo>
                  <a:lnTo>
                    <a:pt x="1876453" y="697"/>
                  </a:lnTo>
                  <a:lnTo>
                    <a:pt x="1917011" y="14455"/>
                  </a:lnTo>
                  <a:lnTo>
                    <a:pt x="1939591" y="32072"/>
                  </a:lnTo>
                  <a:lnTo>
                    <a:pt x="1944677" y="37151"/>
                  </a:lnTo>
                  <a:lnTo>
                    <a:pt x="1963336" y="67605"/>
                  </a:lnTo>
                  <a:lnTo>
                    <a:pt x="1966088" y="74246"/>
                  </a:lnTo>
                  <a:lnTo>
                    <a:pt x="1968166" y="81092"/>
                  </a:lnTo>
                  <a:lnTo>
                    <a:pt x="1969569" y="88152"/>
                  </a:lnTo>
                  <a:lnTo>
                    <a:pt x="1970972" y="95212"/>
                  </a:lnTo>
                  <a:lnTo>
                    <a:pt x="1971674" y="102337"/>
                  </a:lnTo>
                  <a:lnTo>
                    <a:pt x="1971675" y="109537"/>
                  </a:lnTo>
                  <a:lnTo>
                    <a:pt x="1971675" y="890587"/>
                  </a:lnTo>
                  <a:lnTo>
                    <a:pt x="1971674" y="897777"/>
                  </a:lnTo>
                  <a:lnTo>
                    <a:pt x="1970972" y="904893"/>
                  </a:lnTo>
                  <a:lnTo>
                    <a:pt x="1969569" y="911944"/>
                  </a:lnTo>
                  <a:lnTo>
                    <a:pt x="1968166" y="919004"/>
                  </a:lnTo>
                  <a:lnTo>
                    <a:pt x="1966088" y="925849"/>
                  </a:lnTo>
                  <a:lnTo>
                    <a:pt x="1963336" y="932501"/>
                  </a:lnTo>
                  <a:lnTo>
                    <a:pt x="1960583" y="939151"/>
                  </a:lnTo>
                  <a:lnTo>
                    <a:pt x="1957209" y="945458"/>
                  </a:lnTo>
                  <a:lnTo>
                    <a:pt x="1953214" y="951430"/>
                  </a:lnTo>
                  <a:lnTo>
                    <a:pt x="1949218" y="957411"/>
                  </a:lnTo>
                  <a:lnTo>
                    <a:pt x="1922992" y="981651"/>
                  </a:lnTo>
                  <a:lnTo>
                    <a:pt x="1917012" y="985642"/>
                  </a:lnTo>
                  <a:lnTo>
                    <a:pt x="1910699" y="989018"/>
                  </a:lnTo>
                  <a:lnTo>
                    <a:pt x="1904054" y="991771"/>
                  </a:lnTo>
                  <a:lnTo>
                    <a:pt x="1897409" y="994525"/>
                  </a:lnTo>
                  <a:lnTo>
                    <a:pt x="1890560" y="996609"/>
                  </a:lnTo>
                  <a:lnTo>
                    <a:pt x="1883506" y="998013"/>
                  </a:lnTo>
                  <a:lnTo>
                    <a:pt x="1876453" y="999418"/>
                  </a:lnTo>
                  <a:lnTo>
                    <a:pt x="1869329" y="1000115"/>
                  </a:lnTo>
                  <a:lnTo>
                    <a:pt x="1862137" y="1000124"/>
                  </a:lnTo>
                  <a:lnTo>
                    <a:pt x="109537" y="1000124"/>
                  </a:lnTo>
                  <a:lnTo>
                    <a:pt x="102345" y="1000115"/>
                  </a:lnTo>
                  <a:lnTo>
                    <a:pt x="95221" y="999418"/>
                  </a:lnTo>
                  <a:lnTo>
                    <a:pt x="88167" y="998013"/>
                  </a:lnTo>
                  <a:lnTo>
                    <a:pt x="81113" y="996609"/>
                  </a:lnTo>
                  <a:lnTo>
                    <a:pt x="74263" y="994525"/>
                  </a:lnTo>
                  <a:lnTo>
                    <a:pt x="67618" y="991771"/>
                  </a:lnTo>
                  <a:lnTo>
                    <a:pt x="60973" y="989018"/>
                  </a:lnTo>
                  <a:lnTo>
                    <a:pt x="54661" y="985642"/>
                  </a:lnTo>
                  <a:lnTo>
                    <a:pt x="48681" y="981651"/>
                  </a:lnTo>
                  <a:lnTo>
                    <a:pt x="42701" y="977661"/>
                  </a:lnTo>
                  <a:lnTo>
                    <a:pt x="18459" y="951430"/>
                  </a:lnTo>
                  <a:lnTo>
                    <a:pt x="14463" y="945458"/>
                  </a:lnTo>
                  <a:lnTo>
                    <a:pt x="2104" y="911944"/>
                  </a:lnTo>
                  <a:lnTo>
                    <a:pt x="701" y="904893"/>
                  </a:lnTo>
                  <a:lnTo>
                    <a:pt x="0" y="897777"/>
                  </a:lnTo>
                  <a:lnTo>
                    <a:pt x="0" y="890587"/>
                  </a:lnTo>
                  <a:close/>
                </a:path>
              </a:pathLst>
            </a:custGeom>
            <a:ln w="9524">
              <a:solidFill>
                <a:srgbClr val="E4EA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3" name="object 33"/>
          <p:cNvSpPr txBox="1"/>
          <p:nvPr/>
        </p:nvSpPr>
        <p:spPr>
          <a:xfrm>
            <a:off x="5254624" y="6654799"/>
            <a:ext cx="85090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7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Gradient Boosting</a:t>
            </a:r>
            <a:endParaRPr sz="150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6200129" y="6797675"/>
            <a:ext cx="5854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616F83"/>
                </a:solidFill>
                <a:latin typeface="Arial"/>
                <a:cs typeface="Arial"/>
              </a:rPr>
              <a:t>0.911</a:t>
            </a:r>
            <a:endParaRPr sz="1800">
              <a:latin typeface="Arial"/>
              <a:cs typeface="Arial"/>
            </a:endParaRPr>
          </a:p>
        </p:txBody>
      </p:sp>
      <p:grpSp>
        <p:nvGrpSpPr>
          <p:cNvPr id="35" name="object 35"/>
          <p:cNvGrpSpPr/>
          <p:nvPr/>
        </p:nvGrpSpPr>
        <p:grpSpPr>
          <a:xfrm>
            <a:off x="761999" y="7619995"/>
            <a:ext cx="6248400" cy="1047750"/>
            <a:chOff x="761999" y="7619995"/>
            <a:chExt cx="6248400" cy="1047750"/>
          </a:xfrm>
        </p:grpSpPr>
        <p:sp>
          <p:nvSpPr>
            <p:cNvPr id="36" name="object 36"/>
            <p:cNvSpPr/>
            <p:nvPr/>
          </p:nvSpPr>
          <p:spPr>
            <a:xfrm>
              <a:off x="766762" y="7624757"/>
              <a:ext cx="6238875" cy="1038225"/>
            </a:xfrm>
            <a:custGeom>
              <a:avLst/>
              <a:gdLst/>
              <a:ahLst/>
              <a:cxnLst/>
              <a:rect l="l" t="t" r="r" b="b"/>
              <a:pathLst>
                <a:path w="6238875" h="1038225">
                  <a:moveTo>
                    <a:pt x="6136529" y="1038215"/>
                  </a:moveTo>
                  <a:lnTo>
                    <a:pt x="102345" y="1038215"/>
                  </a:lnTo>
                  <a:lnTo>
                    <a:pt x="95221" y="1037518"/>
                  </a:lnTo>
                  <a:lnTo>
                    <a:pt x="54661" y="1023742"/>
                  </a:lnTo>
                  <a:lnTo>
                    <a:pt x="22456" y="995511"/>
                  </a:lnTo>
                  <a:lnTo>
                    <a:pt x="3507" y="957094"/>
                  </a:lnTo>
                  <a:lnTo>
                    <a:pt x="0" y="935877"/>
                  </a:lnTo>
                  <a:lnTo>
                    <a:pt x="0" y="928687"/>
                  </a:lnTo>
                  <a:lnTo>
                    <a:pt x="0" y="102347"/>
                  </a:lnTo>
                  <a:lnTo>
                    <a:pt x="11090" y="60973"/>
                  </a:lnTo>
                  <a:lnTo>
                    <a:pt x="37168" y="26993"/>
                  </a:lnTo>
                  <a:lnTo>
                    <a:pt x="74264" y="5590"/>
                  </a:lnTo>
                  <a:lnTo>
                    <a:pt x="102345" y="0"/>
                  </a:lnTo>
                  <a:lnTo>
                    <a:pt x="6136529" y="0"/>
                  </a:lnTo>
                  <a:lnTo>
                    <a:pt x="6177898" y="11078"/>
                  </a:lnTo>
                  <a:lnTo>
                    <a:pt x="6211876" y="37169"/>
                  </a:lnTo>
                  <a:lnTo>
                    <a:pt x="6233288" y="74265"/>
                  </a:lnTo>
                  <a:lnTo>
                    <a:pt x="6238873" y="102347"/>
                  </a:lnTo>
                  <a:lnTo>
                    <a:pt x="6238873" y="935877"/>
                  </a:lnTo>
                  <a:lnTo>
                    <a:pt x="6227783" y="977233"/>
                  </a:lnTo>
                  <a:lnTo>
                    <a:pt x="6201704" y="1011212"/>
                  </a:lnTo>
                  <a:lnTo>
                    <a:pt x="6164609" y="1032625"/>
                  </a:lnTo>
                  <a:lnTo>
                    <a:pt x="6143652" y="1037518"/>
                  </a:lnTo>
                  <a:lnTo>
                    <a:pt x="6136529" y="1038215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7" name="object 37"/>
            <p:cNvSpPr/>
            <p:nvPr/>
          </p:nvSpPr>
          <p:spPr>
            <a:xfrm>
              <a:off x="766762" y="7624757"/>
              <a:ext cx="6238875" cy="1038225"/>
            </a:xfrm>
            <a:custGeom>
              <a:avLst/>
              <a:gdLst/>
              <a:ahLst/>
              <a:cxnLst/>
              <a:rect l="l" t="t" r="r" b="b"/>
              <a:pathLst>
                <a:path w="6238875" h="1038225">
                  <a:moveTo>
                    <a:pt x="0" y="928687"/>
                  </a:moveTo>
                  <a:lnTo>
                    <a:pt x="0" y="109537"/>
                  </a:lnTo>
                  <a:lnTo>
                    <a:pt x="0" y="102347"/>
                  </a:lnTo>
                  <a:lnTo>
                    <a:pt x="701" y="95222"/>
                  </a:lnTo>
                  <a:lnTo>
                    <a:pt x="14464" y="54657"/>
                  </a:lnTo>
                  <a:lnTo>
                    <a:pt x="18460" y="48676"/>
                  </a:lnTo>
                  <a:lnTo>
                    <a:pt x="22456" y="42694"/>
                  </a:lnTo>
                  <a:lnTo>
                    <a:pt x="26997" y="37169"/>
                  </a:lnTo>
                  <a:lnTo>
                    <a:pt x="32082" y="32082"/>
                  </a:lnTo>
                  <a:lnTo>
                    <a:pt x="37168" y="26993"/>
                  </a:lnTo>
                  <a:lnTo>
                    <a:pt x="74264" y="5590"/>
                  </a:lnTo>
                  <a:lnTo>
                    <a:pt x="88167" y="2111"/>
                  </a:lnTo>
                  <a:lnTo>
                    <a:pt x="95221" y="706"/>
                  </a:lnTo>
                  <a:lnTo>
                    <a:pt x="102345" y="0"/>
                  </a:lnTo>
                  <a:lnTo>
                    <a:pt x="109537" y="0"/>
                  </a:lnTo>
                  <a:lnTo>
                    <a:pt x="6129337" y="0"/>
                  </a:lnTo>
                  <a:lnTo>
                    <a:pt x="6136529" y="0"/>
                  </a:lnTo>
                  <a:lnTo>
                    <a:pt x="6143652" y="706"/>
                  </a:lnTo>
                  <a:lnTo>
                    <a:pt x="6150706" y="2111"/>
                  </a:lnTo>
                  <a:lnTo>
                    <a:pt x="6157759" y="3515"/>
                  </a:lnTo>
                  <a:lnTo>
                    <a:pt x="6196171" y="22454"/>
                  </a:lnTo>
                  <a:lnTo>
                    <a:pt x="6206791" y="32082"/>
                  </a:lnTo>
                  <a:lnTo>
                    <a:pt x="6211876" y="37169"/>
                  </a:lnTo>
                  <a:lnTo>
                    <a:pt x="6216417" y="42694"/>
                  </a:lnTo>
                  <a:lnTo>
                    <a:pt x="6220413" y="48676"/>
                  </a:lnTo>
                  <a:lnTo>
                    <a:pt x="6224409" y="54657"/>
                  </a:lnTo>
                  <a:lnTo>
                    <a:pt x="6238172" y="95222"/>
                  </a:lnTo>
                  <a:lnTo>
                    <a:pt x="6238874" y="109537"/>
                  </a:lnTo>
                  <a:lnTo>
                    <a:pt x="6238874" y="928687"/>
                  </a:lnTo>
                  <a:lnTo>
                    <a:pt x="6238873" y="935877"/>
                  </a:lnTo>
                  <a:lnTo>
                    <a:pt x="6238172" y="942993"/>
                  </a:lnTo>
                  <a:lnTo>
                    <a:pt x="6236768" y="950044"/>
                  </a:lnTo>
                  <a:lnTo>
                    <a:pt x="6235366" y="957094"/>
                  </a:lnTo>
                  <a:lnTo>
                    <a:pt x="6233288" y="963941"/>
                  </a:lnTo>
                  <a:lnTo>
                    <a:pt x="6230535" y="970582"/>
                  </a:lnTo>
                  <a:lnTo>
                    <a:pt x="6227783" y="977233"/>
                  </a:lnTo>
                  <a:lnTo>
                    <a:pt x="6224409" y="983539"/>
                  </a:lnTo>
                  <a:lnTo>
                    <a:pt x="6220413" y="989520"/>
                  </a:lnTo>
                  <a:lnTo>
                    <a:pt x="6216417" y="995511"/>
                  </a:lnTo>
                  <a:lnTo>
                    <a:pt x="6184211" y="1023742"/>
                  </a:lnTo>
                  <a:lnTo>
                    <a:pt x="6171254" y="1029871"/>
                  </a:lnTo>
                  <a:lnTo>
                    <a:pt x="6164609" y="1032625"/>
                  </a:lnTo>
                  <a:lnTo>
                    <a:pt x="6157759" y="1034709"/>
                  </a:lnTo>
                  <a:lnTo>
                    <a:pt x="6150706" y="1036113"/>
                  </a:lnTo>
                  <a:lnTo>
                    <a:pt x="6143652" y="1037518"/>
                  </a:lnTo>
                  <a:lnTo>
                    <a:pt x="6136529" y="1038215"/>
                  </a:lnTo>
                  <a:lnTo>
                    <a:pt x="6129337" y="1038224"/>
                  </a:lnTo>
                  <a:lnTo>
                    <a:pt x="109537" y="1038224"/>
                  </a:lnTo>
                  <a:lnTo>
                    <a:pt x="102345" y="1038215"/>
                  </a:lnTo>
                  <a:lnTo>
                    <a:pt x="95221" y="1037518"/>
                  </a:lnTo>
                  <a:lnTo>
                    <a:pt x="88167" y="1036113"/>
                  </a:lnTo>
                  <a:lnTo>
                    <a:pt x="81113" y="1034709"/>
                  </a:lnTo>
                  <a:lnTo>
                    <a:pt x="74264" y="1032625"/>
                  </a:lnTo>
                  <a:lnTo>
                    <a:pt x="67619" y="1029871"/>
                  </a:lnTo>
                  <a:lnTo>
                    <a:pt x="60974" y="1027118"/>
                  </a:lnTo>
                  <a:lnTo>
                    <a:pt x="26997" y="1001045"/>
                  </a:lnTo>
                  <a:lnTo>
                    <a:pt x="18460" y="989520"/>
                  </a:lnTo>
                  <a:lnTo>
                    <a:pt x="14464" y="983539"/>
                  </a:lnTo>
                  <a:lnTo>
                    <a:pt x="11090" y="977233"/>
                  </a:lnTo>
                  <a:lnTo>
                    <a:pt x="8338" y="970582"/>
                  </a:lnTo>
                  <a:lnTo>
                    <a:pt x="5585" y="963941"/>
                  </a:lnTo>
                  <a:lnTo>
                    <a:pt x="3507" y="957094"/>
                  </a:lnTo>
                  <a:lnTo>
                    <a:pt x="2104" y="950044"/>
                  </a:lnTo>
                  <a:lnTo>
                    <a:pt x="701" y="942993"/>
                  </a:lnTo>
                  <a:lnTo>
                    <a:pt x="0" y="935877"/>
                  </a:lnTo>
                  <a:lnTo>
                    <a:pt x="0" y="928687"/>
                  </a:lnTo>
                  <a:close/>
                </a:path>
              </a:pathLst>
            </a:custGeom>
            <a:ln w="9524">
              <a:solidFill>
                <a:srgbClr val="E4EAF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987425" y="7728267"/>
            <a:ext cx="1998980" cy="678180"/>
          </a:xfrm>
          <a:prstGeom prst="rect">
            <a:avLst/>
          </a:prstGeom>
        </p:spPr>
        <p:txBody>
          <a:bodyPr vert="horz" wrap="square" lIns="0" tIns="12953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19"/>
              </a:spcBef>
            </a:pPr>
            <a:r>
              <a:rPr sz="1800" b="1" spc="-10" dirty="0">
                <a:solidFill>
                  <a:srgbClr val="1C242F"/>
                </a:solidFill>
                <a:latin typeface="Arial"/>
                <a:cs typeface="Arial"/>
              </a:rPr>
              <a:t>XGBoost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1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Highest R² but more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complex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39" name="object 39"/>
          <p:cNvSpPr txBox="1"/>
          <p:nvPr/>
        </p:nvSpPr>
        <p:spPr>
          <a:xfrm>
            <a:off x="6044455" y="7940675"/>
            <a:ext cx="741045" cy="368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50" b="1" spc="-10" dirty="0">
                <a:solidFill>
                  <a:srgbClr val="616F83"/>
                </a:solidFill>
                <a:latin typeface="Arial"/>
                <a:cs typeface="Arial"/>
              </a:rPr>
              <a:t>0.917</a:t>
            </a:r>
            <a:endParaRPr sz="22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49299" y="1635125"/>
            <a:ext cx="396938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30" dirty="0"/>
              <a:t> </a:t>
            </a:r>
            <a:r>
              <a:rPr dirty="0"/>
              <a:t>Ridge</a:t>
            </a:r>
            <a:r>
              <a:rPr spc="-30" dirty="0"/>
              <a:t> </a:t>
            </a:r>
            <a:r>
              <a:rPr spc="-10" dirty="0"/>
              <a:t>Regression?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056630" y="2330450"/>
            <a:ext cx="565912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01164" marR="5080" indent="-1689100">
              <a:lnSpc>
                <a:spcPct val="116700"/>
              </a:lnSpc>
              <a:spcBef>
                <a:spcPts val="100"/>
              </a:spcBef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Although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XGBoost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achieved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the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highest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R²,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Ridge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Regression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25" dirty="0">
                <a:solidFill>
                  <a:srgbClr val="1C242F"/>
                </a:solidFill>
                <a:latin typeface="Arial MT"/>
                <a:cs typeface="Arial MT"/>
              </a:rPr>
              <a:t>was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selected</a:t>
            </a:r>
            <a:r>
              <a:rPr sz="15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as</a:t>
            </a:r>
            <a:r>
              <a:rPr sz="15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the</a:t>
            </a:r>
            <a:r>
              <a:rPr sz="15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final</a:t>
            </a:r>
            <a:r>
              <a:rPr sz="15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model</a:t>
            </a:r>
            <a:endParaRPr sz="15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3209920"/>
            <a:ext cx="2971799" cy="571499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054100" y="4418657"/>
            <a:ext cx="19685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50" spc="-455" dirty="0">
                <a:solidFill>
                  <a:srgbClr val="1CC8C8"/>
                </a:solidFill>
                <a:latin typeface="MS PGothic"/>
                <a:cs typeface="MS PGothic"/>
              </a:rPr>
              <a:t>✓</a:t>
            </a:r>
            <a:endParaRPr sz="1750">
              <a:latin typeface="MS PGothic"/>
              <a:cs typeface="MS PGothic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339701" y="4374515"/>
            <a:ext cx="2036445" cy="13589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b="1" spc="-10" dirty="0">
                <a:solidFill>
                  <a:srgbClr val="1C242F"/>
                </a:solidFill>
                <a:latin typeface="Arial"/>
                <a:cs typeface="Arial"/>
              </a:rPr>
              <a:t>Handles </a:t>
            </a: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multicollinearity: 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L2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regularization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effectively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manages highly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correlated features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54100" y="5904557"/>
            <a:ext cx="19685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50" spc="-455" dirty="0">
                <a:solidFill>
                  <a:srgbClr val="1CC8C8"/>
                </a:solidFill>
                <a:latin typeface="MS PGothic"/>
                <a:cs typeface="MS PGothic"/>
              </a:rPr>
              <a:t>✓</a:t>
            </a:r>
            <a:endParaRPr sz="1750">
              <a:latin typeface="MS PGothic"/>
              <a:cs typeface="MS PGothic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39701" y="5860414"/>
            <a:ext cx="2074545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Stable </a:t>
            </a:r>
            <a:r>
              <a:rPr sz="1350" b="1" spc="-10" dirty="0">
                <a:solidFill>
                  <a:srgbClr val="1C242F"/>
                </a:solidFill>
                <a:latin typeface="Arial"/>
                <a:cs typeface="Arial"/>
              </a:rPr>
              <a:t>performance: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Consistent results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across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folds with minimal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variance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054100" y="6857056"/>
            <a:ext cx="19685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50" spc="-455" dirty="0">
                <a:solidFill>
                  <a:srgbClr val="1CC8C8"/>
                </a:solidFill>
                <a:latin typeface="MS PGothic"/>
                <a:cs typeface="MS PGothic"/>
              </a:rPr>
              <a:t>✓</a:t>
            </a:r>
            <a:endParaRPr sz="1750">
              <a:latin typeface="MS PGothic"/>
              <a:cs typeface="MS PGothic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339701" y="6812914"/>
            <a:ext cx="1909445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Interpretable: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Linear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coefficients</a:t>
            </a:r>
            <a:r>
              <a:rPr sz="135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provide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 clear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feature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importance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54100" y="7809556"/>
            <a:ext cx="196850" cy="29718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1750" spc="-455" dirty="0">
                <a:solidFill>
                  <a:srgbClr val="1CC8C8"/>
                </a:solidFill>
                <a:latin typeface="MS PGothic"/>
                <a:cs typeface="MS PGothic"/>
              </a:rPr>
              <a:t>✓</a:t>
            </a:r>
            <a:endParaRPr sz="1750">
              <a:latin typeface="MS PGothic"/>
              <a:cs typeface="MS PGothic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339701" y="7765414"/>
            <a:ext cx="2084070" cy="8255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9600"/>
              </a:lnSpc>
              <a:spcBef>
                <a:spcPts val="100"/>
              </a:spcBef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Efficient: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Fast training 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and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prediction, ideal 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deployment</a:t>
            </a:r>
            <a:endParaRPr sz="1350">
              <a:latin typeface="Arial MT"/>
              <a:cs typeface="Arial MT"/>
            </a:endParaRPr>
          </a:p>
        </p:txBody>
      </p:sp>
      <p:pic>
        <p:nvPicPr>
          <p:cNvPr id="13" name="object 1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38599" y="3209920"/>
            <a:ext cx="2971800" cy="5714990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4330700" y="4414043"/>
            <a:ext cx="2092325" cy="2773045"/>
          </a:xfrm>
          <a:prstGeom prst="rect">
            <a:avLst/>
          </a:prstGeom>
        </p:spPr>
        <p:txBody>
          <a:bodyPr vert="horz" wrap="square" lIns="0" tIns="241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Cross-</a:t>
            </a: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Validation</a:t>
            </a:r>
            <a:r>
              <a:rPr sz="1500" b="1" spc="-8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spc="-25" dirty="0">
                <a:solidFill>
                  <a:srgbClr val="1C242F"/>
                </a:solidFill>
                <a:latin typeface="Arial"/>
                <a:cs typeface="Arial"/>
              </a:rPr>
              <a:t>R²</a:t>
            </a:r>
            <a:endParaRPr sz="1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225"/>
              </a:spcBef>
            </a:pPr>
            <a:r>
              <a:rPr sz="3600" b="1" spc="-10" dirty="0">
                <a:solidFill>
                  <a:srgbClr val="164E9C"/>
                </a:solidFill>
                <a:latin typeface="Arial"/>
                <a:cs typeface="Arial"/>
              </a:rPr>
              <a:t>0.911</a:t>
            </a:r>
            <a:endParaRPr sz="3600">
              <a:latin typeface="Arial"/>
              <a:cs typeface="Arial"/>
            </a:endParaRPr>
          </a:p>
          <a:p>
            <a:pPr marL="12700" marR="219075">
              <a:lnSpc>
                <a:spcPct val="116700"/>
              </a:lnSpc>
              <a:spcBef>
                <a:spcPts val="1455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Performance</a:t>
            </a:r>
            <a:r>
              <a:rPr sz="1500" b="1" spc="-5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Gap</a:t>
            </a:r>
            <a:r>
              <a:rPr sz="1500" b="1" spc="-4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spc="-25" dirty="0">
                <a:solidFill>
                  <a:srgbClr val="1C242F"/>
                </a:solidFill>
                <a:latin typeface="Arial"/>
                <a:cs typeface="Arial"/>
              </a:rPr>
              <a:t>vs </a:t>
            </a: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XGBoost</a:t>
            </a:r>
            <a:endParaRPr sz="1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2700" b="1" spc="-10" dirty="0">
                <a:solidFill>
                  <a:srgbClr val="616F83"/>
                </a:solidFill>
                <a:latin typeface="Arial"/>
                <a:cs typeface="Arial"/>
              </a:rPr>
              <a:t>~0.6%</a:t>
            </a:r>
            <a:endParaRPr sz="27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37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Minimal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accuracy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trade-off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significantly better stability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and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interpretability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95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4603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Ridge Hyperparameter </a:t>
            </a:r>
            <a:r>
              <a:rPr spc="-10" dirty="0"/>
              <a:t>Optimization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5895969"/>
            <a:ext cx="2971799" cy="304799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6111874"/>
            <a:ext cx="1765935" cy="2597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4E9C"/>
                </a:solidFill>
                <a:latin typeface="Arial"/>
                <a:cs typeface="Arial"/>
              </a:rPr>
              <a:t>Optimal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Results</a:t>
            </a:r>
            <a:endParaRPr sz="18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590"/>
              </a:spcBef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Best</a:t>
            </a:r>
            <a:r>
              <a:rPr sz="1350" b="1" spc="-5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350" b="1" spc="-10" dirty="0">
                <a:solidFill>
                  <a:srgbClr val="1C242F"/>
                </a:solidFill>
                <a:latin typeface="Arial"/>
                <a:cs typeface="Arial"/>
              </a:rPr>
              <a:t>Alpha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2700" b="1" spc="-25" dirty="0">
                <a:solidFill>
                  <a:srgbClr val="1CC8C8"/>
                </a:solidFill>
                <a:latin typeface="Arial"/>
                <a:cs typeface="Arial"/>
              </a:rPr>
              <a:t>10</a:t>
            </a:r>
            <a:endParaRPr sz="2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110"/>
              </a:spcBef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Best CV </a:t>
            </a:r>
            <a:r>
              <a:rPr sz="1350" b="1" spc="-25" dirty="0">
                <a:solidFill>
                  <a:srgbClr val="1C242F"/>
                </a:solidFill>
                <a:latin typeface="Arial"/>
                <a:cs typeface="Arial"/>
              </a:rPr>
              <a:t>R²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0"/>
              </a:spcBef>
            </a:pPr>
            <a:r>
              <a:rPr sz="2700" b="1" spc="-10" dirty="0">
                <a:solidFill>
                  <a:srgbClr val="164E9C"/>
                </a:solidFill>
                <a:latin typeface="Arial"/>
                <a:cs typeface="Arial"/>
              </a:rPr>
              <a:t>0.9215</a:t>
            </a:r>
            <a:endParaRPr sz="27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110"/>
              </a:spcBef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Validation</a:t>
            </a:r>
            <a:r>
              <a:rPr sz="1350" b="1" spc="-7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350" b="1" spc="-25" dirty="0">
                <a:solidFill>
                  <a:srgbClr val="1C242F"/>
                </a:solidFill>
                <a:latin typeface="Arial"/>
                <a:cs typeface="Arial"/>
              </a:rPr>
              <a:t>R²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2250" b="1" spc="-10" dirty="0">
                <a:solidFill>
                  <a:srgbClr val="1CC8C8"/>
                </a:solidFill>
                <a:latin typeface="Arial"/>
                <a:cs typeface="Arial"/>
              </a:rPr>
              <a:t>0.9053</a:t>
            </a:r>
            <a:endParaRPr sz="225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761999" y="2036064"/>
            <a:ext cx="6553200" cy="3631565"/>
            <a:chOff x="761999" y="2036064"/>
            <a:chExt cx="6553200" cy="3631565"/>
          </a:xfrm>
        </p:grpSpPr>
        <p:sp>
          <p:nvSpPr>
            <p:cNvPr id="7" name="object 7"/>
            <p:cNvSpPr/>
            <p:nvPr/>
          </p:nvSpPr>
          <p:spPr>
            <a:xfrm>
              <a:off x="3483863" y="2036064"/>
              <a:ext cx="3831590" cy="2158365"/>
            </a:xfrm>
            <a:custGeom>
              <a:avLst/>
              <a:gdLst/>
              <a:ahLst/>
              <a:cxnLst/>
              <a:rect l="l" t="t" r="r" b="b"/>
              <a:pathLst>
                <a:path w="3831590" h="2158365">
                  <a:moveTo>
                    <a:pt x="3831335" y="2157983"/>
                  </a:moveTo>
                  <a:lnTo>
                    <a:pt x="0" y="2157983"/>
                  </a:lnTo>
                  <a:lnTo>
                    <a:pt x="0" y="0"/>
                  </a:lnTo>
                  <a:lnTo>
                    <a:pt x="3831335" y="0"/>
                  </a:lnTo>
                  <a:lnTo>
                    <a:pt x="3831335" y="316610"/>
                  </a:lnTo>
                  <a:lnTo>
                    <a:pt x="669035" y="316610"/>
                  </a:lnTo>
                  <a:lnTo>
                    <a:pt x="657775" y="317154"/>
                  </a:lnTo>
                  <a:lnTo>
                    <a:pt x="615100" y="330122"/>
                  </a:lnTo>
                  <a:lnTo>
                    <a:pt x="580635" y="358434"/>
                  </a:lnTo>
                  <a:lnTo>
                    <a:pt x="559629" y="397780"/>
                  </a:lnTo>
                  <a:lnTo>
                    <a:pt x="554735" y="430910"/>
                  </a:lnTo>
                  <a:lnTo>
                    <a:pt x="554735" y="1250060"/>
                  </a:lnTo>
                  <a:lnTo>
                    <a:pt x="563435" y="1293801"/>
                  </a:lnTo>
                  <a:lnTo>
                    <a:pt x="588213" y="1330882"/>
                  </a:lnTo>
                  <a:lnTo>
                    <a:pt x="625294" y="1355659"/>
                  </a:lnTo>
                  <a:lnTo>
                    <a:pt x="669035" y="1364360"/>
                  </a:lnTo>
                  <a:lnTo>
                    <a:pt x="3831335" y="1364360"/>
                  </a:lnTo>
                  <a:lnTo>
                    <a:pt x="3831335" y="2157983"/>
                  </a:lnTo>
                  <a:close/>
                </a:path>
                <a:path w="3831590" h="2158365">
                  <a:moveTo>
                    <a:pt x="3831335" y="1364360"/>
                  </a:moveTo>
                  <a:lnTo>
                    <a:pt x="3412235" y="1364360"/>
                  </a:lnTo>
                  <a:lnTo>
                    <a:pt x="3423495" y="1363816"/>
                  </a:lnTo>
                  <a:lnTo>
                    <a:pt x="3434538" y="1362185"/>
                  </a:lnTo>
                  <a:lnTo>
                    <a:pt x="3475749" y="1345115"/>
                  </a:lnTo>
                  <a:lnTo>
                    <a:pt x="3507290" y="1313574"/>
                  </a:lnTo>
                  <a:lnTo>
                    <a:pt x="3524360" y="1272363"/>
                  </a:lnTo>
                  <a:lnTo>
                    <a:pt x="3526535" y="1250060"/>
                  </a:lnTo>
                  <a:lnTo>
                    <a:pt x="3526535" y="430910"/>
                  </a:lnTo>
                  <a:lnTo>
                    <a:pt x="3517834" y="387170"/>
                  </a:lnTo>
                  <a:lnTo>
                    <a:pt x="3493057" y="350088"/>
                  </a:lnTo>
                  <a:lnTo>
                    <a:pt x="3455975" y="325311"/>
                  </a:lnTo>
                  <a:lnTo>
                    <a:pt x="3412235" y="316610"/>
                  </a:lnTo>
                  <a:lnTo>
                    <a:pt x="3831335" y="316610"/>
                  </a:lnTo>
                  <a:lnTo>
                    <a:pt x="3831335" y="1364360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38599" y="2352674"/>
              <a:ext cx="2971799" cy="1047749"/>
            </a:xfrm>
            <a:prstGeom prst="rect">
              <a:avLst/>
            </a:prstGeom>
          </p:spPr>
        </p:pic>
        <p:sp>
          <p:nvSpPr>
            <p:cNvPr id="9" name="object 9"/>
            <p:cNvSpPr/>
            <p:nvPr/>
          </p:nvSpPr>
          <p:spPr>
            <a:xfrm>
              <a:off x="761999" y="2352670"/>
              <a:ext cx="2971800" cy="3314700"/>
            </a:xfrm>
            <a:custGeom>
              <a:avLst/>
              <a:gdLst/>
              <a:ahLst/>
              <a:cxnLst/>
              <a:rect l="l" t="t" r="r" b="b"/>
              <a:pathLst>
                <a:path w="2971800" h="3314700">
                  <a:moveTo>
                    <a:pt x="2865004" y="3314690"/>
                  </a:moveTo>
                  <a:lnTo>
                    <a:pt x="106794" y="3314690"/>
                  </a:lnTo>
                  <a:lnTo>
                    <a:pt x="99362" y="3313955"/>
                  </a:lnTo>
                  <a:lnTo>
                    <a:pt x="57038" y="3299584"/>
                  </a:lnTo>
                  <a:lnTo>
                    <a:pt x="23432" y="3270116"/>
                  </a:lnTo>
                  <a:lnTo>
                    <a:pt x="3660" y="3230044"/>
                  </a:lnTo>
                  <a:lnTo>
                    <a:pt x="0" y="3207896"/>
                  </a:lnTo>
                  <a:lnTo>
                    <a:pt x="0" y="3200399"/>
                  </a:lnTo>
                  <a:lnTo>
                    <a:pt x="0" y="106793"/>
                  </a:lnTo>
                  <a:lnTo>
                    <a:pt x="11572" y="63605"/>
                  </a:lnTo>
                  <a:lnTo>
                    <a:pt x="38784" y="28156"/>
                  </a:lnTo>
                  <a:lnTo>
                    <a:pt x="77493" y="5822"/>
                  </a:lnTo>
                  <a:lnTo>
                    <a:pt x="106794" y="0"/>
                  </a:lnTo>
                  <a:lnTo>
                    <a:pt x="2865004" y="0"/>
                  </a:lnTo>
                  <a:lnTo>
                    <a:pt x="2908173" y="11570"/>
                  </a:lnTo>
                  <a:lnTo>
                    <a:pt x="2943628" y="38779"/>
                  </a:lnTo>
                  <a:lnTo>
                    <a:pt x="2965971" y="77483"/>
                  </a:lnTo>
                  <a:lnTo>
                    <a:pt x="2971799" y="106793"/>
                  </a:lnTo>
                  <a:lnTo>
                    <a:pt x="2971799" y="3207896"/>
                  </a:lnTo>
                  <a:lnTo>
                    <a:pt x="2960226" y="3251047"/>
                  </a:lnTo>
                  <a:lnTo>
                    <a:pt x="2933014" y="3286505"/>
                  </a:lnTo>
                  <a:lnTo>
                    <a:pt x="2894306" y="3308848"/>
                  </a:lnTo>
                  <a:lnTo>
                    <a:pt x="2872437" y="3313955"/>
                  </a:lnTo>
                  <a:lnTo>
                    <a:pt x="2865004" y="331469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977900" y="2568575"/>
            <a:ext cx="2379980" cy="28467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4E9C"/>
                </a:solidFill>
                <a:latin typeface="Arial"/>
                <a:cs typeface="Arial"/>
              </a:rPr>
              <a:t>GridSearchCV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Setup</a:t>
            </a:r>
            <a:endParaRPr sz="1800">
              <a:latin typeface="Arial"/>
              <a:cs typeface="Arial"/>
            </a:endParaRPr>
          </a:p>
          <a:p>
            <a:pPr marL="12700" marR="664845">
              <a:lnSpc>
                <a:spcPct val="125000"/>
              </a:lnSpc>
              <a:spcBef>
                <a:spcPts val="85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Systematic search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over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regularization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parameter:</a:t>
            </a:r>
            <a:endParaRPr sz="1200">
              <a:latin typeface="Arial MT"/>
              <a:cs typeface="Arial MT"/>
            </a:endParaRPr>
          </a:p>
          <a:p>
            <a:pPr marL="12700" marR="56515" indent="95885">
              <a:lnSpc>
                <a:spcPct val="125000"/>
              </a:lnSpc>
              <a:spcBef>
                <a:spcPts val="12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Parameter</a:t>
            </a:r>
            <a:r>
              <a:rPr sz="1200" b="1" spc="-1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Grid:</a:t>
            </a:r>
            <a:r>
              <a:rPr sz="1200" b="1" spc="-1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alpha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=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[0.1,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1,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10, 50,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100]</a:t>
            </a:r>
            <a:endParaRPr sz="1200">
              <a:latin typeface="Arial MT"/>
              <a:cs typeface="Arial MT"/>
            </a:endParaRPr>
          </a:p>
          <a:p>
            <a:pPr marL="108585" indent="-95885">
              <a:lnSpc>
                <a:spcPct val="100000"/>
              </a:lnSpc>
              <a:spcBef>
                <a:spcPts val="96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Cross-</a:t>
            </a:r>
            <a:r>
              <a:rPr sz="1200" b="1" spc="-10" dirty="0">
                <a:solidFill>
                  <a:srgbClr val="1C242F"/>
                </a:solidFill>
                <a:latin typeface="Arial"/>
                <a:cs typeface="Arial"/>
              </a:rPr>
              <a:t>Validation: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5-fold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CV</a:t>
            </a:r>
            <a:endParaRPr sz="1200">
              <a:latin typeface="Arial MT"/>
              <a:cs typeface="Arial MT"/>
            </a:endParaRPr>
          </a:p>
          <a:p>
            <a:pPr marL="12700" marR="5080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Scoring</a:t>
            </a:r>
            <a:r>
              <a:rPr sz="1200" b="1" spc="-2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Metric:</a:t>
            </a:r>
            <a:r>
              <a:rPr sz="1200" b="1" spc="-1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R²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(coefficient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of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determination)</a:t>
            </a:r>
            <a:endParaRPr sz="1200">
              <a:latin typeface="Arial MT"/>
              <a:cs typeface="Arial MT"/>
            </a:endParaRPr>
          </a:p>
          <a:p>
            <a:pPr marL="12700" marR="43815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Goal:</a:t>
            </a:r>
            <a:r>
              <a:rPr sz="1200" b="1" spc="-1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Find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optimal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regularization strength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4038599" y="3552829"/>
            <a:ext cx="2971800" cy="2286000"/>
          </a:xfrm>
          <a:custGeom>
            <a:avLst/>
            <a:gdLst/>
            <a:ahLst/>
            <a:cxnLst/>
            <a:rect l="l" t="t" r="r" b="b"/>
            <a:pathLst>
              <a:path w="2971800" h="2286000">
                <a:moveTo>
                  <a:pt x="2865004" y="2285990"/>
                </a:moveTo>
                <a:lnTo>
                  <a:pt x="106795" y="2285990"/>
                </a:lnTo>
                <a:lnTo>
                  <a:pt x="99362" y="2285255"/>
                </a:lnTo>
                <a:lnTo>
                  <a:pt x="57038" y="2270875"/>
                </a:lnTo>
                <a:lnTo>
                  <a:pt x="23432" y="2241416"/>
                </a:lnTo>
                <a:lnTo>
                  <a:pt x="3660" y="2201334"/>
                </a:lnTo>
                <a:lnTo>
                  <a:pt x="0" y="2179187"/>
                </a:lnTo>
                <a:lnTo>
                  <a:pt x="0" y="2171690"/>
                </a:lnTo>
                <a:lnTo>
                  <a:pt x="0" y="106783"/>
                </a:lnTo>
                <a:lnTo>
                  <a:pt x="11572" y="63605"/>
                </a:lnTo>
                <a:lnTo>
                  <a:pt x="38784" y="28147"/>
                </a:lnTo>
                <a:lnTo>
                  <a:pt x="77492" y="5804"/>
                </a:lnTo>
                <a:lnTo>
                  <a:pt x="106795" y="0"/>
                </a:lnTo>
                <a:lnTo>
                  <a:pt x="2865004" y="0"/>
                </a:lnTo>
                <a:lnTo>
                  <a:pt x="2908174" y="11543"/>
                </a:lnTo>
                <a:lnTo>
                  <a:pt x="2943629" y="38760"/>
                </a:lnTo>
                <a:lnTo>
                  <a:pt x="2965970" y="77464"/>
                </a:lnTo>
                <a:lnTo>
                  <a:pt x="2971800" y="106783"/>
                </a:lnTo>
                <a:lnTo>
                  <a:pt x="2971800" y="2179187"/>
                </a:lnTo>
                <a:lnTo>
                  <a:pt x="2960226" y="2222356"/>
                </a:lnTo>
                <a:lnTo>
                  <a:pt x="2933015" y="2257805"/>
                </a:lnTo>
                <a:lnTo>
                  <a:pt x="2894306" y="2280148"/>
                </a:lnTo>
                <a:lnTo>
                  <a:pt x="2872437" y="2285255"/>
                </a:lnTo>
                <a:lnTo>
                  <a:pt x="2865004" y="228599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/>
          <p:cNvSpPr txBox="1"/>
          <p:nvPr/>
        </p:nvSpPr>
        <p:spPr>
          <a:xfrm>
            <a:off x="4216400" y="3740150"/>
            <a:ext cx="2416810" cy="1884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Validation</a:t>
            </a:r>
            <a:r>
              <a:rPr sz="1500" b="1" spc="-65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Curve</a:t>
            </a:r>
            <a:r>
              <a:rPr sz="1500" b="1" spc="-65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Insights</a:t>
            </a:r>
            <a:endParaRPr sz="1500">
              <a:latin typeface="Arial"/>
              <a:cs typeface="Arial"/>
            </a:endParaRPr>
          </a:p>
          <a:p>
            <a:pPr marL="12700" marR="5080" indent="95885">
              <a:lnSpc>
                <a:spcPct val="125000"/>
              </a:lnSpc>
              <a:spcBef>
                <a:spcPts val="84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Low</a:t>
            </a:r>
            <a:r>
              <a:rPr sz="1200" b="1" spc="-1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alpha:</a:t>
            </a:r>
            <a:r>
              <a:rPr sz="1200" b="1" spc="-1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Overfitting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(high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train,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lower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validation)</a:t>
            </a:r>
            <a:endParaRPr sz="1200">
              <a:latin typeface="Arial MT"/>
              <a:cs typeface="Arial MT"/>
            </a:endParaRPr>
          </a:p>
          <a:p>
            <a:pPr marL="12700" marR="292735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α</a:t>
            </a:r>
            <a:r>
              <a:rPr sz="1200" b="1" spc="-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≈ 10: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Optimal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balance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(best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validation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R²)</a:t>
            </a:r>
            <a:endParaRPr sz="1200">
              <a:latin typeface="Arial MT"/>
              <a:cs typeface="Arial MT"/>
            </a:endParaRPr>
          </a:p>
          <a:p>
            <a:pPr marL="12700" marR="259079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High</a:t>
            </a:r>
            <a:r>
              <a:rPr sz="1200" b="1" spc="-2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alpha:</a:t>
            </a:r>
            <a:r>
              <a:rPr sz="1200" b="1" spc="-2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Underfitting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(both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metrics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drop)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74675" rIns="0" bIns="0" rtlCol="0">
            <a:spAutoFit/>
          </a:bodyPr>
          <a:lstStyle/>
          <a:p>
            <a:pPr marL="12700" marR="5080">
              <a:lnSpc>
                <a:spcPts val="3000"/>
              </a:lnSpc>
              <a:spcBef>
                <a:spcPts val="400"/>
              </a:spcBef>
            </a:pPr>
            <a:r>
              <a:rPr dirty="0"/>
              <a:t>Model</a:t>
            </a:r>
            <a:r>
              <a:rPr spc="-35" dirty="0"/>
              <a:t> </a:t>
            </a:r>
            <a:r>
              <a:rPr dirty="0"/>
              <a:t>Diagnostics:</a:t>
            </a:r>
            <a:r>
              <a:rPr spc="-30" dirty="0"/>
              <a:t> </a:t>
            </a:r>
            <a:r>
              <a:rPr dirty="0"/>
              <a:t>Learning</a:t>
            </a:r>
            <a:r>
              <a:rPr spc="-25" dirty="0"/>
              <a:t> </a:t>
            </a:r>
            <a:r>
              <a:rPr spc="-10" dirty="0"/>
              <a:t>Curve Analysis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7038969"/>
            <a:ext cx="6248399" cy="182879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144736" y="7331075"/>
            <a:ext cx="5483225" cy="12026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C242F"/>
                </a:solidFill>
                <a:latin typeface="Arial"/>
                <a:cs typeface="Arial"/>
              </a:rPr>
              <a:t>Learning Curve </a:t>
            </a:r>
            <a:r>
              <a:rPr sz="1800" b="1" spc="-10" dirty="0">
                <a:solidFill>
                  <a:srgbClr val="1C242F"/>
                </a:solidFill>
                <a:latin typeface="Arial"/>
                <a:cs typeface="Arial"/>
              </a:rPr>
              <a:t>Conclusion</a:t>
            </a:r>
            <a:endParaRPr sz="1800">
              <a:latin typeface="Arial"/>
              <a:cs typeface="Arial"/>
            </a:endParaRPr>
          </a:p>
          <a:p>
            <a:pPr marL="12065" marR="5080" indent="-635" algn="ctr">
              <a:lnSpc>
                <a:spcPct val="129600"/>
              </a:lnSpc>
              <a:spcBef>
                <a:spcPts val="810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Ridge Regression benefits from additional training data and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maintains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stable,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consistent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performance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across different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data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subsets,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confirming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model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robustness.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761999" y="2809869"/>
            <a:ext cx="2971800" cy="3924300"/>
          </a:xfrm>
          <a:custGeom>
            <a:avLst/>
            <a:gdLst/>
            <a:ahLst/>
            <a:cxnLst/>
            <a:rect l="l" t="t" r="r" b="b"/>
            <a:pathLst>
              <a:path w="2971800" h="3924300">
                <a:moveTo>
                  <a:pt x="2865004" y="3924299"/>
                </a:moveTo>
                <a:lnTo>
                  <a:pt x="106794" y="3924299"/>
                </a:lnTo>
                <a:lnTo>
                  <a:pt x="99362" y="3923565"/>
                </a:lnTo>
                <a:lnTo>
                  <a:pt x="57038" y="3909193"/>
                </a:lnTo>
                <a:lnTo>
                  <a:pt x="23432" y="3879725"/>
                </a:lnTo>
                <a:lnTo>
                  <a:pt x="3660" y="3839653"/>
                </a:lnTo>
                <a:lnTo>
                  <a:pt x="0" y="3817506"/>
                </a:lnTo>
                <a:lnTo>
                  <a:pt x="0" y="3809999"/>
                </a:lnTo>
                <a:lnTo>
                  <a:pt x="0" y="106793"/>
                </a:lnTo>
                <a:lnTo>
                  <a:pt x="11572" y="63614"/>
                </a:lnTo>
                <a:lnTo>
                  <a:pt x="38784" y="28156"/>
                </a:lnTo>
                <a:lnTo>
                  <a:pt x="77493" y="5822"/>
                </a:lnTo>
                <a:lnTo>
                  <a:pt x="106794" y="0"/>
                </a:lnTo>
                <a:lnTo>
                  <a:pt x="2865004" y="0"/>
                </a:lnTo>
                <a:lnTo>
                  <a:pt x="2908173" y="11570"/>
                </a:lnTo>
                <a:lnTo>
                  <a:pt x="2943628" y="38769"/>
                </a:lnTo>
                <a:lnTo>
                  <a:pt x="2965971" y="77474"/>
                </a:lnTo>
                <a:lnTo>
                  <a:pt x="2971799" y="106793"/>
                </a:lnTo>
                <a:lnTo>
                  <a:pt x="2971799" y="3817506"/>
                </a:lnTo>
                <a:lnTo>
                  <a:pt x="2960226" y="3860666"/>
                </a:lnTo>
                <a:lnTo>
                  <a:pt x="2933014" y="3896115"/>
                </a:lnTo>
                <a:lnTo>
                  <a:pt x="2894306" y="3918458"/>
                </a:lnTo>
                <a:lnTo>
                  <a:pt x="2872437" y="3923565"/>
                </a:lnTo>
                <a:lnTo>
                  <a:pt x="2865004" y="3924299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/>
          <p:nvPr/>
        </p:nvSpPr>
        <p:spPr>
          <a:xfrm>
            <a:off x="1054100" y="3082925"/>
            <a:ext cx="2296795" cy="2440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66090">
              <a:lnSpc>
                <a:spcPct val="100000"/>
              </a:lnSpc>
              <a:spcBef>
                <a:spcPts val="100"/>
              </a:spcBef>
            </a:pPr>
            <a:r>
              <a:rPr sz="2250" b="1" spc="-10" dirty="0">
                <a:solidFill>
                  <a:srgbClr val="164E9C"/>
                </a:solidFill>
                <a:latin typeface="Arial"/>
                <a:cs typeface="Arial"/>
              </a:rPr>
              <a:t>Convergence Behavior</a:t>
            </a:r>
            <a:endParaRPr sz="2250">
              <a:latin typeface="Arial"/>
              <a:cs typeface="Arial"/>
            </a:endParaRPr>
          </a:p>
          <a:p>
            <a:pPr marL="12700" marR="5080">
              <a:lnSpc>
                <a:spcPct val="129600"/>
              </a:lnSpc>
              <a:spcBef>
                <a:spcPts val="1019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Training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and</a:t>
            </a:r>
            <a:r>
              <a:rPr sz="1350" spc="-2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validation</a:t>
            </a:r>
            <a:r>
              <a:rPr sz="1350" spc="-2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curves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gradually converge,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indicating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a healthy bias-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variance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balance.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The model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learns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meaningful patterns as </a:t>
            </a:r>
            <a:r>
              <a:rPr sz="1350" spc="-20" dirty="0">
                <a:solidFill>
                  <a:srgbClr val="1C242F"/>
                </a:solidFill>
                <a:latin typeface="Arial MT"/>
                <a:cs typeface="Arial MT"/>
              </a:rPr>
              <a:t>more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data is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added.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4038599" y="2809869"/>
            <a:ext cx="2971800" cy="3924300"/>
          </a:xfrm>
          <a:custGeom>
            <a:avLst/>
            <a:gdLst/>
            <a:ahLst/>
            <a:cxnLst/>
            <a:rect l="l" t="t" r="r" b="b"/>
            <a:pathLst>
              <a:path w="2971800" h="3924300">
                <a:moveTo>
                  <a:pt x="2865004" y="3924299"/>
                </a:moveTo>
                <a:lnTo>
                  <a:pt x="106795" y="3924299"/>
                </a:lnTo>
                <a:lnTo>
                  <a:pt x="99362" y="3923565"/>
                </a:lnTo>
                <a:lnTo>
                  <a:pt x="57038" y="3909193"/>
                </a:lnTo>
                <a:lnTo>
                  <a:pt x="23432" y="3879725"/>
                </a:lnTo>
                <a:lnTo>
                  <a:pt x="3660" y="3839653"/>
                </a:lnTo>
                <a:lnTo>
                  <a:pt x="0" y="3817506"/>
                </a:lnTo>
                <a:lnTo>
                  <a:pt x="0" y="3809999"/>
                </a:lnTo>
                <a:lnTo>
                  <a:pt x="0" y="106793"/>
                </a:lnTo>
                <a:lnTo>
                  <a:pt x="11572" y="63614"/>
                </a:lnTo>
                <a:lnTo>
                  <a:pt x="38784" y="28156"/>
                </a:lnTo>
                <a:lnTo>
                  <a:pt x="77492" y="5822"/>
                </a:lnTo>
                <a:lnTo>
                  <a:pt x="106795" y="0"/>
                </a:lnTo>
                <a:lnTo>
                  <a:pt x="2865004" y="0"/>
                </a:lnTo>
                <a:lnTo>
                  <a:pt x="2908174" y="11570"/>
                </a:lnTo>
                <a:lnTo>
                  <a:pt x="2943629" y="38769"/>
                </a:lnTo>
                <a:lnTo>
                  <a:pt x="2965970" y="77474"/>
                </a:lnTo>
                <a:lnTo>
                  <a:pt x="2971800" y="106793"/>
                </a:lnTo>
                <a:lnTo>
                  <a:pt x="2971800" y="3817506"/>
                </a:lnTo>
                <a:lnTo>
                  <a:pt x="2960226" y="3860666"/>
                </a:lnTo>
                <a:lnTo>
                  <a:pt x="2933015" y="3896115"/>
                </a:lnTo>
                <a:lnTo>
                  <a:pt x="2894306" y="3918458"/>
                </a:lnTo>
                <a:lnTo>
                  <a:pt x="2872437" y="3923565"/>
                </a:lnTo>
                <a:lnTo>
                  <a:pt x="2865004" y="3924299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4330700" y="3082925"/>
            <a:ext cx="2277745" cy="1374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30530">
              <a:lnSpc>
                <a:spcPct val="100000"/>
              </a:lnSpc>
              <a:spcBef>
                <a:spcPts val="100"/>
              </a:spcBef>
            </a:pPr>
            <a:r>
              <a:rPr sz="2250" b="1" spc="-25" dirty="0">
                <a:solidFill>
                  <a:srgbClr val="1CC8C8"/>
                </a:solidFill>
                <a:latin typeface="Arial"/>
                <a:cs typeface="Arial"/>
              </a:rPr>
              <a:t>Key </a:t>
            </a:r>
            <a:r>
              <a:rPr sz="2250" b="1" spc="-10" dirty="0">
                <a:solidFill>
                  <a:srgbClr val="1CC8C8"/>
                </a:solidFill>
                <a:latin typeface="Arial"/>
                <a:cs typeface="Arial"/>
              </a:rPr>
              <a:t>Observations</a:t>
            </a:r>
            <a:endParaRPr sz="2250">
              <a:latin typeface="Arial"/>
              <a:cs typeface="Arial"/>
            </a:endParaRPr>
          </a:p>
          <a:p>
            <a:pPr marL="120014" indent="-107314">
              <a:lnSpc>
                <a:spcPct val="100000"/>
              </a:lnSpc>
              <a:spcBef>
                <a:spcPts val="1500"/>
              </a:spcBef>
              <a:buFont typeface="Arial MT"/>
              <a:buChar char="•"/>
              <a:tabLst>
                <a:tab pos="120014" algn="l"/>
              </a:tabLst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Validation</a:t>
            </a:r>
            <a:r>
              <a:rPr sz="1350" b="1" spc="-4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error</a:t>
            </a:r>
            <a:r>
              <a:rPr sz="1350" b="1" spc="-3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350" b="1" spc="-10" dirty="0">
                <a:solidFill>
                  <a:srgbClr val="1C242F"/>
                </a:solidFill>
                <a:latin typeface="Arial"/>
                <a:cs typeface="Arial"/>
              </a:rPr>
              <a:t>decreases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80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with more training </a:t>
            </a:r>
            <a:r>
              <a:rPr sz="1350" spc="-20" dirty="0">
                <a:solidFill>
                  <a:srgbClr val="1C242F"/>
                </a:solidFill>
                <a:latin typeface="Arial MT"/>
                <a:cs typeface="Arial MT"/>
              </a:rPr>
              <a:t>data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4330700" y="4545965"/>
            <a:ext cx="224917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07314">
              <a:lnSpc>
                <a:spcPct val="129600"/>
              </a:lnSpc>
              <a:spcBef>
                <a:spcPts val="100"/>
              </a:spcBef>
              <a:buFont typeface="Arial MT"/>
              <a:buChar char="•"/>
              <a:tabLst>
                <a:tab pos="120014" algn="l"/>
              </a:tabLst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No</a:t>
            </a:r>
            <a:r>
              <a:rPr sz="1350" b="1" spc="-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large</a:t>
            </a:r>
            <a:r>
              <a:rPr sz="1350" b="1" spc="-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gap</a:t>
            </a:r>
            <a:r>
              <a:rPr sz="1350" b="1" spc="-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between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train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and validation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scores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330700" y="5193665"/>
            <a:ext cx="1762125" cy="558800"/>
          </a:xfrm>
          <a:prstGeom prst="rect">
            <a:avLst/>
          </a:prstGeom>
        </p:spPr>
        <p:txBody>
          <a:bodyPr vert="horz" wrap="square" lIns="0" tIns="73660" rIns="0" bIns="0" rtlCol="0">
            <a:spAutoFit/>
          </a:bodyPr>
          <a:lstStyle/>
          <a:p>
            <a:pPr marL="120014" indent="-107314">
              <a:lnSpc>
                <a:spcPct val="100000"/>
              </a:lnSpc>
              <a:spcBef>
                <a:spcPts val="580"/>
              </a:spcBef>
              <a:buFont typeface="Arial MT"/>
              <a:buChar char="•"/>
              <a:tabLst>
                <a:tab pos="120014" algn="l"/>
              </a:tabLst>
            </a:pP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No</a:t>
            </a:r>
            <a:r>
              <a:rPr sz="1350" b="1" spc="-1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major</a:t>
            </a:r>
            <a:r>
              <a:rPr sz="1350" b="1" spc="-10" dirty="0">
                <a:solidFill>
                  <a:srgbClr val="1C242F"/>
                </a:solidFill>
                <a:latin typeface="Arial"/>
                <a:cs typeface="Arial"/>
              </a:rPr>
              <a:t> overfitting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80"/>
              </a:spcBef>
            </a:pP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detected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30700" y="5841364"/>
            <a:ext cx="2144395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107314">
              <a:lnSpc>
                <a:spcPct val="129600"/>
              </a:lnSpc>
              <a:spcBef>
                <a:spcPts val="100"/>
              </a:spcBef>
              <a:buChar char="•"/>
              <a:tabLst>
                <a:tab pos="120014" algn="l"/>
              </a:tabLst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Model </a:t>
            </a:r>
            <a:r>
              <a:rPr sz="1350" b="1" dirty="0">
                <a:solidFill>
                  <a:srgbClr val="1C242F"/>
                </a:solidFill>
                <a:latin typeface="Arial"/>
                <a:cs typeface="Arial"/>
              </a:rPr>
              <a:t>generalizes well 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to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unseen </a:t>
            </a:r>
            <a:r>
              <a:rPr sz="1350" spc="-20" dirty="0">
                <a:solidFill>
                  <a:srgbClr val="1C242F"/>
                </a:solidFill>
                <a:latin typeface="Arial MT"/>
                <a:cs typeface="Arial MT"/>
              </a:rPr>
              <a:t>data</a:t>
            </a:r>
            <a:endParaRPr sz="13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94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1425575"/>
            <a:ext cx="597725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Error</a:t>
            </a:r>
            <a:r>
              <a:rPr spc="-105" dirty="0"/>
              <a:t> </a:t>
            </a:r>
            <a:r>
              <a:rPr dirty="0"/>
              <a:t>Analysis &amp; Model </a:t>
            </a:r>
            <a:r>
              <a:rPr spc="-10" dirty="0"/>
              <a:t>Performance</a:t>
            </a: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2162169"/>
            <a:ext cx="2971799" cy="331469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2378075"/>
            <a:ext cx="228727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4E9C"/>
                </a:solidFill>
                <a:latin typeface="Arial"/>
                <a:cs typeface="Arial"/>
              </a:rPr>
              <a:t>Performance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Metrics</a:t>
            </a:r>
            <a:endParaRPr sz="18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77900" y="2840608"/>
            <a:ext cx="1058545" cy="137287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350" b="1" spc="-25" dirty="0">
                <a:solidFill>
                  <a:srgbClr val="1C242F"/>
                </a:solidFill>
                <a:latin typeface="Arial"/>
                <a:cs typeface="Arial"/>
              </a:rPr>
              <a:t>MAE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2250" b="1" spc="-10" dirty="0">
                <a:solidFill>
                  <a:srgbClr val="1CC8C8"/>
                </a:solidFill>
                <a:latin typeface="Arial"/>
                <a:cs typeface="Arial"/>
              </a:rPr>
              <a:t>$15,628</a:t>
            </a:r>
            <a:endParaRPr sz="2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500"/>
              </a:spcBef>
            </a:pPr>
            <a:r>
              <a:rPr sz="1350" b="1" spc="-25" dirty="0">
                <a:solidFill>
                  <a:srgbClr val="1C242F"/>
                </a:solidFill>
                <a:latin typeface="Arial"/>
                <a:cs typeface="Arial"/>
              </a:rPr>
              <a:t>R²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2250" b="1" spc="-10" dirty="0">
                <a:solidFill>
                  <a:srgbClr val="164E9C"/>
                </a:solidFill>
                <a:latin typeface="Arial"/>
                <a:cs typeface="Arial"/>
              </a:rPr>
              <a:t>0.8798</a:t>
            </a:r>
            <a:endParaRPr sz="225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311400" y="2840608"/>
            <a:ext cx="1058545" cy="1372870"/>
          </a:xfrm>
          <a:prstGeom prst="rect">
            <a:avLst/>
          </a:prstGeom>
        </p:spPr>
        <p:txBody>
          <a:bodyPr vert="horz" wrap="square" lIns="0" tIns="260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04"/>
              </a:spcBef>
            </a:pPr>
            <a:r>
              <a:rPr sz="1350" b="1" spc="-20" dirty="0">
                <a:solidFill>
                  <a:srgbClr val="1C242F"/>
                </a:solidFill>
                <a:latin typeface="Arial"/>
                <a:cs typeface="Arial"/>
              </a:rPr>
              <a:t>RMSE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2250" b="1" spc="-10" dirty="0">
                <a:solidFill>
                  <a:srgbClr val="1CC8C8"/>
                </a:solidFill>
                <a:latin typeface="Arial"/>
                <a:cs typeface="Arial"/>
              </a:rPr>
              <a:t>$21,348</a:t>
            </a:r>
            <a:endParaRPr sz="2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500"/>
              </a:spcBef>
            </a:pPr>
            <a:r>
              <a:rPr sz="1350" b="1" spc="-20" dirty="0">
                <a:solidFill>
                  <a:srgbClr val="1C242F"/>
                </a:solidFill>
                <a:latin typeface="Arial"/>
                <a:cs typeface="Arial"/>
              </a:rPr>
              <a:t>MAPE</a:t>
            </a:r>
            <a:endParaRPr sz="13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2250" b="1" spc="-10" dirty="0">
                <a:solidFill>
                  <a:srgbClr val="164E9C"/>
                </a:solidFill>
                <a:latin typeface="Arial"/>
                <a:cs typeface="Arial"/>
              </a:rPr>
              <a:t>9.83%</a:t>
            </a:r>
            <a:endParaRPr sz="22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977900" y="4338320"/>
            <a:ext cx="226060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9000"/>
              </a:lnSpc>
              <a:spcBef>
                <a:spcPts val="10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Model</a:t>
            </a:r>
            <a:r>
              <a:rPr sz="1050" spc="-3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explains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~88%</a:t>
            </a:r>
            <a:r>
              <a:rPr sz="1050" spc="-3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of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variance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with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average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prediction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error</a:t>
            </a:r>
            <a:r>
              <a:rPr sz="1050" spc="-3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under</a:t>
            </a:r>
            <a:r>
              <a:rPr sz="1050" spc="-3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10%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3483864" y="1844040"/>
            <a:ext cx="3831590" cy="3931920"/>
            <a:chOff x="3483864" y="1844040"/>
            <a:chExt cx="3831590" cy="3931920"/>
          </a:xfrm>
        </p:grpSpPr>
        <p:sp>
          <p:nvSpPr>
            <p:cNvPr id="10" name="object 10"/>
            <p:cNvSpPr/>
            <p:nvPr/>
          </p:nvSpPr>
          <p:spPr>
            <a:xfrm>
              <a:off x="3483864" y="1844040"/>
              <a:ext cx="3831590" cy="3931920"/>
            </a:xfrm>
            <a:custGeom>
              <a:avLst/>
              <a:gdLst/>
              <a:ahLst/>
              <a:cxnLst/>
              <a:rect l="l" t="t" r="r" b="b"/>
              <a:pathLst>
                <a:path w="3831590" h="3931920">
                  <a:moveTo>
                    <a:pt x="3831335" y="3931919"/>
                  </a:moveTo>
                  <a:lnTo>
                    <a:pt x="0" y="3931919"/>
                  </a:lnTo>
                  <a:lnTo>
                    <a:pt x="0" y="0"/>
                  </a:lnTo>
                  <a:lnTo>
                    <a:pt x="3831335" y="0"/>
                  </a:lnTo>
                  <a:lnTo>
                    <a:pt x="3831335" y="318134"/>
                  </a:lnTo>
                  <a:lnTo>
                    <a:pt x="669035" y="318134"/>
                  </a:lnTo>
                  <a:lnTo>
                    <a:pt x="657775" y="318678"/>
                  </a:lnTo>
                  <a:lnTo>
                    <a:pt x="615100" y="331646"/>
                  </a:lnTo>
                  <a:lnTo>
                    <a:pt x="580635" y="359958"/>
                  </a:lnTo>
                  <a:lnTo>
                    <a:pt x="559629" y="399304"/>
                  </a:lnTo>
                  <a:lnTo>
                    <a:pt x="554735" y="432434"/>
                  </a:lnTo>
                  <a:lnTo>
                    <a:pt x="554735" y="3023234"/>
                  </a:lnTo>
                  <a:lnTo>
                    <a:pt x="563435" y="3066975"/>
                  </a:lnTo>
                  <a:lnTo>
                    <a:pt x="588213" y="3104057"/>
                  </a:lnTo>
                  <a:lnTo>
                    <a:pt x="625295" y="3128834"/>
                  </a:lnTo>
                  <a:lnTo>
                    <a:pt x="669035" y="3137534"/>
                  </a:lnTo>
                  <a:lnTo>
                    <a:pt x="3831335" y="3137534"/>
                  </a:lnTo>
                  <a:lnTo>
                    <a:pt x="3831335" y="3931919"/>
                  </a:lnTo>
                  <a:close/>
                </a:path>
                <a:path w="3831590" h="3931920">
                  <a:moveTo>
                    <a:pt x="3831335" y="3137534"/>
                  </a:moveTo>
                  <a:lnTo>
                    <a:pt x="3412235" y="3137534"/>
                  </a:lnTo>
                  <a:lnTo>
                    <a:pt x="3423495" y="3136991"/>
                  </a:lnTo>
                  <a:lnTo>
                    <a:pt x="3434538" y="3135359"/>
                  </a:lnTo>
                  <a:lnTo>
                    <a:pt x="3475749" y="3118289"/>
                  </a:lnTo>
                  <a:lnTo>
                    <a:pt x="3507290" y="3086748"/>
                  </a:lnTo>
                  <a:lnTo>
                    <a:pt x="3524360" y="3045537"/>
                  </a:lnTo>
                  <a:lnTo>
                    <a:pt x="3526535" y="3023234"/>
                  </a:lnTo>
                  <a:lnTo>
                    <a:pt x="3526535" y="432434"/>
                  </a:lnTo>
                  <a:lnTo>
                    <a:pt x="3517834" y="388694"/>
                  </a:lnTo>
                  <a:lnTo>
                    <a:pt x="3493057" y="351612"/>
                  </a:lnTo>
                  <a:lnTo>
                    <a:pt x="3455975" y="326835"/>
                  </a:lnTo>
                  <a:lnTo>
                    <a:pt x="3412235" y="318134"/>
                  </a:lnTo>
                  <a:lnTo>
                    <a:pt x="3831335" y="318134"/>
                  </a:lnTo>
                  <a:lnTo>
                    <a:pt x="3831335" y="3137534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038600" y="2162174"/>
              <a:ext cx="2971799" cy="2819399"/>
            </a:xfrm>
            <a:prstGeom prst="rect">
              <a:avLst/>
            </a:prstGeom>
          </p:spPr>
        </p:pic>
      </p:grpSp>
      <p:sp>
        <p:nvSpPr>
          <p:cNvPr id="12" name="object 12"/>
          <p:cNvSpPr txBox="1"/>
          <p:nvPr/>
        </p:nvSpPr>
        <p:spPr>
          <a:xfrm>
            <a:off x="4184997" y="5062220"/>
            <a:ext cx="267906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34670" marR="5080" indent="-522605">
              <a:lnSpc>
                <a:spcPct val="119000"/>
              </a:lnSpc>
              <a:spcBef>
                <a:spcPts val="100"/>
              </a:spcBef>
            </a:pP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Most</a:t>
            </a: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points</a:t>
            </a:r>
            <a:r>
              <a:rPr sz="1050" spc="-1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lie</a:t>
            </a: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close</a:t>
            </a:r>
            <a:r>
              <a:rPr sz="1050" spc="-1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to</a:t>
            </a:r>
            <a:r>
              <a:rPr sz="1050" spc="-1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diagonal</a:t>
            </a: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-</a:t>
            </a:r>
            <a:r>
              <a:rPr sz="1050" spc="-1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predictions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align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well</a:t>
            </a: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with</a:t>
            </a:r>
            <a:r>
              <a:rPr sz="1050" spc="-25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rgbClr val="616F83"/>
                </a:solidFill>
                <a:latin typeface="Arial MT"/>
                <a:cs typeface="Arial MT"/>
              </a:rPr>
              <a:t>actual</a:t>
            </a:r>
            <a:r>
              <a:rPr sz="1050" spc="-20" dirty="0">
                <a:solidFill>
                  <a:srgbClr val="616F83"/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rgbClr val="616F83"/>
                </a:solidFill>
                <a:latin typeface="Arial MT"/>
                <a:cs typeface="Arial MT"/>
              </a:rPr>
              <a:t>prices</a:t>
            </a:r>
            <a:endParaRPr sz="1050">
              <a:latin typeface="Arial MT"/>
              <a:cs typeface="Arial MT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457200" y="5388864"/>
            <a:ext cx="6553200" cy="2350135"/>
            <a:chOff x="457200" y="5388864"/>
            <a:chExt cx="6553200" cy="2350135"/>
          </a:xfrm>
        </p:grpSpPr>
        <p:sp>
          <p:nvSpPr>
            <p:cNvPr id="14" name="object 14"/>
            <p:cNvSpPr/>
            <p:nvPr/>
          </p:nvSpPr>
          <p:spPr>
            <a:xfrm>
              <a:off x="457200" y="5388864"/>
              <a:ext cx="3870960" cy="2350135"/>
            </a:xfrm>
            <a:custGeom>
              <a:avLst/>
              <a:gdLst/>
              <a:ahLst/>
              <a:cxnLst/>
              <a:rect l="l" t="t" r="r" b="b"/>
              <a:pathLst>
                <a:path w="3870960" h="2350134">
                  <a:moveTo>
                    <a:pt x="3870959" y="2350007"/>
                  </a:moveTo>
                  <a:lnTo>
                    <a:pt x="0" y="2350007"/>
                  </a:lnTo>
                  <a:lnTo>
                    <a:pt x="0" y="0"/>
                  </a:lnTo>
                  <a:lnTo>
                    <a:pt x="3870959" y="0"/>
                  </a:lnTo>
                  <a:lnTo>
                    <a:pt x="3870959" y="316610"/>
                  </a:lnTo>
                  <a:lnTo>
                    <a:pt x="419099" y="316610"/>
                  </a:lnTo>
                  <a:lnTo>
                    <a:pt x="407840" y="317154"/>
                  </a:lnTo>
                  <a:lnTo>
                    <a:pt x="365164" y="330122"/>
                  </a:lnTo>
                  <a:lnTo>
                    <a:pt x="330700" y="358434"/>
                  </a:lnTo>
                  <a:lnTo>
                    <a:pt x="309693" y="397780"/>
                  </a:lnTo>
                  <a:lnTo>
                    <a:pt x="304799" y="430910"/>
                  </a:lnTo>
                  <a:lnTo>
                    <a:pt x="304799" y="1440560"/>
                  </a:lnTo>
                  <a:lnTo>
                    <a:pt x="313500" y="1484300"/>
                  </a:lnTo>
                  <a:lnTo>
                    <a:pt x="338277" y="1521382"/>
                  </a:lnTo>
                  <a:lnTo>
                    <a:pt x="375359" y="1546159"/>
                  </a:lnTo>
                  <a:lnTo>
                    <a:pt x="419099" y="1554860"/>
                  </a:lnTo>
                  <a:lnTo>
                    <a:pt x="3870959" y="1554860"/>
                  </a:lnTo>
                  <a:lnTo>
                    <a:pt x="3870959" y="2350007"/>
                  </a:lnTo>
                  <a:close/>
                </a:path>
                <a:path w="3870960" h="2350134">
                  <a:moveTo>
                    <a:pt x="3870959" y="1554860"/>
                  </a:moveTo>
                  <a:lnTo>
                    <a:pt x="3200399" y="1554860"/>
                  </a:lnTo>
                  <a:lnTo>
                    <a:pt x="3211659" y="1554316"/>
                  </a:lnTo>
                  <a:lnTo>
                    <a:pt x="3222702" y="1552685"/>
                  </a:lnTo>
                  <a:lnTo>
                    <a:pt x="3263913" y="1535615"/>
                  </a:lnTo>
                  <a:lnTo>
                    <a:pt x="3295454" y="1504073"/>
                  </a:lnTo>
                  <a:lnTo>
                    <a:pt x="3312524" y="1462863"/>
                  </a:lnTo>
                  <a:lnTo>
                    <a:pt x="3314699" y="1440560"/>
                  </a:lnTo>
                  <a:lnTo>
                    <a:pt x="3314699" y="430910"/>
                  </a:lnTo>
                  <a:lnTo>
                    <a:pt x="3305999" y="387169"/>
                  </a:lnTo>
                  <a:lnTo>
                    <a:pt x="3281222" y="350088"/>
                  </a:lnTo>
                  <a:lnTo>
                    <a:pt x="3244140" y="325311"/>
                  </a:lnTo>
                  <a:lnTo>
                    <a:pt x="3200399" y="316610"/>
                  </a:lnTo>
                  <a:lnTo>
                    <a:pt x="3870959" y="316610"/>
                  </a:lnTo>
                  <a:lnTo>
                    <a:pt x="3870959" y="1554860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2000" y="5705474"/>
              <a:ext cx="3009899" cy="1238249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000499" y="5705469"/>
              <a:ext cx="3009900" cy="1638300"/>
            </a:xfrm>
            <a:custGeom>
              <a:avLst/>
              <a:gdLst/>
              <a:ahLst/>
              <a:cxnLst/>
              <a:rect l="l" t="t" r="r" b="b"/>
              <a:pathLst>
                <a:path w="3009900" h="1638300">
                  <a:moveTo>
                    <a:pt x="2903104" y="1638299"/>
                  </a:moveTo>
                  <a:lnTo>
                    <a:pt x="106794" y="1638299"/>
                  </a:lnTo>
                  <a:lnTo>
                    <a:pt x="99361" y="1637565"/>
                  </a:lnTo>
                  <a:lnTo>
                    <a:pt x="57037" y="1623184"/>
                  </a:lnTo>
                  <a:lnTo>
                    <a:pt x="23432" y="1593725"/>
                  </a:lnTo>
                  <a:lnTo>
                    <a:pt x="3660" y="1553644"/>
                  </a:lnTo>
                  <a:lnTo>
                    <a:pt x="0" y="1531506"/>
                  </a:lnTo>
                  <a:lnTo>
                    <a:pt x="0" y="1523999"/>
                  </a:lnTo>
                  <a:lnTo>
                    <a:pt x="0" y="106793"/>
                  </a:lnTo>
                  <a:lnTo>
                    <a:pt x="11571" y="63614"/>
                  </a:lnTo>
                  <a:lnTo>
                    <a:pt x="38784" y="28165"/>
                  </a:lnTo>
                  <a:lnTo>
                    <a:pt x="77492" y="5822"/>
                  </a:lnTo>
                  <a:lnTo>
                    <a:pt x="106794" y="0"/>
                  </a:lnTo>
                  <a:lnTo>
                    <a:pt x="2903104" y="0"/>
                  </a:lnTo>
                  <a:lnTo>
                    <a:pt x="2946274" y="11562"/>
                  </a:lnTo>
                  <a:lnTo>
                    <a:pt x="2981728" y="38788"/>
                  </a:lnTo>
                  <a:lnTo>
                    <a:pt x="3004070" y="77492"/>
                  </a:lnTo>
                  <a:lnTo>
                    <a:pt x="3009899" y="106793"/>
                  </a:lnTo>
                  <a:lnTo>
                    <a:pt x="3009899" y="1531506"/>
                  </a:lnTo>
                  <a:lnTo>
                    <a:pt x="2998326" y="1574657"/>
                  </a:lnTo>
                  <a:lnTo>
                    <a:pt x="2971114" y="1610115"/>
                  </a:lnTo>
                  <a:lnTo>
                    <a:pt x="2932406" y="1632458"/>
                  </a:lnTo>
                  <a:lnTo>
                    <a:pt x="2910537" y="1637565"/>
                  </a:lnTo>
                  <a:lnTo>
                    <a:pt x="2903104" y="163829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4178300" y="5892799"/>
            <a:ext cx="2617470" cy="1236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Residual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Distribution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Residuals are centered around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zero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with approximately normal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distribution,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indicating random errors rather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than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systematic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bias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000499" y="7496169"/>
            <a:ext cx="3009900" cy="1638300"/>
          </a:xfrm>
          <a:custGeom>
            <a:avLst/>
            <a:gdLst/>
            <a:ahLst/>
            <a:cxnLst/>
            <a:rect l="l" t="t" r="r" b="b"/>
            <a:pathLst>
              <a:path w="3009900" h="1638300">
                <a:moveTo>
                  <a:pt x="2903104" y="1638299"/>
                </a:moveTo>
                <a:lnTo>
                  <a:pt x="106794" y="1638299"/>
                </a:lnTo>
                <a:lnTo>
                  <a:pt x="99361" y="1637565"/>
                </a:lnTo>
                <a:lnTo>
                  <a:pt x="57037" y="1623184"/>
                </a:lnTo>
                <a:lnTo>
                  <a:pt x="23432" y="1593735"/>
                </a:lnTo>
                <a:lnTo>
                  <a:pt x="3660" y="1553654"/>
                </a:lnTo>
                <a:lnTo>
                  <a:pt x="0" y="1531497"/>
                </a:lnTo>
                <a:lnTo>
                  <a:pt x="0" y="1523999"/>
                </a:lnTo>
                <a:lnTo>
                  <a:pt x="0" y="106793"/>
                </a:lnTo>
                <a:lnTo>
                  <a:pt x="11571" y="63596"/>
                </a:lnTo>
                <a:lnTo>
                  <a:pt x="38784" y="28147"/>
                </a:lnTo>
                <a:lnTo>
                  <a:pt x="77492" y="5822"/>
                </a:lnTo>
                <a:lnTo>
                  <a:pt x="106794" y="0"/>
                </a:lnTo>
                <a:lnTo>
                  <a:pt x="2903104" y="0"/>
                </a:lnTo>
                <a:lnTo>
                  <a:pt x="2946274" y="11562"/>
                </a:lnTo>
                <a:lnTo>
                  <a:pt x="2981728" y="38760"/>
                </a:lnTo>
                <a:lnTo>
                  <a:pt x="3004070" y="77464"/>
                </a:lnTo>
                <a:lnTo>
                  <a:pt x="3009899" y="106793"/>
                </a:lnTo>
                <a:lnTo>
                  <a:pt x="3009899" y="1531497"/>
                </a:lnTo>
                <a:lnTo>
                  <a:pt x="2998326" y="1574666"/>
                </a:lnTo>
                <a:lnTo>
                  <a:pt x="2971114" y="1610115"/>
                </a:lnTo>
                <a:lnTo>
                  <a:pt x="2932406" y="1632458"/>
                </a:lnTo>
                <a:lnTo>
                  <a:pt x="2910537" y="1637565"/>
                </a:lnTo>
                <a:lnTo>
                  <a:pt x="2903104" y="1638299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object 19"/>
          <p:cNvSpPr txBox="1"/>
          <p:nvPr/>
        </p:nvSpPr>
        <p:spPr>
          <a:xfrm>
            <a:off x="4178300" y="7683500"/>
            <a:ext cx="2634615" cy="1236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Residuals</a:t>
            </a:r>
            <a:r>
              <a:rPr sz="1500" b="1" spc="-45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vs</a:t>
            </a:r>
            <a:r>
              <a:rPr sz="1500" b="1" spc="-45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Predicted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Random scatter around zero line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with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no clear trend confirms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consistent</a:t>
            </a:r>
            <a:r>
              <a:rPr sz="1200" spc="50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error across price ranges and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absence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of major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heteroscedasticity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8391518"/>
            <a:ext cx="6248399" cy="1181099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1168400"/>
            <a:ext cx="5150485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Model</a:t>
            </a:r>
            <a:r>
              <a:rPr spc="-55" dirty="0"/>
              <a:t> </a:t>
            </a:r>
            <a:r>
              <a:rPr dirty="0"/>
              <a:t>Explainability</a:t>
            </a:r>
            <a:r>
              <a:rPr spc="-45" dirty="0"/>
              <a:t> </a:t>
            </a:r>
            <a:r>
              <a:rPr dirty="0"/>
              <a:t>with</a:t>
            </a:r>
            <a:r>
              <a:rPr spc="-40" dirty="0"/>
              <a:t> </a:t>
            </a:r>
            <a:r>
              <a:rPr spc="-20" dirty="0"/>
              <a:t>SHAP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026864" y="1863725"/>
            <a:ext cx="571881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112645" marR="5080" indent="-2100580">
              <a:lnSpc>
                <a:spcPct val="116700"/>
              </a:lnSpc>
              <a:spcBef>
                <a:spcPts val="100"/>
              </a:spcBef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SHAP</a:t>
            </a:r>
            <a:r>
              <a:rPr sz="1500" spc="-10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(SHapley</a:t>
            </a:r>
            <a:r>
              <a:rPr sz="1500" spc="-9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Additive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exPlanations)</a:t>
            </a:r>
            <a:r>
              <a:rPr sz="15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reveals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which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features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drive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model</a:t>
            </a:r>
            <a:r>
              <a:rPr sz="15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predictions</a:t>
            </a:r>
            <a:endParaRPr sz="1500">
              <a:latin typeface="Arial MT"/>
              <a:cs typeface="Arial MT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457200" y="2350008"/>
            <a:ext cx="6858000" cy="4784725"/>
            <a:chOff x="457200" y="2350008"/>
            <a:chExt cx="6858000" cy="4784725"/>
          </a:xfrm>
        </p:grpSpPr>
        <p:sp>
          <p:nvSpPr>
            <p:cNvPr id="6" name="object 6"/>
            <p:cNvSpPr/>
            <p:nvPr/>
          </p:nvSpPr>
          <p:spPr>
            <a:xfrm>
              <a:off x="457200" y="2350008"/>
              <a:ext cx="3831590" cy="3331845"/>
            </a:xfrm>
            <a:custGeom>
              <a:avLst/>
              <a:gdLst/>
              <a:ahLst/>
              <a:cxnLst/>
              <a:rect l="l" t="t" r="r" b="b"/>
              <a:pathLst>
                <a:path w="3831590" h="3331845">
                  <a:moveTo>
                    <a:pt x="3831335" y="3331463"/>
                  </a:moveTo>
                  <a:lnTo>
                    <a:pt x="0" y="3331463"/>
                  </a:lnTo>
                  <a:lnTo>
                    <a:pt x="0" y="0"/>
                  </a:lnTo>
                  <a:lnTo>
                    <a:pt x="3831335" y="0"/>
                  </a:lnTo>
                  <a:lnTo>
                    <a:pt x="3831335" y="316991"/>
                  </a:lnTo>
                  <a:lnTo>
                    <a:pt x="419099" y="316991"/>
                  </a:lnTo>
                  <a:lnTo>
                    <a:pt x="407840" y="317535"/>
                  </a:lnTo>
                  <a:lnTo>
                    <a:pt x="365164" y="330503"/>
                  </a:lnTo>
                  <a:lnTo>
                    <a:pt x="330700" y="358815"/>
                  </a:lnTo>
                  <a:lnTo>
                    <a:pt x="309693" y="398161"/>
                  </a:lnTo>
                  <a:lnTo>
                    <a:pt x="304799" y="431291"/>
                  </a:lnTo>
                  <a:lnTo>
                    <a:pt x="304799" y="2422016"/>
                  </a:lnTo>
                  <a:lnTo>
                    <a:pt x="313500" y="2465757"/>
                  </a:lnTo>
                  <a:lnTo>
                    <a:pt x="338277" y="2502838"/>
                  </a:lnTo>
                  <a:lnTo>
                    <a:pt x="375359" y="2527615"/>
                  </a:lnTo>
                  <a:lnTo>
                    <a:pt x="419099" y="2536316"/>
                  </a:lnTo>
                  <a:lnTo>
                    <a:pt x="3831335" y="2536316"/>
                  </a:lnTo>
                  <a:lnTo>
                    <a:pt x="3831335" y="3331463"/>
                  </a:lnTo>
                  <a:close/>
                </a:path>
                <a:path w="3831590" h="3331845">
                  <a:moveTo>
                    <a:pt x="3831335" y="2536316"/>
                  </a:moveTo>
                  <a:lnTo>
                    <a:pt x="3162299" y="2536316"/>
                  </a:lnTo>
                  <a:lnTo>
                    <a:pt x="3173559" y="2535772"/>
                  </a:lnTo>
                  <a:lnTo>
                    <a:pt x="3184602" y="2534141"/>
                  </a:lnTo>
                  <a:lnTo>
                    <a:pt x="3225813" y="2517071"/>
                  </a:lnTo>
                  <a:lnTo>
                    <a:pt x="3257354" y="2485529"/>
                  </a:lnTo>
                  <a:lnTo>
                    <a:pt x="3274424" y="2444319"/>
                  </a:lnTo>
                  <a:lnTo>
                    <a:pt x="3276599" y="2422016"/>
                  </a:lnTo>
                  <a:lnTo>
                    <a:pt x="3276599" y="431291"/>
                  </a:lnTo>
                  <a:lnTo>
                    <a:pt x="3267898" y="387551"/>
                  </a:lnTo>
                  <a:lnTo>
                    <a:pt x="3243122" y="350469"/>
                  </a:lnTo>
                  <a:lnTo>
                    <a:pt x="3206040" y="325692"/>
                  </a:lnTo>
                  <a:lnTo>
                    <a:pt x="3162299" y="316991"/>
                  </a:lnTo>
                  <a:lnTo>
                    <a:pt x="3831335" y="316991"/>
                  </a:lnTo>
                  <a:lnTo>
                    <a:pt x="3831335" y="2536316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2000" y="2667000"/>
              <a:ext cx="2971799" cy="2219324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3483863" y="2350008"/>
              <a:ext cx="3831590" cy="4703445"/>
            </a:xfrm>
            <a:custGeom>
              <a:avLst/>
              <a:gdLst/>
              <a:ahLst/>
              <a:cxnLst/>
              <a:rect l="l" t="t" r="r" b="b"/>
              <a:pathLst>
                <a:path w="3831590" h="4703445">
                  <a:moveTo>
                    <a:pt x="3831335" y="4703063"/>
                  </a:moveTo>
                  <a:lnTo>
                    <a:pt x="0" y="4703063"/>
                  </a:lnTo>
                  <a:lnTo>
                    <a:pt x="0" y="0"/>
                  </a:lnTo>
                  <a:lnTo>
                    <a:pt x="3831335" y="0"/>
                  </a:lnTo>
                  <a:lnTo>
                    <a:pt x="3831335" y="316991"/>
                  </a:lnTo>
                  <a:lnTo>
                    <a:pt x="669035" y="316991"/>
                  </a:lnTo>
                  <a:lnTo>
                    <a:pt x="657775" y="317535"/>
                  </a:lnTo>
                  <a:lnTo>
                    <a:pt x="615099" y="330503"/>
                  </a:lnTo>
                  <a:lnTo>
                    <a:pt x="580635" y="358815"/>
                  </a:lnTo>
                  <a:lnTo>
                    <a:pt x="559629" y="398161"/>
                  </a:lnTo>
                  <a:lnTo>
                    <a:pt x="554735" y="431291"/>
                  </a:lnTo>
                  <a:lnTo>
                    <a:pt x="554735" y="3793616"/>
                  </a:lnTo>
                  <a:lnTo>
                    <a:pt x="563435" y="3837356"/>
                  </a:lnTo>
                  <a:lnTo>
                    <a:pt x="588213" y="3874438"/>
                  </a:lnTo>
                  <a:lnTo>
                    <a:pt x="625294" y="3899215"/>
                  </a:lnTo>
                  <a:lnTo>
                    <a:pt x="669035" y="3907916"/>
                  </a:lnTo>
                  <a:lnTo>
                    <a:pt x="3831335" y="3907916"/>
                  </a:lnTo>
                  <a:lnTo>
                    <a:pt x="3831335" y="4703063"/>
                  </a:lnTo>
                  <a:close/>
                </a:path>
                <a:path w="3831590" h="4703445">
                  <a:moveTo>
                    <a:pt x="3831335" y="3907916"/>
                  </a:moveTo>
                  <a:lnTo>
                    <a:pt x="3412235" y="3907916"/>
                  </a:lnTo>
                  <a:lnTo>
                    <a:pt x="3423495" y="3907372"/>
                  </a:lnTo>
                  <a:lnTo>
                    <a:pt x="3434538" y="3905741"/>
                  </a:lnTo>
                  <a:lnTo>
                    <a:pt x="3475749" y="3888671"/>
                  </a:lnTo>
                  <a:lnTo>
                    <a:pt x="3507290" y="3857129"/>
                  </a:lnTo>
                  <a:lnTo>
                    <a:pt x="3524360" y="3815919"/>
                  </a:lnTo>
                  <a:lnTo>
                    <a:pt x="3526535" y="3793616"/>
                  </a:lnTo>
                  <a:lnTo>
                    <a:pt x="3526535" y="431291"/>
                  </a:lnTo>
                  <a:lnTo>
                    <a:pt x="3517834" y="387551"/>
                  </a:lnTo>
                  <a:lnTo>
                    <a:pt x="3493057" y="350469"/>
                  </a:lnTo>
                  <a:lnTo>
                    <a:pt x="3455975" y="325692"/>
                  </a:lnTo>
                  <a:lnTo>
                    <a:pt x="3412235" y="316991"/>
                  </a:lnTo>
                  <a:lnTo>
                    <a:pt x="3831335" y="316991"/>
                  </a:lnTo>
                  <a:lnTo>
                    <a:pt x="3831335" y="3907916"/>
                  </a:lnTo>
                  <a:close/>
                </a:path>
              </a:pathLst>
            </a:custGeom>
            <a:solidFill>
              <a:srgbClr val="000000">
                <a:alpha val="250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38600" y="2666999"/>
              <a:ext cx="2971799" cy="3590924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761999" y="5000618"/>
              <a:ext cx="2971800" cy="2133600"/>
            </a:xfrm>
            <a:custGeom>
              <a:avLst/>
              <a:gdLst/>
              <a:ahLst/>
              <a:cxnLst/>
              <a:rect l="l" t="t" r="r" b="b"/>
              <a:pathLst>
                <a:path w="2971800" h="2133600">
                  <a:moveTo>
                    <a:pt x="2865004" y="2133590"/>
                  </a:moveTo>
                  <a:lnTo>
                    <a:pt x="106794" y="2133590"/>
                  </a:lnTo>
                  <a:lnTo>
                    <a:pt x="99362" y="2132855"/>
                  </a:lnTo>
                  <a:lnTo>
                    <a:pt x="57038" y="2118475"/>
                  </a:lnTo>
                  <a:lnTo>
                    <a:pt x="23432" y="2089016"/>
                  </a:lnTo>
                  <a:lnTo>
                    <a:pt x="3660" y="2048944"/>
                  </a:lnTo>
                  <a:lnTo>
                    <a:pt x="0" y="2026806"/>
                  </a:lnTo>
                  <a:lnTo>
                    <a:pt x="0" y="2019299"/>
                  </a:lnTo>
                  <a:lnTo>
                    <a:pt x="0" y="106793"/>
                  </a:lnTo>
                  <a:lnTo>
                    <a:pt x="11572" y="63605"/>
                  </a:lnTo>
                  <a:lnTo>
                    <a:pt x="38784" y="28156"/>
                  </a:lnTo>
                  <a:lnTo>
                    <a:pt x="77493" y="5822"/>
                  </a:lnTo>
                  <a:lnTo>
                    <a:pt x="106794" y="0"/>
                  </a:lnTo>
                  <a:lnTo>
                    <a:pt x="2865004" y="0"/>
                  </a:lnTo>
                  <a:lnTo>
                    <a:pt x="2908173" y="11552"/>
                  </a:lnTo>
                  <a:lnTo>
                    <a:pt x="2943628" y="38769"/>
                  </a:lnTo>
                  <a:lnTo>
                    <a:pt x="2965971" y="77483"/>
                  </a:lnTo>
                  <a:lnTo>
                    <a:pt x="2971799" y="106793"/>
                  </a:lnTo>
                  <a:lnTo>
                    <a:pt x="2971799" y="2026806"/>
                  </a:lnTo>
                  <a:lnTo>
                    <a:pt x="2960226" y="2069957"/>
                  </a:lnTo>
                  <a:lnTo>
                    <a:pt x="2933014" y="2105405"/>
                  </a:lnTo>
                  <a:lnTo>
                    <a:pt x="2894306" y="2127740"/>
                  </a:lnTo>
                  <a:lnTo>
                    <a:pt x="2872437" y="2132855"/>
                  </a:lnTo>
                  <a:lnTo>
                    <a:pt x="2865004" y="213359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1066601" y="8578850"/>
            <a:ext cx="5639435" cy="779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Key</a:t>
            </a:r>
            <a:r>
              <a:rPr sz="1500" b="1" spc="-3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Insight:</a:t>
            </a:r>
            <a:endParaRPr sz="1500">
              <a:latin typeface="Arial"/>
              <a:cs typeface="Arial"/>
            </a:endParaRPr>
          </a:p>
          <a:p>
            <a:pPr marL="12065" marR="5080" algn="ctr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SHAP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analysis confirms that home quality and total living area are the biggest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price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drivers, and the model behaves consistently with real-estate domain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knowledge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01700" y="5159375"/>
            <a:ext cx="2306955" cy="1265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spc="-20" dirty="0">
                <a:solidFill>
                  <a:srgbClr val="164E9C"/>
                </a:solidFill>
                <a:latin typeface="Arial"/>
                <a:cs typeface="Arial"/>
              </a:rPr>
              <a:t>Top</a:t>
            </a:r>
            <a:r>
              <a:rPr sz="1350" b="1" spc="-35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350" b="1" dirty="0">
                <a:solidFill>
                  <a:srgbClr val="164E9C"/>
                </a:solidFill>
                <a:latin typeface="Arial"/>
                <a:cs typeface="Arial"/>
              </a:rPr>
              <a:t>Influential</a:t>
            </a:r>
            <a:r>
              <a:rPr sz="1350" b="1" spc="-35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350" b="1" spc="-10" dirty="0">
                <a:solidFill>
                  <a:srgbClr val="164E9C"/>
                </a:solidFill>
                <a:latin typeface="Arial"/>
                <a:cs typeface="Arial"/>
              </a:rPr>
              <a:t>Features</a:t>
            </a:r>
            <a:endParaRPr sz="1350">
              <a:latin typeface="Arial"/>
              <a:cs typeface="Arial"/>
            </a:endParaRPr>
          </a:p>
          <a:p>
            <a:pPr marL="12700" marR="106680" indent="95885">
              <a:lnSpc>
                <a:spcPct val="125000"/>
              </a:lnSpc>
              <a:spcBef>
                <a:spcPts val="645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OverallQualArea: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Quality-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size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interaction</a:t>
            </a:r>
            <a:endParaRPr sz="1200">
              <a:latin typeface="Arial MT"/>
              <a:cs typeface="Arial MT"/>
            </a:endParaRPr>
          </a:p>
          <a:p>
            <a:pPr marL="12700" marR="5080" indent="95885">
              <a:lnSpc>
                <a:spcPct val="125000"/>
              </a:lnSpc>
              <a:spcBef>
                <a:spcPts val="3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OverallQual:</a:t>
            </a:r>
            <a:r>
              <a:rPr sz="1200" b="1" spc="-2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Material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and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finish quality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01700" y="6399529"/>
            <a:ext cx="2637790" cy="558800"/>
          </a:xfrm>
          <a:prstGeom prst="rect">
            <a:avLst/>
          </a:prstGeom>
        </p:spPr>
        <p:txBody>
          <a:bodyPr vert="horz" wrap="square" lIns="0" tIns="96520" rIns="0" bIns="0" rtlCol="0">
            <a:spAutoFit/>
          </a:bodyPr>
          <a:lstStyle/>
          <a:p>
            <a:pPr marL="108585" indent="-95885">
              <a:lnSpc>
                <a:spcPct val="100000"/>
              </a:lnSpc>
              <a:spcBef>
                <a:spcPts val="76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spc="-20" dirty="0">
                <a:solidFill>
                  <a:srgbClr val="1C242F"/>
                </a:solidFill>
                <a:latin typeface="Arial"/>
                <a:cs typeface="Arial"/>
              </a:rPr>
              <a:t>TotalSF:</a:t>
            </a:r>
            <a:r>
              <a:rPr sz="1200" b="1" spc="-3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Total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square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footage</a:t>
            </a:r>
            <a:endParaRPr sz="1200">
              <a:latin typeface="Arial MT"/>
              <a:cs typeface="Arial MT"/>
            </a:endParaRPr>
          </a:p>
          <a:p>
            <a:pPr marL="108585" indent="-95885">
              <a:lnSpc>
                <a:spcPct val="100000"/>
              </a:lnSpc>
              <a:spcBef>
                <a:spcPts val="66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GrLivArea:</a:t>
            </a:r>
            <a:r>
              <a:rPr sz="1200" b="1" spc="-7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Above-ground living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area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38599" y="6372218"/>
            <a:ext cx="2971800" cy="1790700"/>
          </a:xfrm>
          <a:custGeom>
            <a:avLst/>
            <a:gdLst/>
            <a:ahLst/>
            <a:cxnLst/>
            <a:rect l="l" t="t" r="r" b="b"/>
            <a:pathLst>
              <a:path w="2971800" h="1790700">
                <a:moveTo>
                  <a:pt x="2865004" y="1790699"/>
                </a:moveTo>
                <a:lnTo>
                  <a:pt x="106795" y="1790699"/>
                </a:lnTo>
                <a:lnTo>
                  <a:pt x="99362" y="1789955"/>
                </a:lnTo>
                <a:lnTo>
                  <a:pt x="57038" y="1775575"/>
                </a:lnTo>
                <a:lnTo>
                  <a:pt x="23432" y="1746107"/>
                </a:lnTo>
                <a:lnTo>
                  <a:pt x="3660" y="1706034"/>
                </a:lnTo>
                <a:lnTo>
                  <a:pt x="0" y="1683896"/>
                </a:lnTo>
                <a:lnTo>
                  <a:pt x="0" y="1676399"/>
                </a:lnTo>
                <a:lnTo>
                  <a:pt x="0" y="106783"/>
                </a:lnTo>
                <a:lnTo>
                  <a:pt x="11572" y="63614"/>
                </a:lnTo>
                <a:lnTo>
                  <a:pt x="38784" y="28165"/>
                </a:lnTo>
                <a:lnTo>
                  <a:pt x="77492" y="5814"/>
                </a:lnTo>
                <a:lnTo>
                  <a:pt x="106795" y="0"/>
                </a:lnTo>
                <a:lnTo>
                  <a:pt x="2865004" y="0"/>
                </a:lnTo>
                <a:lnTo>
                  <a:pt x="2908174" y="11562"/>
                </a:lnTo>
                <a:lnTo>
                  <a:pt x="2943629" y="38788"/>
                </a:lnTo>
                <a:lnTo>
                  <a:pt x="2965970" y="77474"/>
                </a:lnTo>
                <a:lnTo>
                  <a:pt x="2971800" y="106783"/>
                </a:lnTo>
                <a:lnTo>
                  <a:pt x="2971800" y="1683896"/>
                </a:lnTo>
                <a:lnTo>
                  <a:pt x="2960226" y="1727057"/>
                </a:lnTo>
                <a:lnTo>
                  <a:pt x="2933015" y="1762497"/>
                </a:lnTo>
                <a:lnTo>
                  <a:pt x="2894306" y="1784840"/>
                </a:lnTo>
                <a:lnTo>
                  <a:pt x="2872437" y="1789955"/>
                </a:lnTo>
                <a:lnTo>
                  <a:pt x="2865004" y="1790699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178300" y="6530975"/>
            <a:ext cx="2626360" cy="14560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dirty="0">
                <a:solidFill>
                  <a:srgbClr val="1CC8C8"/>
                </a:solidFill>
                <a:latin typeface="Arial"/>
                <a:cs typeface="Arial"/>
              </a:rPr>
              <a:t>Feature Effect </a:t>
            </a:r>
            <a:r>
              <a:rPr sz="1350" b="1" spc="-10" dirty="0">
                <a:solidFill>
                  <a:srgbClr val="1CC8C8"/>
                </a:solidFill>
                <a:latin typeface="Arial"/>
                <a:cs typeface="Arial"/>
              </a:rPr>
              <a:t>Patterns</a:t>
            </a:r>
            <a:endParaRPr sz="135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64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The dot plot shows how feature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values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(color) impact predictions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(horizontal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position). Red (high values)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push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predictions</a:t>
            </a:r>
            <a:r>
              <a:rPr sz="12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higher,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confirming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real-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estate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intuition.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94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5175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Kaggle</a:t>
            </a:r>
            <a:r>
              <a:rPr spc="-80" dirty="0"/>
              <a:t> </a:t>
            </a:r>
            <a:r>
              <a:rPr dirty="0"/>
              <a:t>Competition</a:t>
            </a:r>
            <a:r>
              <a:rPr spc="-80" dirty="0"/>
              <a:t> </a:t>
            </a:r>
            <a:r>
              <a:rPr spc="-10" dirty="0"/>
              <a:t>Results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657349" y="2409818"/>
            <a:ext cx="4457700" cy="2819400"/>
            <a:chOff x="1657349" y="2409818"/>
            <a:chExt cx="4457700" cy="28194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676399" y="2428877"/>
              <a:ext cx="4419599" cy="2781299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1666874" y="2419343"/>
              <a:ext cx="4438650" cy="2800350"/>
            </a:xfrm>
            <a:custGeom>
              <a:avLst/>
              <a:gdLst/>
              <a:ahLst/>
              <a:cxnLst/>
              <a:rect l="l" t="t" r="r" b="b"/>
              <a:pathLst>
                <a:path w="4438650" h="2800350">
                  <a:moveTo>
                    <a:pt x="0" y="2695574"/>
                  </a:moveTo>
                  <a:lnTo>
                    <a:pt x="0" y="104774"/>
                  </a:lnTo>
                  <a:lnTo>
                    <a:pt x="0" y="97888"/>
                  </a:lnTo>
                  <a:lnTo>
                    <a:pt x="671" y="91068"/>
                  </a:lnTo>
                  <a:lnTo>
                    <a:pt x="2013" y="84315"/>
                  </a:lnTo>
                  <a:lnTo>
                    <a:pt x="3355" y="77581"/>
                  </a:lnTo>
                  <a:lnTo>
                    <a:pt x="5342" y="71027"/>
                  </a:lnTo>
                  <a:lnTo>
                    <a:pt x="7975" y="64665"/>
                  </a:lnTo>
                  <a:lnTo>
                    <a:pt x="10608" y="58302"/>
                  </a:lnTo>
                  <a:lnTo>
                    <a:pt x="30687" y="30680"/>
                  </a:lnTo>
                  <a:lnTo>
                    <a:pt x="35552" y="25822"/>
                  </a:lnTo>
                  <a:lnTo>
                    <a:pt x="40844" y="21469"/>
                  </a:lnTo>
                  <a:lnTo>
                    <a:pt x="46565" y="17659"/>
                  </a:lnTo>
                  <a:lnTo>
                    <a:pt x="52285" y="13839"/>
                  </a:lnTo>
                  <a:lnTo>
                    <a:pt x="91081" y="666"/>
                  </a:lnTo>
                  <a:lnTo>
                    <a:pt x="97895" y="0"/>
                  </a:lnTo>
                  <a:lnTo>
                    <a:pt x="104775" y="0"/>
                  </a:lnTo>
                  <a:lnTo>
                    <a:pt x="4333874" y="0"/>
                  </a:lnTo>
                  <a:lnTo>
                    <a:pt x="4340754" y="0"/>
                  </a:lnTo>
                  <a:lnTo>
                    <a:pt x="4347568" y="666"/>
                  </a:lnTo>
                  <a:lnTo>
                    <a:pt x="4386363" y="13839"/>
                  </a:lnTo>
                  <a:lnTo>
                    <a:pt x="4392084" y="17659"/>
                  </a:lnTo>
                  <a:lnTo>
                    <a:pt x="4397804" y="21469"/>
                  </a:lnTo>
                  <a:lnTo>
                    <a:pt x="4403096" y="25822"/>
                  </a:lnTo>
                  <a:lnTo>
                    <a:pt x="4407961" y="30680"/>
                  </a:lnTo>
                  <a:lnTo>
                    <a:pt x="4412825" y="35528"/>
                  </a:lnTo>
                  <a:lnTo>
                    <a:pt x="4430673" y="64665"/>
                  </a:lnTo>
                  <a:lnTo>
                    <a:pt x="4433306" y="71027"/>
                  </a:lnTo>
                  <a:lnTo>
                    <a:pt x="4435294" y="77581"/>
                  </a:lnTo>
                  <a:lnTo>
                    <a:pt x="4436636" y="84315"/>
                  </a:lnTo>
                  <a:lnTo>
                    <a:pt x="4437978" y="91068"/>
                  </a:lnTo>
                  <a:lnTo>
                    <a:pt x="4438649" y="97888"/>
                  </a:lnTo>
                  <a:lnTo>
                    <a:pt x="4438649" y="104774"/>
                  </a:lnTo>
                  <a:lnTo>
                    <a:pt x="4438649" y="2695574"/>
                  </a:lnTo>
                  <a:lnTo>
                    <a:pt x="4438649" y="2702442"/>
                  </a:lnTo>
                  <a:lnTo>
                    <a:pt x="4437978" y="2709252"/>
                  </a:lnTo>
                  <a:lnTo>
                    <a:pt x="4424813" y="2748038"/>
                  </a:lnTo>
                  <a:lnTo>
                    <a:pt x="4397804" y="2778842"/>
                  </a:lnTo>
                  <a:lnTo>
                    <a:pt x="4373969" y="2792348"/>
                  </a:lnTo>
                  <a:lnTo>
                    <a:pt x="4367614" y="2794996"/>
                  </a:lnTo>
                  <a:lnTo>
                    <a:pt x="4361063" y="2796977"/>
                  </a:lnTo>
                  <a:lnTo>
                    <a:pt x="4354315" y="2798340"/>
                  </a:lnTo>
                  <a:lnTo>
                    <a:pt x="4347568" y="2799683"/>
                  </a:lnTo>
                  <a:lnTo>
                    <a:pt x="4340754" y="2800349"/>
                  </a:lnTo>
                  <a:lnTo>
                    <a:pt x="4333874" y="2800349"/>
                  </a:lnTo>
                  <a:lnTo>
                    <a:pt x="104775" y="2800349"/>
                  </a:lnTo>
                  <a:lnTo>
                    <a:pt x="97895" y="2800349"/>
                  </a:lnTo>
                  <a:lnTo>
                    <a:pt x="91081" y="2799683"/>
                  </a:lnTo>
                  <a:lnTo>
                    <a:pt x="84334" y="2798320"/>
                  </a:lnTo>
                  <a:lnTo>
                    <a:pt x="77586" y="2796977"/>
                  </a:lnTo>
                  <a:lnTo>
                    <a:pt x="71035" y="2794996"/>
                  </a:lnTo>
                  <a:lnTo>
                    <a:pt x="64679" y="2792329"/>
                  </a:lnTo>
                  <a:lnTo>
                    <a:pt x="58323" y="2789691"/>
                  </a:lnTo>
                  <a:lnTo>
                    <a:pt x="25823" y="2764783"/>
                  </a:lnTo>
                  <a:lnTo>
                    <a:pt x="5342" y="2729283"/>
                  </a:lnTo>
                  <a:lnTo>
                    <a:pt x="2013" y="2715986"/>
                  </a:lnTo>
                  <a:lnTo>
                    <a:pt x="671" y="2709252"/>
                  </a:lnTo>
                  <a:lnTo>
                    <a:pt x="0" y="2702442"/>
                  </a:lnTo>
                  <a:lnTo>
                    <a:pt x="0" y="2695574"/>
                  </a:lnTo>
                  <a:close/>
                </a:path>
              </a:pathLst>
            </a:custGeom>
            <a:ln w="19049">
              <a:solidFill>
                <a:srgbClr val="164E9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120602" y="2854325"/>
            <a:ext cx="3531235" cy="18808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250" b="1" dirty="0">
                <a:solidFill>
                  <a:srgbClr val="164E9C"/>
                </a:solidFill>
                <a:latin typeface="Arial"/>
                <a:cs typeface="Arial"/>
              </a:rPr>
              <a:t>Final Kaggle </a:t>
            </a:r>
            <a:r>
              <a:rPr sz="2250" b="1" spc="-10" dirty="0">
                <a:solidFill>
                  <a:srgbClr val="164E9C"/>
                </a:solidFill>
                <a:latin typeface="Arial"/>
                <a:cs typeface="Arial"/>
              </a:rPr>
              <a:t>Score</a:t>
            </a:r>
            <a:endParaRPr sz="225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225"/>
              </a:spcBef>
            </a:pPr>
            <a:r>
              <a:rPr sz="7200" b="1" spc="-10" dirty="0">
                <a:solidFill>
                  <a:srgbClr val="1CC8C8"/>
                </a:solidFill>
                <a:latin typeface="Arial"/>
                <a:cs typeface="Arial"/>
              </a:rPr>
              <a:t>0.13820</a:t>
            </a:r>
            <a:endParaRPr sz="72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885"/>
              </a:spcBef>
            </a:pPr>
            <a:r>
              <a:rPr sz="1800" b="1" dirty="0">
                <a:solidFill>
                  <a:srgbClr val="616F83"/>
                </a:solidFill>
                <a:latin typeface="Arial"/>
                <a:cs typeface="Arial"/>
              </a:rPr>
              <a:t>RMSE</a:t>
            </a:r>
            <a:r>
              <a:rPr sz="1800" b="1" spc="-15" dirty="0">
                <a:solidFill>
                  <a:srgbClr val="616F83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616F83"/>
                </a:solidFill>
                <a:latin typeface="Arial"/>
                <a:cs typeface="Arial"/>
              </a:rPr>
              <a:t>(Root</a:t>
            </a:r>
            <a:r>
              <a:rPr sz="1800" b="1" spc="-10" dirty="0">
                <a:solidFill>
                  <a:srgbClr val="616F83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616F83"/>
                </a:solidFill>
                <a:latin typeface="Arial"/>
                <a:cs typeface="Arial"/>
              </a:rPr>
              <a:t>Mean</a:t>
            </a:r>
            <a:r>
              <a:rPr sz="1800" b="1" spc="-15" dirty="0">
                <a:solidFill>
                  <a:srgbClr val="616F83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616F83"/>
                </a:solidFill>
                <a:latin typeface="Arial"/>
                <a:cs typeface="Arial"/>
              </a:rPr>
              <a:t>Square</a:t>
            </a:r>
            <a:r>
              <a:rPr sz="1800" b="1" spc="-10" dirty="0">
                <a:solidFill>
                  <a:srgbClr val="616F83"/>
                </a:solidFill>
                <a:latin typeface="Arial"/>
                <a:cs typeface="Arial"/>
              </a:rPr>
              <a:t> Error)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61999" y="7248518"/>
            <a:ext cx="6248399" cy="163828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977900" y="7464425"/>
            <a:ext cx="5344795" cy="11645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1CC8C8"/>
                </a:solidFill>
                <a:latin typeface="Arial"/>
                <a:cs typeface="Arial"/>
              </a:rPr>
              <a:t>Result:</a:t>
            </a:r>
            <a:endParaRPr sz="1800">
              <a:latin typeface="Arial"/>
              <a:cs typeface="Arial"/>
            </a:endParaRPr>
          </a:p>
          <a:p>
            <a:pPr marL="12700" marR="5080" algn="just">
              <a:lnSpc>
                <a:spcPct val="129600"/>
              </a:lnSpc>
              <a:spcBef>
                <a:spcPts val="509"/>
              </a:spcBef>
            </a:pP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Strong performance and excellent generalization on unseen test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data,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confirming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the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model's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robustness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and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the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effectiveness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of</a:t>
            </a:r>
            <a:r>
              <a:rPr sz="135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the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 feature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engineering and preprocessing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pipeline.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761999" y="5534018"/>
            <a:ext cx="1933575" cy="1409700"/>
          </a:xfrm>
          <a:custGeom>
            <a:avLst/>
            <a:gdLst/>
            <a:ahLst/>
            <a:cxnLst/>
            <a:rect l="l" t="t" r="r" b="b"/>
            <a:pathLst>
              <a:path w="1933575" h="1409700">
                <a:moveTo>
                  <a:pt x="1826779" y="1409680"/>
                </a:moveTo>
                <a:lnTo>
                  <a:pt x="106794" y="1409680"/>
                </a:lnTo>
                <a:lnTo>
                  <a:pt x="99362" y="1408956"/>
                </a:lnTo>
                <a:lnTo>
                  <a:pt x="57038" y="1394574"/>
                </a:lnTo>
                <a:lnTo>
                  <a:pt x="23432" y="1365122"/>
                </a:lnTo>
                <a:lnTo>
                  <a:pt x="3660" y="1325032"/>
                </a:lnTo>
                <a:lnTo>
                  <a:pt x="0" y="1302896"/>
                </a:lnTo>
                <a:lnTo>
                  <a:pt x="0" y="1295399"/>
                </a:lnTo>
                <a:lnTo>
                  <a:pt x="0" y="106784"/>
                </a:lnTo>
                <a:lnTo>
                  <a:pt x="11572" y="63607"/>
                </a:lnTo>
                <a:lnTo>
                  <a:pt x="38784" y="28146"/>
                </a:lnTo>
                <a:lnTo>
                  <a:pt x="77493" y="5800"/>
                </a:lnTo>
                <a:lnTo>
                  <a:pt x="106794" y="0"/>
                </a:lnTo>
                <a:lnTo>
                  <a:pt x="1826779" y="0"/>
                </a:lnTo>
                <a:lnTo>
                  <a:pt x="1869949" y="11572"/>
                </a:lnTo>
                <a:lnTo>
                  <a:pt x="1905403" y="38766"/>
                </a:lnTo>
                <a:lnTo>
                  <a:pt x="1927746" y="77466"/>
                </a:lnTo>
                <a:lnTo>
                  <a:pt x="1933574" y="106784"/>
                </a:lnTo>
                <a:lnTo>
                  <a:pt x="1933574" y="1302896"/>
                </a:lnTo>
                <a:lnTo>
                  <a:pt x="1922001" y="1346053"/>
                </a:lnTo>
                <a:lnTo>
                  <a:pt x="1894790" y="1381515"/>
                </a:lnTo>
                <a:lnTo>
                  <a:pt x="1856081" y="1403861"/>
                </a:lnTo>
                <a:lnTo>
                  <a:pt x="1834212" y="1408956"/>
                </a:lnTo>
                <a:lnTo>
                  <a:pt x="1826779" y="140968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1091902" y="5672137"/>
            <a:ext cx="1270635" cy="1025525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marL="360045">
              <a:lnSpc>
                <a:spcPct val="100000"/>
              </a:lnSpc>
              <a:spcBef>
                <a:spcPts val="785"/>
              </a:spcBef>
            </a:pP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Model</a:t>
            </a:r>
            <a:endParaRPr sz="1500">
              <a:latin typeface="Arial"/>
              <a:cs typeface="Arial"/>
            </a:endParaRPr>
          </a:p>
          <a:p>
            <a:pPr marL="12700" marR="5080" indent="304800">
              <a:lnSpc>
                <a:spcPct val="111100"/>
              </a:lnSpc>
              <a:spcBef>
                <a:spcPts val="585"/>
              </a:spcBef>
            </a:pP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Ridge Regression</a:t>
            </a:r>
            <a:endParaRPr sz="1800">
              <a:latin typeface="Arial"/>
              <a:cs typeface="Arial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924174" y="5534018"/>
            <a:ext cx="1924050" cy="1409700"/>
          </a:xfrm>
          <a:custGeom>
            <a:avLst/>
            <a:gdLst/>
            <a:ahLst/>
            <a:cxnLst/>
            <a:rect l="l" t="t" r="r" b="b"/>
            <a:pathLst>
              <a:path w="1924050" h="1409700">
                <a:moveTo>
                  <a:pt x="1817254" y="1409680"/>
                </a:moveTo>
                <a:lnTo>
                  <a:pt x="106794" y="1409680"/>
                </a:lnTo>
                <a:lnTo>
                  <a:pt x="99361" y="1408956"/>
                </a:lnTo>
                <a:lnTo>
                  <a:pt x="57038" y="1394574"/>
                </a:lnTo>
                <a:lnTo>
                  <a:pt x="23432" y="1365122"/>
                </a:lnTo>
                <a:lnTo>
                  <a:pt x="3659" y="1325032"/>
                </a:lnTo>
                <a:lnTo>
                  <a:pt x="0" y="1302896"/>
                </a:lnTo>
                <a:lnTo>
                  <a:pt x="0" y="1295399"/>
                </a:lnTo>
                <a:lnTo>
                  <a:pt x="0" y="106784"/>
                </a:lnTo>
                <a:lnTo>
                  <a:pt x="11572" y="63607"/>
                </a:lnTo>
                <a:lnTo>
                  <a:pt x="38784" y="28146"/>
                </a:lnTo>
                <a:lnTo>
                  <a:pt x="77492" y="5800"/>
                </a:lnTo>
                <a:lnTo>
                  <a:pt x="106794" y="0"/>
                </a:lnTo>
                <a:lnTo>
                  <a:pt x="1817254" y="0"/>
                </a:lnTo>
                <a:lnTo>
                  <a:pt x="1860423" y="11572"/>
                </a:lnTo>
                <a:lnTo>
                  <a:pt x="1895878" y="38766"/>
                </a:lnTo>
                <a:lnTo>
                  <a:pt x="1918220" y="77466"/>
                </a:lnTo>
                <a:lnTo>
                  <a:pt x="1924049" y="106784"/>
                </a:lnTo>
                <a:lnTo>
                  <a:pt x="1924049" y="1302896"/>
                </a:lnTo>
                <a:lnTo>
                  <a:pt x="1912476" y="1346053"/>
                </a:lnTo>
                <a:lnTo>
                  <a:pt x="1885264" y="1381515"/>
                </a:lnTo>
                <a:lnTo>
                  <a:pt x="1846556" y="1403861"/>
                </a:lnTo>
                <a:lnTo>
                  <a:pt x="1824687" y="1408956"/>
                </a:lnTo>
                <a:lnTo>
                  <a:pt x="1817254" y="140968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296493" y="5672137"/>
            <a:ext cx="1179195" cy="720725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785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Validation</a:t>
            </a:r>
            <a:r>
              <a:rPr sz="1500" b="1" spc="-8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spc="-25" dirty="0">
                <a:solidFill>
                  <a:srgbClr val="1C242F"/>
                </a:solidFill>
                <a:latin typeface="Arial"/>
                <a:cs typeface="Arial"/>
              </a:rPr>
              <a:t>R²</a:t>
            </a:r>
            <a:endParaRPr sz="15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825"/>
              </a:spcBef>
            </a:pPr>
            <a:r>
              <a:rPr sz="1800" b="1" spc="-10" dirty="0">
                <a:solidFill>
                  <a:srgbClr val="1CC8C8"/>
                </a:solidFill>
                <a:latin typeface="Arial"/>
                <a:cs typeface="Arial"/>
              </a:rPr>
              <a:t>0.9053</a:t>
            </a:r>
            <a:endParaRPr sz="1800">
              <a:latin typeface="Arial"/>
              <a:cs typeface="Arial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5076824" y="5534018"/>
            <a:ext cx="1933575" cy="1409700"/>
          </a:xfrm>
          <a:custGeom>
            <a:avLst/>
            <a:gdLst/>
            <a:ahLst/>
            <a:cxnLst/>
            <a:rect l="l" t="t" r="r" b="b"/>
            <a:pathLst>
              <a:path w="1933575" h="1409700">
                <a:moveTo>
                  <a:pt x="1826779" y="1409680"/>
                </a:moveTo>
                <a:lnTo>
                  <a:pt x="106794" y="1409680"/>
                </a:lnTo>
                <a:lnTo>
                  <a:pt x="99361" y="1408956"/>
                </a:lnTo>
                <a:lnTo>
                  <a:pt x="57038" y="1394574"/>
                </a:lnTo>
                <a:lnTo>
                  <a:pt x="23432" y="1365122"/>
                </a:lnTo>
                <a:lnTo>
                  <a:pt x="3660" y="1325032"/>
                </a:lnTo>
                <a:lnTo>
                  <a:pt x="0" y="1302896"/>
                </a:lnTo>
                <a:lnTo>
                  <a:pt x="0" y="1295399"/>
                </a:lnTo>
                <a:lnTo>
                  <a:pt x="0" y="106784"/>
                </a:lnTo>
                <a:lnTo>
                  <a:pt x="11572" y="63607"/>
                </a:lnTo>
                <a:lnTo>
                  <a:pt x="38784" y="28146"/>
                </a:lnTo>
                <a:lnTo>
                  <a:pt x="77492" y="5800"/>
                </a:lnTo>
                <a:lnTo>
                  <a:pt x="106794" y="0"/>
                </a:lnTo>
                <a:lnTo>
                  <a:pt x="1826779" y="0"/>
                </a:lnTo>
                <a:lnTo>
                  <a:pt x="1869949" y="11572"/>
                </a:lnTo>
                <a:lnTo>
                  <a:pt x="1905404" y="38766"/>
                </a:lnTo>
                <a:lnTo>
                  <a:pt x="1927745" y="77466"/>
                </a:lnTo>
                <a:lnTo>
                  <a:pt x="1933575" y="106784"/>
                </a:lnTo>
                <a:lnTo>
                  <a:pt x="1933575" y="1302896"/>
                </a:lnTo>
                <a:lnTo>
                  <a:pt x="1922001" y="1346053"/>
                </a:lnTo>
                <a:lnTo>
                  <a:pt x="1894790" y="1381515"/>
                </a:lnTo>
                <a:lnTo>
                  <a:pt x="1856081" y="1403861"/>
                </a:lnTo>
                <a:lnTo>
                  <a:pt x="1834212" y="1408956"/>
                </a:lnTo>
                <a:lnTo>
                  <a:pt x="1826779" y="140968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5538440" y="5672137"/>
            <a:ext cx="1013460" cy="720725"/>
          </a:xfrm>
          <a:prstGeom prst="rect">
            <a:avLst/>
          </a:prstGeom>
        </p:spPr>
        <p:txBody>
          <a:bodyPr vert="horz" wrap="square" lIns="0" tIns="9969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785"/>
              </a:spcBef>
            </a:pPr>
            <a:r>
              <a:rPr sz="1500" b="1" dirty="0">
                <a:solidFill>
                  <a:srgbClr val="1C242F"/>
                </a:solidFill>
                <a:latin typeface="Arial"/>
                <a:cs typeface="Arial"/>
              </a:rPr>
              <a:t>Best</a:t>
            </a:r>
            <a:r>
              <a:rPr sz="1500" b="1" spc="-9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242F"/>
                </a:solidFill>
                <a:latin typeface="Arial"/>
                <a:cs typeface="Arial"/>
              </a:rPr>
              <a:t>Alpha</a:t>
            </a:r>
            <a:endParaRPr sz="15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825"/>
              </a:spcBef>
            </a:pPr>
            <a:r>
              <a:rPr sz="1800" b="1" spc="-25" dirty="0">
                <a:solidFill>
                  <a:srgbClr val="164E9C"/>
                </a:solidFill>
                <a:latin typeface="Arial"/>
                <a:cs typeface="Arial"/>
              </a:rPr>
              <a:t>10</a:t>
            </a:r>
            <a:endParaRPr sz="18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650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Streamlit </a:t>
            </a:r>
            <a:r>
              <a:rPr spc="-10" dirty="0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162744" y="2540000"/>
            <a:ext cx="544703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Interactive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web</a:t>
            </a:r>
            <a:r>
              <a:rPr sz="15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application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for</a:t>
            </a:r>
            <a:r>
              <a:rPr sz="15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real-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world</a:t>
            </a:r>
            <a:r>
              <a:rPr sz="15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house</a:t>
            </a:r>
            <a:r>
              <a:rPr sz="1500" spc="-4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dirty="0">
                <a:solidFill>
                  <a:srgbClr val="1C242F"/>
                </a:solidFill>
                <a:latin typeface="Arial MT"/>
                <a:cs typeface="Arial MT"/>
              </a:rPr>
              <a:t>price</a:t>
            </a:r>
            <a:r>
              <a:rPr sz="1500" spc="-3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500" spc="-10" dirty="0">
                <a:solidFill>
                  <a:srgbClr val="1C242F"/>
                </a:solidFill>
                <a:latin typeface="Arial MT"/>
                <a:cs typeface="Arial MT"/>
              </a:rPr>
              <a:t>predictions</a:t>
            </a:r>
            <a:endParaRPr sz="1500">
              <a:latin typeface="Arial MT"/>
              <a:cs typeface="Arial MT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61999" y="6696087"/>
            <a:ext cx="2971799" cy="198118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6911975"/>
            <a:ext cx="2532380" cy="865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CC8C8"/>
                </a:solidFill>
                <a:latin typeface="Arial"/>
                <a:cs typeface="Arial"/>
              </a:rPr>
              <a:t>Access the</a:t>
            </a:r>
            <a:r>
              <a:rPr sz="1800" b="1" spc="-70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CC8C8"/>
                </a:solidFill>
                <a:latin typeface="Arial"/>
                <a:cs typeface="Arial"/>
              </a:rPr>
              <a:t>Application</a:t>
            </a:r>
            <a:endParaRPr sz="1800">
              <a:latin typeface="Arial"/>
              <a:cs typeface="Arial"/>
            </a:endParaRPr>
          </a:p>
          <a:p>
            <a:pPr marL="12700" marR="297815">
              <a:lnSpc>
                <a:spcPct val="125000"/>
              </a:lnSpc>
              <a:spcBef>
                <a:spcPts val="85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Try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the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live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demo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and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make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your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own house price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predictions: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6" name="object 6">
            <a:hlinkClick r:id="rId3"/>
          </p:cNvPr>
          <p:cNvSpPr/>
          <p:nvPr/>
        </p:nvSpPr>
        <p:spPr>
          <a:xfrm>
            <a:off x="990599" y="7953368"/>
            <a:ext cx="2438400" cy="495300"/>
          </a:xfrm>
          <a:custGeom>
            <a:avLst/>
            <a:gdLst/>
            <a:ahLst/>
            <a:cxnLst/>
            <a:rect l="l" t="t" r="r" b="b"/>
            <a:pathLst>
              <a:path w="2438400" h="495300">
                <a:moveTo>
                  <a:pt x="2331604" y="495299"/>
                </a:moveTo>
                <a:lnTo>
                  <a:pt x="106794" y="495299"/>
                </a:lnTo>
                <a:lnTo>
                  <a:pt x="99361" y="494576"/>
                </a:lnTo>
                <a:lnTo>
                  <a:pt x="57038" y="480193"/>
                </a:lnTo>
                <a:lnTo>
                  <a:pt x="23432" y="450722"/>
                </a:lnTo>
                <a:lnTo>
                  <a:pt x="3660" y="410651"/>
                </a:lnTo>
                <a:lnTo>
                  <a:pt x="0" y="388496"/>
                </a:lnTo>
                <a:lnTo>
                  <a:pt x="0" y="380999"/>
                </a:lnTo>
                <a:lnTo>
                  <a:pt x="0" y="106803"/>
                </a:lnTo>
                <a:lnTo>
                  <a:pt x="11572" y="63607"/>
                </a:lnTo>
                <a:lnTo>
                  <a:pt x="38784" y="28165"/>
                </a:lnTo>
                <a:lnTo>
                  <a:pt x="77492" y="5819"/>
                </a:lnTo>
                <a:lnTo>
                  <a:pt x="106794" y="0"/>
                </a:lnTo>
                <a:lnTo>
                  <a:pt x="2331604" y="0"/>
                </a:lnTo>
                <a:lnTo>
                  <a:pt x="2374774" y="11572"/>
                </a:lnTo>
                <a:lnTo>
                  <a:pt x="2410228" y="38766"/>
                </a:lnTo>
                <a:lnTo>
                  <a:pt x="2432570" y="77485"/>
                </a:lnTo>
                <a:lnTo>
                  <a:pt x="2438399" y="106803"/>
                </a:lnTo>
                <a:lnTo>
                  <a:pt x="2438399" y="388496"/>
                </a:lnTo>
                <a:lnTo>
                  <a:pt x="2426826" y="431672"/>
                </a:lnTo>
                <a:lnTo>
                  <a:pt x="2399614" y="467115"/>
                </a:lnTo>
                <a:lnTo>
                  <a:pt x="2360906" y="489461"/>
                </a:lnTo>
                <a:lnTo>
                  <a:pt x="2339037" y="494576"/>
                </a:lnTo>
                <a:lnTo>
                  <a:pt x="2331604" y="495299"/>
                </a:lnTo>
                <a:close/>
              </a:path>
            </a:pathLst>
          </a:custGeom>
          <a:solidFill>
            <a:srgbClr val="164E9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1206499" y="8074025"/>
            <a:ext cx="2010410" cy="2311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50" b="1" dirty="0">
                <a:solidFill>
                  <a:srgbClr val="FFFFFF"/>
                </a:solidFill>
                <a:latin typeface="Arial"/>
                <a:cs typeface="Arial"/>
                <a:hlinkClick r:id="rId3"/>
              </a:rPr>
              <a:t>Launch</a:t>
            </a: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  <a:hlinkClick r:id="rId3"/>
              </a:rPr>
              <a:t> </a:t>
            </a:r>
            <a:r>
              <a:rPr sz="1350" b="1" dirty="0">
                <a:solidFill>
                  <a:srgbClr val="FFFFFF"/>
                </a:solidFill>
                <a:latin typeface="Arial"/>
                <a:cs typeface="Arial"/>
                <a:hlinkClick r:id="rId3"/>
              </a:rPr>
              <a:t>Streamlit</a:t>
            </a:r>
            <a:r>
              <a:rPr sz="1350" b="1" spc="-65" dirty="0">
                <a:solidFill>
                  <a:srgbClr val="FFFFFF"/>
                </a:solidFill>
                <a:latin typeface="Arial"/>
                <a:cs typeface="Arial"/>
                <a:hlinkClick r:id="rId3"/>
              </a:rPr>
              <a:t> </a:t>
            </a:r>
            <a:r>
              <a:rPr sz="1350" b="1" dirty="0">
                <a:solidFill>
                  <a:srgbClr val="FFFFFF"/>
                </a:solidFill>
                <a:latin typeface="Arial"/>
                <a:cs typeface="Arial"/>
                <a:hlinkClick r:id="rId3"/>
              </a:rPr>
              <a:t>App</a:t>
            </a:r>
            <a:r>
              <a:rPr sz="1350" b="1" spc="-10" dirty="0">
                <a:solidFill>
                  <a:srgbClr val="FFFFFF"/>
                </a:solidFill>
                <a:latin typeface="Arial"/>
                <a:cs typeface="Arial"/>
                <a:hlinkClick r:id="rId3"/>
              </a:rPr>
              <a:t> </a:t>
            </a:r>
            <a:r>
              <a:rPr sz="1350" b="1" spc="-50" dirty="0">
                <a:solidFill>
                  <a:srgbClr val="FFFFFF"/>
                </a:solidFill>
                <a:latin typeface="Arial"/>
                <a:cs typeface="Arial"/>
                <a:hlinkClick r:id="rId3"/>
              </a:rPr>
              <a:t>→</a:t>
            </a:r>
            <a:endParaRPr sz="1350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761999" y="3114668"/>
            <a:ext cx="2971800" cy="3352800"/>
          </a:xfrm>
          <a:custGeom>
            <a:avLst/>
            <a:gdLst/>
            <a:ahLst/>
            <a:cxnLst/>
            <a:rect l="l" t="t" r="r" b="b"/>
            <a:pathLst>
              <a:path w="2971800" h="3352800">
                <a:moveTo>
                  <a:pt x="2865004" y="3352799"/>
                </a:moveTo>
                <a:lnTo>
                  <a:pt x="106794" y="3352799"/>
                </a:lnTo>
                <a:lnTo>
                  <a:pt x="99362" y="3352056"/>
                </a:lnTo>
                <a:lnTo>
                  <a:pt x="57038" y="3337693"/>
                </a:lnTo>
                <a:lnTo>
                  <a:pt x="23432" y="3308222"/>
                </a:lnTo>
                <a:lnTo>
                  <a:pt x="3660" y="3268151"/>
                </a:lnTo>
                <a:lnTo>
                  <a:pt x="0" y="3245995"/>
                </a:lnTo>
                <a:lnTo>
                  <a:pt x="0" y="3238499"/>
                </a:lnTo>
                <a:lnTo>
                  <a:pt x="0" y="106784"/>
                </a:lnTo>
                <a:lnTo>
                  <a:pt x="11572" y="63607"/>
                </a:lnTo>
                <a:lnTo>
                  <a:pt x="38784" y="28146"/>
                </a:lnTo>
                <a:lnTo>
                  <a:pt x="77493" y="5800"/>
                </a:lnTo>
                <a:lnTo>
                  <a:pt x="106794" y="0"/>
                </a:lnTo>
                <a:lnTo>
                  <a:pt x="2865004" y="0"/>
                </a:lnTo>
                <a:lnTo>
                  <a:pt x="2908173" y="11553"/>
                </a:lnTo>
                <a:lnTo>
                  <a:pt x="2943628" y="38766"/>
                </a:lnTo>
                <a:lnTo>
                  <a:pt x="2965971" y="77485"/>
                </a:lnTo>
                <a:lnTo>
                  <a:pt x="2971799" y="106784"/>
                </a:lnTo>
                <a:lnTo>
                  <a:pt x="2971799" y="3245995"/>
                </a:lnTo>
                <a:lnTo>
                  <a:pt x="2960226" y="3289153"/>
                </a:lnTo>
                <a:lnTo>
                  <a:pt x="2933014" y="3324615"/>
                </a:lnTo>
                <a:lnTo>
                  <a:pt x="2894306" y="3346979"/>
                </a:lnTo>
                <a:lnTo>
                  <a:pt x="2872437" y="3352056"/>
                </a:lnTo>
                <a:lnTo>
                  <a:pt x="2865004" y="3352799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977900" y="3330575"/>
            <a:ext cx="22866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64E9C"/>
                </a:solidFill>
                <a:latin typeface="Arial"/>
                <a:cs typeface="Arial"/>
              </a:rPr>
              <a:t>Application</a:t>
            </a:r>
            <a:r>
              <a:rPr sz="1800" b="1" spc="-105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Features</a:t>
            </a:r>
            <a:endParaRPr sz="18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77900" y="3707765"/>
            <a:ext cx="235077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marR="5080" indent="-285750">
              <a:lnSpc>
                <a:spcPct val="129600"/>
              </a:lnSpc>
              <a:spcBef>
                <a:spcPts val="100"/>
              </a:spcBef>
            </a:pPr>
            <a:r>
              <a:rPr sz="135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350" spc="70" dirty="0">
                <a:solidFill>
                  <a:srgbClr val="1CC8C8"/>
                </a:solidFill>
                <a:latin typeface="Arial MT"/>
                <a:cs typeface="Arial MT"/>
              </a:rPr>
              <a:t> 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Users</a:t>
            </a:r>
            <a:r>
              <a:rPr sz="1350" spc="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input key </a:t>
            </a:r>
            <a:r>
              <a:rPr sz="1350" spc="-20" dirty="0">
                <a:solidFill>
                  <a:srgbClr val="1C242F"/>
                </a:solidFill>
                <a:latin typeface="Arial MT"/>
                <a:cs typeface="Arial MT"/>
              </a:rPr>
              <a:t>home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characteristics via clean 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UI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77900" y="4355465"/>
            <a:ext cx="2207895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marR="5080" indent="-285750">
              <a:lnSpc>
                <a:spcPct val="129600"/>
              </a:lnSpc>
              <a:spcBef>
                <a:spcPts val="100"/>
              </a:spcBef>
            </a:pPr>
            <a:r>
              <a:rPr sz="135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350" spc="70" dirty="0">
                <a:solidFill>
                  <a:srgbClr val="1CC8C8"/>
                </a:solidFill>
                <a:latin typeface="Arial MT"/>
                <a:cs typeface="Arial MT"/>
              </a:rPr>
              <a:t> 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Model</a:t>
            </a:r>
            <a:r>
              <a:rPr sz="1350" spc="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predicts sale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price instantly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977900" y="5003165"/>
            <a:ext cx="252857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marR="5080" indent="-285750">
              <a:lnSpc>
                <a:spcPct val="129600"/>
              </a:lnSpc>
              <a:spcBef>
                <a:spcPts val="100"/>
              </a:spcBef>
            </a:pPr>
            <a:r>
              <a:rPr sz="135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350" spc="70" dirty="0">
                <a:solidFill>
                  <a:srgbClr val="1CC8C8"/>
                </a:solidFill>
                <a:latin typeface="Arial MT"/>
                <a:cs typeface="Arial MT"/>
              </a:rPr>
              <a:t> 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Optional</a:t>
            </a:r>
            <a:r>
              <a:rPr sz="1350" spc="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SHAP</a:t>
            </a:r>
            <a:r>
              <a:rPr sz="135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visualizations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transparency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977900" y="5650864"/>
            <a:ext cx="2437130" cy="558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97815" marR="5080" indent="-285750">
              <a:lnSpc>
                <a:spcPct val="129600"/>
              </a:lnSpc>
              <a:spcBef>
                <a:spcPts val="100"/>
              </a:spcBef>
            </a:pPr>
            <a:r>
              <a:rPr sz="1350" dirty="0">
                <a:solidFill>
                  <a:srgbClr val="1CC8C8"/>
                </a:solidFill>
                <a:latin typeface="Arial MT"/>
                <a:cs typeface="Arial MT"/>
              </a:rPr>
              <a:t>→</a:t>
            </a:r>
            <a:r>
              <a:rPr sz="1350" spc="70" dirty="0">
                <a:solidFill>
                  <a:srgbClr val="1CC8C8"/>
                </a:solidFill>
                <a:latin typeface="Arial MT"/>
                <a:cs typeface="Arial MT"/>
              </a:rPr>
              <a:t> 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Pickled</a:t>
            </a:r>
            <a:r>
              <a:rPr sz="1350" spc="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Ridge model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loaded </a:t>
            </a:r>
            <a:r>
              <a:rPr sz="1350" dirty="0">
                <a:solidFill>
                  <a:srgbClr val="1C242F"/>
                </a:solidFill>
                <a:latin typeface="Arial MT"/>
                <a:cs typeface="Arial MT"/>
              </a:rPr>
              <a:t>at app </a:t>
            </a:r>
            <a:r>
              <a:rPr sz="1350" spc="-10" dirty="0">
                <a:solidFill>
                  <a:srgbClr val="1C242F"/>
                </a:solidFill>
                <a:latin typeface="Arial MT"/>
                <a:cs typeface="Arial MT"/>
              </a:rPr>
              <a:t>startup</a:t>
            </a:r>
            <a:endParaRPr sz="1350">
              <a:latin typeface="Arial MT"/>
              <a:cs typeface="Arial MT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4038599" y="3114668"/>
            <a:ext cx="2971800" cy="3238500"/>
          </a:xfrm>
          <a:custGeom>
            <a:avLst/>
            <a:gdLst/>
            <a:ahLst/>
            <a:cxnLst/>
            <a:rect l="l" t="t" r="r" b="b"/>
            <a:pathLst>
              <a:path w="2971800" h="3238500">
                <a:moveTo>
                  <a:pt x="2865004" y="3238480"/>
                </a:moveTo>
                <a:lnTo>
                  <a:pt x="106795" y="3238480"/>
                </a:lnTo>
                <a:lnTo>
                  <a:pt x="99362" y="3237756"/>
                </a:lnTo>
                <a:lnTo>
                  <a:pt x="57038" y="3223374"/>
                </a:lnTo>
                <a:lnTo>
                  <a:pt x="23432" y="3193922"/>
                </a:lnTo>
                <a:lnTo>
                  <a:pt x="3660" y="3153851"/>
                </a:lnTo>
                <a:lnTo>
                  <a:pt x="0" y="3131695"/>
                </a:lnTo>
                <a:lnTo>
                  <a:pt x="0" y="3124199"/>
                </a:lnTo>
                <a:lnTo>
                  <a:pt x="0" y="106784"/>
                </a:lnTo>
                <a:lnTo>
                  <a:pt x="11572" y="63607"/>
                </a:lnTo>
                <a:lnTo>
                  <a:pt x="38784" y="28146"/>
                </a:lnTo>
                <a:lnTo>
                  <a:pt x="77492" y="5800"/>
                </a:lnTo>
                <a:lnTo>
                  <a:pt x="106795" y="0"/>
                </a:lnTo>
                <a:lnTo>
                  <a:pt x="2865004" y="0"/>
                </a:lnTo>
                <a:lnTo>
                  <a:pt x="2908174" y="11553"/>
                </a:lnTo>
                <a:lnTo>
                  <a:pt x="2943629" y="38766"/>
                </a:lnTo>
                <a:lnTo>
                  <a:pt x="2965970" y="77485"/>
                </a:lnTo>
                <a:lnTo>
                  <a:pt x="2971800" y="106784"/>
                </a:lnTo>
                <a:lnTo>
                  <a:pt x="2971800" y="3131695"/>
                </a:lnTo>
                <a:lnTo>
                  <a:pt x="2960226" y="3174834"/>
                </a:lnTo>
                <a:lnTo>
                  <a:pt x="2933015" y="3210315"/>
                </a:lnTo>
                <a:lnTo>
                  <a:pt x="2894306" y="3232660"/>
                </a:lnTo>
                <a:lnTo>
                  <a:pt x="2872437" y="3237756"/>
                </a:lnTo>
                <a:lnTo>
                  <a:pt x="2865004" y="323848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15"/>
          <p:cNvSpPr txBox="1"/>
          <p:nvPr/>
        </p:nvSpPr>
        <p:spPr>
          <a:xfrm>
            <a:off x="4254500" y="3330575"/>
            <a:ext cx="2459355" cy="27705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solidFill>
                  <a:srgbClr val="164E9C"/>
                </a:solidFill>
                <a:latin typeface="Arial"/>
                <a:cs typeface="Arial"/>
              </a:rPr>
              <a:t>Technology</a:t>
            </a:r>
            <a:r>
              <a:rPr sz="1800" b="1" spc="-35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Stack</a:t>
            </a:r>
            <a:endParaRPr sz="1800">
              <a:latin typeface="Arial"/>
              <a:cs typeface="Arial"/>
            </a:endParaRPr>
          </a:p>
          <a:p>
            <a:pPr marL="12700" marR="140970" indent="95885">
              <a:lnSpc>
                <a:spcPct val="125000"/>
              </a:lnSpc>
              <a:spcBef>
                <a:spcPts val="855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Frontend:</a:t>
            </a:r>
            <a:r>
              <a:rPr sz="1200" b="1" spc="-2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Streamlit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with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custom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CSS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styling</a:t>
            </a:r>
            <a:endParaRPr sz="1200">
              <a:latin typeface="Arial MT"/>
              <a:cs typeface="Arial MT"/>
            </a:endParaRPr>
          </a:p>
          <a:p>
            <a:pPr marL="12700" marR="64135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Model:</a:t>
            </a:r>
            <a:r>
              <a:rPr sz="1200" b="1" spc="-15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Pickled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Ridge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Regression (alpha=10)</a:t>
            </a:r>
            <a:endParaRPr sz="1200">
              <a:latin typeface="Arial MT"/>
              <a:cs typeface="Arial MT"/>
            </a:endParaRPr>
          </a:p>
          <a:p>
            <a:pPr marL="12700" marR="5080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Processing: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Pandas &amp; NumPy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transformations</a:t>
            </a:r>
            <a:endParaRPr sz="1200">
              <a:latin typeface="Arial MT"/>
              <a:cs typeface="Arial MT"/>
            </a:endParaRPr>
          </a:p>
          <a:p>
            <a:pPr marL="12700" marR="118110" indent="95885">
              <a:lnSpc>
                <a:spcPct val="125000"/>
              </a:lnSpc>
              <a:spcBef>
                <a:spcPts val="60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Explainability:</a:t>
            </a:r>
            <a:r>
              <a:rPr sz="1200" b="1" spc="-30" dirty="0">
                <a:solidFill>
                  <a:srgbClr val="1C242F"/>
                </a:solidFill>
                <a:latin typeface="Arial"/>
                <a:cs typeface="Arial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SHAP</a:t>
            </a:r>
            <a:r>
              <a:rPr sz="1200" spc="-5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for</a:t>
            </a:r>
            <a:r>
              <a:rPr sz="1200" spc="-3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feature contributions</a:t>
            </a:r>
            <a:endParaRPr sz="1200">
              <a:latin typeface="Arial MT"/>
              <a:cs typeface="Arial MT"/>
            </a:endParaRPr>
          </a:p>
          <a:p>
            <a:pPr marL="108585" indent="-95885">
              <a:lnSpc>
                <a:spcPct val="100000"/>
              </a:lnSpc>
              <a:spcBef>
                <a:spcPts val="960"/>
              </a:spcBef>
              <a:buFont typeface="Arial MT"/>
              <a:buChar char="•"/>
              <a:tabLst>
                <a:tab pos="108585" algn="l"/>
              </a:tabLst>
            </a:pPr>
            <a:r>
              <a:rPr sz="1200" b="1" dirty="0">
                <a:solidFill>
                  <a:srgbClr val="1C242F"/>
                </a:solidFill>
                <a:latin typeface="Arial"/>
                <a:cs typeface="Arial"/>
              </a:rPr>
              <a:t>Deployment: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Streamlit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Cloud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038599" y="6505568"/>
            <a:ext cx="2971800" cy="2247900"/>
          </a:xfrm>
          <a:custGeom>
            <a:avLst/>
            <a:gdLst/>
            <a:ahLst/>
            <a:cxnLst/>
            <a:rect l="l" t="t" r="r" b="b"/>
            <a:pathLst>
              <a:path w="2971800" h="2247900">
                <a:moveTo>
                  <a:pt x="2865004" y="2247880"/>
                </a:moveTo>
                <a:lnTo>
                  <a:pt x="106795" y="2247880"/>
                </a:lnTo>
                <a:lnTo>
                  <a:pt x="99362" y="2247156"/>
                </a:lnTo>
                <a:lnTo>
                  <a:pt x="57038" y="2232774"/>
                </a:lnTo>
                <a:lnTo>
                  <a:pt x="23432" y="2203303"/>
                </a:lnTo>
                <a:lnTo>
                  <a:pt x="3660" y="2163232"/>
                </a:lnTo>
                <a:lnTo>
                  <a:pt x="0" y="2141096"/>
                </a:lnTo>
                <a:lnTo>
                  <a:pt x="0" y="2133599"/>
                </a:lnTo>
                <a:lnTo>
                  <a:pt x="0" y="106784"/>
                </a:lnTo>
                <a:lnTo>
                  <a:pt x="11572" y="63607"/>
                </a:lnTo>
                <a:lnTo>
                  <a:pt x="38784" y="28165"/>
                </a:lnTo>
                <a:lnTo>
                  <a:pt x="77492" y="5819"/>
                </a:lnTo>
                <a:lnTo>
                  <a:pt x="106795" y="0"/>
                </a:lnTo>
                <a:lnTo>
                  <a:pt x="2865004" y="0"/>
                </a:lnTo>
                <a:lnTo>
                  <a:pt x="2908174" y="11572"/>
                </a:lnTo>
                <a:lnTo>
                  <a:pt x="2943629" y="38766"/>
                </a:lnTo>
                <a:lnTo>
                  <a:pt x="2965970" y="77485"/>
                </a:lnTo>
                <a:lnTo>
                  <a:pt x="2971800" y="106784"/>
                </a:lnTo>
                <a:lnTo>
                  <a:pt x="2971800" y="2141096"/>
                </a:lnTo>
                <a:lnTo>
                  <a:pt x="2960226" y="2184234"/>
                </a:lnTo>
                <a:lnTo>
                  <a:pt x="2933015" y="2219696"/>
                </a:lnTo>
                <a:lnTo>
                  <a:pt x="2894306" y="2242060"/>
                </a:lnTo>
                <a:lnTo>
                  <a:pt x="2872437" y="2247156"/>
                </a:lnTo>
                <a:lnTo>
                  <a:pt x="2865004" y="2247880"/>
                </a:lnTo>
                <a:close/>
              </a:path>
            </a:pathLst>
          </a:custGeom>
          <a:solidFill>
            <a:srgbClr val="FFFFFF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254500" y="6721475"/>
            <a:ext cx="2423160" cy="17799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1CC8C8"/>
                </a:solidFill>
                <a:latin typeface="Arial"/>
                <a:cs typeface="Arial"/>
              </a:rPr>
              <a:t>Why</a:t>
            </a:r>
            <a:r>
              <a:rPr sz="1800" b="1" spc="-40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CC8C8"/>
                </a:solidFill>
                <a:latin typeface="Arial"/>
                <a:cs typeface="Arial"/>
              </a:rPr>
              <a:t>Streamlit?</a:t>
            </a:r>
            <a:endParaRPr sz="18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85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Lightweight, Python-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native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framework enabling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rapid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deployment of ML</a:t>
            </a:r>
            <a:r>
              <a:rPr sz="1200" spc="-4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models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with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interactive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UIs.</a:t>
            </a:r>
            <a:r>
              <a:rPr sz="1200" spc="-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Perfect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for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showcasing real-world usability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and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model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accessibility.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457199" y="457187"/>
            <a:ext cx="6858000" cy="9696450"/>
          </a:xfrm>
          <a:custGeom>
            <a:avLst/>
            <a:gdLst/>
            <a:ahLst/>
            <a:cxnLst/>
            <a:rect l="l" t="t" r="r" b="b"/>
            <a:pathLst>
              <a:path w="6858000" h="9696450">
                <a:moveTo>
                  <a:pt x="6857999" y="9696449"/>
                </a:moveTo>
                <a:lnTo>
                  <a:pt x="0" y="9696449"/>
                </a:lnTo>
                <a:lnTo>
                  <a:pt x="0" y="0"/>
                </a:lnTo>
                <a:lnTo>
                  <a:pt x="6857999" y="0"/>
                </a:lnTo>
                <a:lnTo>
                  <a:pt x="6857999" y="9696449"/>
                </a:lnTo>
                <a:close/>
              </a:path>
            </a:pathLst>
          </a:custGeom>
          <a:solidFill>
            <a:srgbClr val="E4EAF0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749299" y="1168400"/>
            <a:ext cx="414147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Key Insights &amp; </a:t>
            </a:r>
            <a:r>
              <a:rPr spc="-10" dirty="0"/>
              <a:t>Learnings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761999" y="1904993"/>
            <a:ext cx="2971800" cy="7620000"/>
            <a:chOff x="761999" y="1904993"/>
            <a:chExt cx="2971800" cy="7620000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61999" y="1904993"/>
              <a:ext cx="2971799" cy="2590799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761999" y="4648193"/>
              <a:ext cx="2971799" cy="2362180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61999" y="7162792"/>
              <a:ext cx="2971799" cy="2362180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977900" y="2846704"/>
            <a:ext cx="2270760" cy="1397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Differentiating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structural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absence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from genuine missing values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was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critical. Filling "None" for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non-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existent features preserved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real-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estate logic and prevented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model confusion.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77900" y="5589904"/>
            <a:ext cx="2456815" cy="1168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Domain-driven features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like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OverallQualArea and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TotalSF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captured complex interactions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that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raw features couldn't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express,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significantly improving model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signal.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977900" y="7348219"/>
            <a:ext cx="2527935" cy="19246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sz="1800" b="1" dirty="0">
                <a:solidFill>
                  <a:srgbClr val="1C242F"/>
                </a:solidFill>
                <a:latin typeface="Arial"/>
                <a:cs typeface="Arial"/>
              </a:rPr>
              <a:t>3. Ridge Excels </a:t>
            </a:r>
            <a:r>
              <a:rPr sz="1800" b="1" spc="-25" dirty="0">
                <a:solidFill>
                  <a:srgbClr val="1C242F"/>
                </a:solidFill>
                <a:latin typeface="Arial"/>
                <a:cs typeface="Arial"/>
              </a:rPr>
              <a:t>on </a:t>
            </a:r>
            <a:r>
              <a:rPr sz="1800" b="1" dirty="0">
                <a:solidFill>
                  <a:srgbClr val="1C242F"/>
                </a:solidFill>
                <a:latin typeface="Arial"/>
                <a:cs typeface="Arial"/>
              </a:rPr>
              <a:t>High-Dimensional </a:t>
            </a:r>
            <a:r>
              <a:rPr sz="1800" b="1" spc="-20" dirty="0">
                <a:solidFill>
                  <a:srgbClr val="1C242F"/>
                </a:solidFill>
                <a:latin typeface="Arial"/>
                <a:cs typeface="Arial"/>
              </a:rPr>
              <a:t>Data</a:t>
            </a:r>
            <a:endParaRPr sz="1800">
              <a:latin typeface="Arial"/>
              <a:cs typeface="Arial"/>
            </a:endParaRPr>
          </a:p>
          <a:p>
            <a:pPr marL="12700" marR="151765">
              <a:lnSpc>
                <a:spcPct val="125000"/>
              </a:lnSpc>
              <a:spcBef>
                <a:spcPts val="115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Ridge Regression handled one-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hot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encoded categorical features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and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multicollinearity exceptionally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well,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providing stable and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interpretable results.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4038599" y="1904993"/>
            <a:ext cx="2971800" cy="8153400"/>
            <a:chOff x="4038599" y="1904993"/>
            <a:chExt cx="2971800" cy="8153400"/>
          </a:xfrm>
        </p:grpSpPr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038599" y="1904993"/>
              <a:ext cx="2971800" cy="2590799"/>
            </a:xfrm>
            <a:prstGeom prst="rect">
              <a:avLst/>
            </a:prstGeom>
          </p:spPr>
        </p:pic>
        <p:pic>
          <p:nvPicPr>
            <p:cNvPr id="13" name="object 13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4038599" y="4648193"/>
              <a:ext cx="2971800" cy="2590780"/>
            </a:xfrm>
            <a:prstGeom prst="rect">
              <a:avLst/>
            </a:prstGeom>
          </p:spPr>
        </p:pic>
        <p:pic>
          <p:nvPicPr>
            <p:cNvPr id="14" name="object 1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4038599" y="7391392"/>
              <a:ext cx="2971800" cy="2666999"/>
            </a:xfrm>
            <a:prstGeom prst="rect">
              <a:avLst/>
            </a:prstGeom>
          </p:spPr>
        </p:pic>
      </p:grpSp>
      <p:sp>
        <p:nvSpPr>
          <p:cNvPr id="15" name="object 15"/>
          <p:cNvSpPr txBox="1"/>
          <p:nvPr/>
        </p:nvSpPr>
        <p:spPr>
          <a:xfrm>
            <a:off x="4254500" y="2090420"/>
            <a:ext cx="2537460" cy="2153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31470">
              <a:lnSpc>
                <a:spcPct val="111100"/>
              </a:lnSpc>
              <a:spcBef>
                <a:spcPts val="100"/>
              </a:spcBef>
            </a:pPr>
            <a:r>
              <a:rPr sz="1800" b="1" dirty="0">
                <a:solidFill>
                  <a:srgbClr val="1CC8C8"/>
                </a:solidFill>
                <a:latin typeface="Arial"/>
                <a:cs typeface="Arial"/>
              </a:rPr>
              <a:t>4. </a:t>
            </a:r>
            <a:r>
              <a:rPr sz="1800" b="1" spc="-10" dirty="0">
                <a:solidFill>
                  <a:srgbClr val="1CC8C8"/>
                </a:solidFill>
                <a:latin typeface="Arial"/>
                <a:cs typeface="Arial"/>
              </a:rPr>
              <a:t>Regularization </a:t>
            </a:r>
            <a:r>
              <a:rPr sz="1800" b="1" dirty="0">
                <a:solidFill>
                  <a:srgbClr val="1CC8C8"/>
                </a:solidFill>
                <a:latin typeface="Arial"/>
                <a:cs typeface="Arial"/>
              </a:rPr>
              <a:t>Prevents </a:t>
            </a:r>
            <a:r>
              <a:rPr sz="1800" b="1" spc="-10" dirty="0">
                <a:solidFill>
                  <a:srgbClr val="1CC8C8"/>
                </a:solidFill>
                <a:latin typeface="Arial"/>
                <a:cs typeface="Arial"/>
              </a:rPr>
              <a:t>Overfitting</a:t>
            </a:r>
            <a:endParaRPr sz="18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115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GridSearchCV identified alpha=10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as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optimal, balancing model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complexity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with generalization.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This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prevented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overfitting on training data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while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maintaining strong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validation performance.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254500" y="4833620"/>
            <a:ext cx="2477135" cy="21532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1100"/>
              </a:lnSpc>
              <a:spcBef>
                <a:spcPts val="100"/>
              </a:spcBef>
            </a:pPr>
            <a:r>
              <a:rPr sz="1800" b="1" dirty="0">
                <a:solidFill>
                  <a:srgbClr val="164E9C"/>
                </a:solidFill>
                <a:latin typeface="Arial"/>
                <a:cs typeface="Arial"/>
              </a:rPr>
              <a:t>5. Model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Explainability </a:t>
            </a:r>
            <a:r>
              <a:rPr sz="1800" b="1" dirty="0">
                <a:solidFill>
                  <a:srgbClr val="164E9C"/>
                </a:solidFill>
                <a:latin typeface="Arial"/>
                <a:cs typeface="Arial"/>
              </a:rPr>
              <a:t>Builds </a:t>
            </a:r>
            <a:r>
              <a:rPr sz="1800" b="1" spc="-10" dirty="0">
                <a:solidFill>
                  <a:srgbClr val="164E9C"/>
                </a:solidFill>
                <a:latin typeface="Arial"/>
                <a:cs typeface="Arial"/>
              </a:rPr>
              <a:t>Trust</a:t>
            </a:r>
            <a:endParaRPr sz="1800">
              <a:latin typeface="Arial"/>
              <a:cs typeface="Arial"/>
            </a:endParaRPr>
          </a:p>
          <a:p>
            <a:pPr marL="12700" marR="102235">
              <a:lnSpc>
                <a:spcPct val="125000"/>
              </a:lnSpc>
              <a:spcBef>
                <a:spcPts val="115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SHAP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analysis confirmed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model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predictions align with real-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estate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intuition, making the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model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trustworthy for stakeholders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and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demonstrating that quality and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size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drive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prices.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254500" y="7576819"/>
            <a:ext cx="2533015" cy="2229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937260" algn="just">
              <a:lnSpc>
                <a:spcPct val="111100"/>
              </a:lnSpc>
              <a:spcBef>
                <a:spcPts val="100"/>
              </a:spcBef>
            </a:pPr>
            <a:r>
              <a:rPr sz="1800" b="1" dirty="0">
                <a:solidFill>
                  <a:srgbClr val="1C242F"/>
                </a:solidFill>
                <a:latin typeface="Arial"/>
                <a:cs typeface="Arial"/>
              </a:rPr>
              <a:t>6. </a:t>
            </a:r>
            <a:r>
              <a:rPr sz="1800" b="1" spc="-10" dirty="0">
                <a:solidFill>
                  <a:srgbClr val="1C242F"/>
                </a:solidFill>
                <a:latin typeface="Arial"/>
                <a:cs typeface="Arial"/>
              </a:rPr>
              <a:t>Deployment </a:t>
            </a:r>
            <a:r>
              <a:rPr sz="1800" b="1" dirty="0">
                <a:solidFill>
                  <a:srgbClr val="1C242F"/>
                </a:solidFill>
                <a:latin typeface="Arial"/>
                <a:cs typeface="Arial"/>
              </a:rPr>
              <a:t>Completes </a:t>
            </a:r>
            <a:r>
              <a:rPr sz="1800" b="1" spc="-25" dirty="0">
                <a:solidFill>
                  <a:srgbClr val="1C242F"/>
                </a:solidFill>
                <a:latin typeface="Arial"/>
                <a:cs typeface="Arial"/>
              </a:rPr>
              <a:t>the </a:t>
            </a:r>
            <a:r>
              <a:rPr sz="1800" b="1" spc="-10" dirty="0">
                <a:solidFill>
                  <a:srgbClr val="1C242F"/>
                </a:solidFill>
                <a:latin typeface="Arial"/>
                <a:cs typeface="Arial"/>
              </a:rPr>
              <a:t>Pipeline</a:t>
            </a:r>
            <a:endParaRPr sz="18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1155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Streamlit deployment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transformed</a:t>
            </a:r>
            <a:r>
              <a:rPr sz="1200" spc="50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the model from an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experimental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notebook into a practical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tool,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demonstrating real-world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applicability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and user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accessibility.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49299" y="2301875"/>
            <a:ext cx="3627120" cy="4368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Future</a:t>
            </a:r>
            <a:r>
              <a:rPr spc="-95" dirty="0"/>
              <a:t> </a:t>
            </a:r>
            <a:r>
              <a:rPr spc="-10" dirty="0"/>
              <a:t>Enhancements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761999" y="3038455"/>
            <a:ext cx="2971800" cy="1753235"/>
            <a:chOff x="761999" y="3038455"/>
            <a:chExt cx="2971800" cy="1753235"/>
          </a:xfrm>
        </p:grpSpPr>
        <p:sp>
          <p:nvSpPr>
            <p:cNvPr id="4" name="object 4"/>
            <p:cNvSpPr/>
            <p:nvPr/>
          </p:nvSpPr>
          <p:spPr>
            <a:xfrm>
              <a:off x="781049" y="3038467"/>
              <a:ext cx="2952750" cy="1752600"/>
            </a:xfrm>
            <a:custGeom>
              <a:avLst/>
              <a:gdLst/>
              <a:ahLst/>
              <a:cxnLst/>
              <a:rect l="l" t="t" r="r" b="b"/>
              <a:pathLst>
                <a:path w="2952750" h="1752600">
                  <a:moveTo>
                    <a:pt x="2845954" y="1752599"/>
                  </a:moveTo>
                  <a:lnTo>
                    <a:pt x="88995" y="1752599"/>
                  </a:lnTo>
                  <a:lnTo>
                    <a:pt x="82801" y="1751856"/>
                  </a:lnTo>
                  <a:lnTo>
                    <a:pt x="37131" y="1729158"/>
                  </a:lnTo>
                  <a:lnTo>
                    <a:pt x="12577" y="1695545"/>
                  </a:lnTo>
                  <a:lnTo>
                    <a:pt x="610" y="1653235"/>
                  </a:lnTo>
                  <a:lnTo>
                    <a:pt x="0" y="1645796"/>
                  </a:lnTo>
                  <a:lnTo>
                    <a:pt x="0" y="1638299"/>
                  </a:lnTo>
                  <a:lnTo>
                    <a:pt x="0" y="106784"/>
                  </a:lnTo>
                  <a:lnTo>
                    <a:pt x="9643" y="63588"/>
                  </a:lnTo>
                  <a:lnTo>
                    <a:pt x="32320" y="28146"/>
                  </a:lnTo>
                  <a:lnTo>
                    <a:pt x="64577" y="5800"/>
                  </a:lnTo>
                  <a:lnTo>
                    <a:pt x="88995" y="0"/>
                  </a:lnTo>
                  <a:lnTo>
                    <a:pt x="2845954" y="0"/>
                  </a:lnTo>
                  <a:lnTo>
                    <a:pt x="2889123" y="11553"/>
                  </a:lnTo>
                  <a:lnTo>
                    <a:pt x="2924578" y="38747"/>
                  </a:lnTo>
                  <a:lnTo>
                    <a:pt x="2946921" y="77466"/>
                  </a:lnTo>
                  <a:lnTo>
                    <a:pt x="2952749" y="106784"/>
                  </a:lnTo>
                  <a:lnTo>
                    <a:pt x="2952749" y="1645796"/>
                  </a:lnTo>
                  <a:lnTo>
                    <a:pt x="2941176" y="1688953"/>
                  </a:lnTo>
                  <a:lnTo>
                    <a:pt x="2913964" y="1724415"/>
                  </a:lnTo>
                  <a:lnTo>
                    <a:pt x="2875256" y="1746780"/>
                  </a:lnTo>
                  <a:lnTo>
                    <a:pt x="2853387" y="1751856"/>
                  </a:lnTo>
                  <a:lnTo>
                    <a:pt x="2845954" y="175259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761999" y="3038455"/>
              <a:ext cx="114300" cy="1752600"/>
            </a:xfrm>
            <a:custGeom>
              <a:avLst/>
              <a:gdLst/>
              <a:ahLst/>
              <a:cxnLst/>
              <a:rect l="l" t="t" r="r" b="b"/>
              <a:pathLst>
                <a:path w="114300" h="1752600">
                  <a:moveTo>
                    <a:pt x="114300" y="1752599"/>
                  </a:moveTo>
                  <a:lnTo>
                    <a:pt x="70559" y="1743906"/>
                  </a:lnTo>
                  <a:lnTo>
                    <a:pt x="33477" y="1719129"/>
                  </a:lnTo>
                  <a:lnTo>
                    <a:pt x="8700" y="1682047"/>
                  </a:lnTo>
                  <a:lnTo>
                    <a:pt x="0" y="1638307"/>
                  </a:lnTo>
                  <a:lnTo>
                    <a:pt x="0" y="114307"/>
                  </a:lnTo>
                  <a:lnTo>
                    <a:pt x="8700" y="70566"/>
                  </a:lnTo>
                  <a:lnTo>
                    <a:pt x="33477" y="33484"/>
                  </a:lnTo>
                  <a:lnTo>
                    <a:pt x="70559" y="8707"/>
                  </a:lnTo>
                  <a:lnTo>
                    <a:pt x="114300" y="0"/>
                  </a:lnTo>
                  <a:lnTo>
                    <a:pt x="106793" y="551"/>
                  </a:lnTo>
                  <a:lnTo>
                    <a:pt x="99431" y="2182"/>
                  </a:lnTo>
                  <a:lnTo>
                    <a:pt x="65982" y="25907"/>
                  </a:lnTo>
                  <a:lnTo>
                    <a:pt x="47107" y="60372"/>
                  </a:lnTo>
                  <a:lnTo>
                    <a:pt x="38462" y="103047"/>
                  </a:lnTo>
                  <a:lnTo>
                    <a:pt x="38100" y="114307"/>
                  </a:lnTo>
                  <a:lnTo>
                    <a:pt x="38100" y="1638307"/>
                  </a:lnTo>
                  <a:lnTo>
                    <a:pt x="43900" y="1682047"/>
                  </a:lnTo>
                  <a:lnTo>
                    <a:pt x="60418" y="1719129"/>
                  </a:lnTo>
                  <a:lnTo>
                    <a:pt x="92213" y="1747712"/>
                  </a:lnTo>
                  <a:lnTo>
                    <a:pt x="106793" y="1752063"/>
                  </a:lnTo>
                  <a:lnTo>
                    <a:pt x="114300" y="1752599"/>
                  </a:lnTo>
                  <a:close/>
                </a:path>
              </a:pathLst>
            </a:custGeom>
            <a:solidFill>
              <a:srgbClr val="164E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016000" y="3225800"/>
            <a:ext cx="2338705" cy="13131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856615">
              <a:lnSpc>
                <a:spcPct val="1167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Hyperparameter Refinement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Explore wider alpha range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or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adaptive regularization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techniques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to further reduce prediction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error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761999" y="4943455"/>
            <a:ext cx="2971800" cy="1486535"/>
            <a:chOff x="761999" y="4943455"/>
            <a:chExt cx="2971800" cy="1486535"/>
          </a:xfrm>
        </p:grpSpPr>
        <p:sp>
          <p:nvSpPr>
            <p:cNvPr id="8" name="object 8"/>
            <p:cNvSpPr/>
            <p:nvPr/>
          </p:nvSpPr>
          <p:spPr>
            <a:xfrm>
              <a:off x="781049" y="4943467"/>
              <a:ext cx="2952750" cy="1485900"/>
            </a:xfrm>
            <a:custGeom>
              <a:avLst/>
              <a:gdLst/>
              <a:ahLst/>
              <a:cxnLst/>
              <a:rect l="l" t="t" r="r" b="b"/>
              <a:pathLst>
                <a:path w="2952750" h="1485900">
                  <a:moveTo>
                    <a:pt x="2845954" y="1485899"/>
                  </a:moveTo>
                  <a:lnTo>
                    <a:pt x="88995" y="1485899"/>
                  </a:lnTo>
                  <a:lnTo>
                    <a:pt x="82801" y="1485156"/>
                  </a:lnTo>
                  <a:lnTo>
                    <a:pt x="37131" y="1462439"/>
                  </a:lnTo>
                  <a:lnTo>
                    <a:pt x="12577" y="1428845"/>
                  </a:lnTo>
                  <a:lnTo>
                    <a:pt x="610" y="1386535"/>
                  </a:lnTo>
                  <a:lnTo>
                    <a:pt x="0" y="1379096"/>
                  </a:lnTo>
                  <a:lnTo>
                    <a:pt x="0" y="1371599"/>
                  </a:lnTo>
                  <a:lnTo>
                    <a:pt x="0" y="106784"/>
                  </a:lnTo>
                  <a:lnTo>
                    <a:pt x="9643" y="63607"/>
                  </a:lnTo>
                  <a:lnTo>
                    <a:pt x="32320" y="28165"/>
                  </a:lnTo>
                  <a:lnTo>
                    <a:pt x="64577" y="5800"/>
                  </a:lnTo>
                  <a:lnTo>
                    <a:pt x="88995" y="0"/>
                  </a:lnTo>
                  <a:lnTo>
                    <a:pt x="2845954" y="0"/>
                  </a:lnTo>
                  <a:lnTo>
                    <a:pt x="2889123" y="11572"/>
                  </a:lnTo>
                  <a:lnTo>
                    <a:pt x="2924578" y="38766"/>
                  </a:lnTo>
                  <a:lnTo>
                    <a:pt x="2946921" y="77485"/>
                  </a:lnTo>
                  <a:lnTo>
                    <a:pt x="2952749" y="106784"/>
                  </a:lnTo>
                  <a:lnTo>
                    <a:pt x="2952749" y="1379096"/>
                  </a:lnTo>
                  <a:lnTo>
                    <a:pt x="2941176" y="1422253"/>
                  </a:lnTo>
                  <a:lnTo>
                    <a:pt x="2913964" y="1457696"/>
                  </a:lnTo>
                  <a:lnTo>
                    <a:pt x="2875256" y="1480042"/>
                  </a:lnTo>
                  <a:lnTo>
                    <a:pt x="2853387" y="1485156"/>
                  </a:lnTo>
                  <a:lnTo>
                    <a:pt x="2845954" y="148589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761999" y="4943455"/>
              <a:ext cx="114300" cy="1485900"/>
            </a:xfrm>
            <a:custGeom>
              <a:avLst/>
              <a:gdLst/>
              <a:ahLst/>
              <a:cxnLst/>
              <a:rect l="l" t="t" r="r" b="b"/>
              <a:pathLst>
                <a:path w="114300" h="1485900">
                  <a:moveTo>
                    <a:pt x="114300" y="1485899"/>
                  </a:moveTo>
                  <a:lnTo>
                    <a:pt x="70559" y="1477206"/>
                  </a:lnTo>
                  <a:lnTo>
                    <a:pt x="33477" y="1452429"/>
                  </a:lnTo>
                  <a:lnTo>
                    <a:pt x="8700" y="1415347"/>
                  </a:lnTo>
                  <a:lnTo>
                    <a:pt x="0" y="1371607"/>
                  </a:lnTo>
                  <a:lnTo>
                    <a:pt x="0" y="114307"/>
                  </a:lnTo>
                  <a:lnTo>
                    <a:pt x="8700" y="70566"/>
                  </a:lnTo>
                  <a:lnTo>
                    <a:pt x="33477" y="33484"/>
                  </a:lnTo>
                  <a:lnTo>
                    <a:pt x="70559" y="8707"/>
                  </a:lnTo>
                  <a:lnTo>
                    <a:pt x="114300" y="0"/>
                  </a:lnTo>
                  <a:lnTo>
                    <a:pt x="106793" y="551"/>
                  </a:lnTo>
                  <a:lnTo>
                    <a:pt x="99431" y="2182"/>
                  </a:lnTo>
                  <a:lnTo>
                    <a:pt x="65982" y="25907"/>
                  </a:lnTo>
                  <a:lnTo>
                    <a:pt x="47107" y="60372"/>
                  </a:lnTo>
                  <a:lnTo>
                    <a:pt x="38462" y="103047"/>
                  </a:lnTo>
                  <a:lnTo>
                    <a:pt x="38100" y="114307"/>
                  </a:lnTo>
                  <a:lnTo>
                    <a:pt x="38100" y="1371607"/>
                  </a:lnTo>
                  <a:lnTo>
                    <a:pt x="43900" y="1415347"/>
                  </a:lnTo>
                  <a:lnTo>
                    <a:pt x="60418" y="1452429"/>
                  </a:lnTo>
                  <a:lnTo>
                    <a:pt x="92213" y="1481013"/>
                  </a:lnTo>
                  <a:lnTo>
                    <a:pt x="106793" y="1485363"/>
                  </a:lnTo>
                  <a:lnTo>
                    <a:pt x="114300" y="1485899"/>
                  </a:lnTo>
                  <a:close/>
                </a:path>
              </a:pathLst>
            </a:custGeom>
            <a:solidFill>
              <a:srgbClr val="1CC8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1016000" y="5168900"/>
            <a:ext cx="2397760" cy="1008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Deeper</a:t>
            </a:r>
            <a:r>
              <a:rPr sz="1500" b="1" spc="-50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Error</a:t>
            </a:r>
            <a:r>
              <a:rPr sz="1500" b="1" spc="-100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Analysis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Use advanced SHAP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analysis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to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identify features causing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consistent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under/over-estimation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patterns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761999" y="6581754"/>
            <a:ext cx="2971800" cy="1485900"/>
            <a:chOff x="761999" y="6581754"/>
            <a:chExt cx="2971800" cy="1485900"/>
          </a:xfrm>
        </p:grpSpPr>
        <p:sp>
          <p:nvSpPr>
            <p:cNvPr id="12" name="object 12"/>
            <p:cNvSpPr/>
            <p:nvPr/>
          </p:nvSpPr>
          <p:spPr>
            <a:xfrm>
              <a:off x="781049" y="6581767"/>
              <a:ext cx="2952750" cy="1485900"/>
            </a:xfrm>
            <a:custGeom>
              <a:avLst/>
              <a:gdLst/>
              <a:ahLst/>
              <a:cxnLst/>
              <a:rect l="l" t="t" r="r" b="b"/>
              <a:pathLst>
                <a:path w="2952750" h="1485900">
                  <a:moveTo>
                    <a:pt x="2845954" y="1485880"/>
                  </a:moveTo>
                  <a:lnTo>
                    <a:pt x="88995" y="1485880"/>
                  </a:lnTo>
                  <a:lnTo>
                    <a:pt x="82801" y="1485156"/>
                  </a:lnTo>
                  <a:lnTo>
                    <a:pt x="37131" y="1462439"/>
                  </a:lnTo>
                  <a:lnTo>
                    <a:pt x="12577" y="1428826"/>
                  </a:lnTo>
                  <a:lnTo>
                    <a:pt x="610" y="1386535"/>
                  </a:lnTo>
                  <a:lnTo>
                    <a:pt x="0" y="1379096"/>
                  </a:lnTo>
                  <a:lnTo>
                    <a:pt x="0" y="1371599"/>
                  </a:lnTo>
                  <a:lnTo>
                    <a:pt x="0" y="106784"/>
                  </a:lnTo>
                  <a:lnTo>
                    <a:pt x="9643" y="63607"/>
                  </a:lnTo>
                  <a:lnTo>
                    <a:pt x="32320" y="28165"/>
                  </a:lnTo>
                  <a:lnTo>
                    <a:pt x="64577" y="5800"/>
                  </a:lnTo>
                  <a:lnTo>
                    <a:pt x="88995" y="0"/>
                  </a:lnTo>
                  <a:lnTo>
                    <a:pt x="2845954" y="0"/>
                  </a:lnTo>
                  <a:lnTo>
                    <a:pt x="2889123" y="11572"/>
                  </a:lnTo>
                  <a:lnTo>
                    <a:pt x="2924578" y="38766"/>
                  </a:lnTo>
                  <a:lnTo>
                    <a:pt x="2946921" y="77485"/>
                  </a:lnTo>
                  <a:lnTo>
                    <a:pt x="2952749" y="106784"/>
                  </a:lnTo>
                  <a:lnTo>
                    <a:pt x="2952749" y="1379096"/>
                  </a:lnTo>
                  <a:lnTo>
                    <a:pt x="2941176" y="1422234"/>
                  </a:lnTo>
                  <a:lnTo>
                    <a:pt x="2913964" y="1457696"/>
                  </a:lnTo>
                  <a:lnTo>
                    <a:pt x="2875256" y="1480042"/>
                  </a:lnTo>
                  <a:lnTo>
                    <a:pt x="2853387" y="1485156"/>
                  </a:lnTo>
                  <a:lnTo>
                    <a:pt x="2845954" y="1485880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761999" y="6581754"/>
              <a:ext cx="114300" cy="1485900"/>
            </a:xfrm>
            <a:custGeom>
              <a:avLst/>
              <a:gdLst/>
              <a:ahLst/>
              <a:cxnLst/>
              <a:rect l="l" t="t" r="r" b="b"/>
              <a:pathLst>
                <a:path w="114300" h="1485900">
                  <a:moveTo>
                    <a:pt x="114300" y="1485899"/>
                  </a:moveTo>
                  <a:lnTo>
                    <a:pt x="70559" y="1477206"/>
                  </a:lnTo>
                  <a:lnTo>
                    <a:pt x="33477" y="1452429"/>
                  </a:lnTo>
                  <a:lnTo>
                    <a:pt x="8700" y="1415347"/>
                  </a:lnTo>
                  <a:lnTo>
                    <a:pt x="0" y="1371607"/>
                  </a:lnTo>
                  <a:lnTo>
                    <a:pt x="0" y="114307"/>
                  </a:lnTo>
                  <a:lnTo>
                    <a:pt x="8700" y="70566"/>
                  </a:lnTo>
                  <a:lnTo>
                    <a:pt x="33477" y="33485"/>
                  </a:lnTo>
                  <a:lnTo>
                    <a:pt x="70559" y="8707"/>
                  </a:lnTo>
                  <a:lnTo>
                    <a:pt x="114300" y="0"/>
                  </a:lnTo>
                  <a:lnTo>
                    <a:pt x="106793" y="551"/>
                  </a:lnTo>
                  <a:lnTo>
                    <a:pt x="99431" y="2182"/>
                  </a:lnTo>
                  <a:lnTo>
                    <a:pt x="65982" y="25907"/>
                  </a:lnTo>
                  <a:lnTo>
                    <a:pt x="47107" y="60372"/>
                  </a:lnTo>
                  <a:lnTo>
                    <a:pt x="38462" y="103047"/>
                  </a:lnTo>
                  <a:lnTo>
                    <a:pt x="38100" y="114307"/>
                  </a:lnTo>
                  <a:lnTo>
                    <a:pt x="38100" y="1371607"/>
                  </a:lnTo>
                  <a:lnTo>
                    <a:pt x="43900" y="1415347"/>
                  </a:lnTo>
                  <a:lnTo>
                    <a:pt x="60418" y="1452429"/>
                  </a:lnTo>
                  <a:lnTo>
                    <a:pt x="92213" y="1481013"/>
                  </a:lnTo>
                  <a:lnTo>
                    <a:pt x="106793" y="1485363"/>
                  </a:lnTo>
                  <a:lnTo>
                    <a:pt x="114300" y="1485899"/>
                  </a:lnTo>
                  <a:close/>
                </a:path>
              </a:pathLst>
            </a:custGeom>
            <a:solidFill>
              <a:srgbClr val="164E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1016000" y="6807200"/>
            <a:ext cx="2343785" cy="1008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Alternative</a:t>
            </a:r>
            <a:r>
              <a:rPr sz="1500" b="1" spc="-40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Linear</a:t>
            </a:r>
            <a:r>
              <a:rPr sz="1500" b="1" spc="-40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64E9C"/>
                </a:solidFill>
                <a:latin typeface="Arial"/>
                <a:cs typeface="Arial"/>
              </a:rPr>
              <a:t>Models</a:t>
            </a:r>
            <a:endParaRPr sz="1500">
              <a:latin typeface="Arial"/>
              <a:cs typeface="Arial"/>
            </a:endParaRPr>
          </a:p>
          <a:p>
            <a:pPr marL="12700" marR="154305">
              <a:lnSpc>
                <a:spcPct val="125000"/>
              </a:lnSpc>
              <a:spcBef>
                <a:spcPts val="540"/>
              </a:spcBef>
            </a:pP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Test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ElasticNet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with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tuned</a:t>
            </a:r>
            <a:r>
              <a:rPr sz="1200" spc="-15" dirty="0">
                <a:solidFill>
                  <a:srgbClr val="1C242F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L1/L2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balance to determine if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sparsity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improves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generalization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4038599" y="3038455"/>
            <a:ext cx="2971800" cy="1715135"/>
            <a:chOff x="4038599" y="3038455"/>
            <a:chExt cx="2971800" cy="1715135"/>
          </a:xfrm>
        </p:grpSpPr>
        <p:sp>
          <p:nvSpPr>
            <p:cNvPr id="16" name="object 16"/>
            <p:cNvSpPr/>
            <p:nvPr/>
          </p:nvSpPr>
          <p:spPr>
            <a:xfrm>
              <a:off x="4057649" y="3038467"/>
              <a:ext cx="2952750" cy="1714500"/>
            </a:xfrm>
            <a:custGeom>
              <a:avLst/>
              <a:gdLst/>
              <a:ahLst/>
              <a:cxnLst/>
              <a:rect l="l" t="t" r="r" b="b"/>
              <a:pathLst>
                <a:path w="2952750" h="1714500">
                  <a:moveTo>
                    <a:pt x="2845954" y="1714499"/>
                  </a:moveTo>
                  <a:lnTo>
                    <a:pt x="88995" y="1714499"/>
                  </a:lnTo>
                  <a:lnTo>
                    <a:pt x="82801" y="1713756"/>
                  </a:lnTo>
                  <a:lnTo>
                    <a:pt x="37132" y="1691039"/>
                  </a:lnTo>
                  <a:lnTo>
                    <a:pt x="12577" y="1657445"/>
                  </a:lnTo>
                  <a:lnTo>
                    <a:pt x="610" y="1615135"/>
                  </a:lnTo>
                  <a:lnTo>
                    <a:pt x="0" y="1607696"/>
                  </a:lnTo>
                  <a:lnTo>
                    <a:pt x="0" y="1600199"/>
                  </a:lnTo>
                  <a:lnTo>
                    <a:pt x="0" y="106784"/>
                  </a:lnTo>
                  <a:lnTo>
                    <a:pt x="9643" y="63588"/>
                  </a:lnTo>
                  <a:lnTo>
                    <a:pt x="32320" y="28146"/>
                  </a:lnTo>
                  <a:lnTo>
                    <a:pt x="64577" y="5800"/>
                  </a:lnTo>
                  <a:lnTo>
                    <a:pt x="88995" y="0"/>
                  </a:lnTo>
                  <a:lnTo>
                    <a:pt x="2845954" y="0"/>
                  </a:lnTo>
                  <a:lnTo>
                    <a:pt x="2889124" y="11553"/>
                  </a:lnTo>
                  <a:lnTo>
                    <a:pt x="2924579" y="38747"/>
                  </a:lnTo>
                  <a:lnTo>
                    <a:pt x="2946920" y="77466"/>
                  </a:lnTo>
                  <a:lnTo>
                    <a:pt x="2952750" y="106784"/>
                  </a:lnTo>
                  <a:lnTo>
                    <a:pt x="2952750" y="1607696"/>
                  </a:lnTo>
                  <a:lnTo>
                    <a:pt x="2941176" y="1650853"/>
                  </a:lnTo>
                  <a:lnTo>
                    <a:pt x="2913965" y="1686315"/>
                  </a:lnTo>
                  <a:lnTo>
                    <a:pt x="2875256" y="1708680"/>
                  </a:lnTo>
                  <a:lnTo>
                    <a:pt x="2853387" y="1713756"/>
                  </a:lnTo>
                  <a:lnTo>
                    <a:pt x="2845954" y="171449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038599" y="3038455"/>
              <a:ext cx="114300" cy="1714500"/>
            </a:xfrm>
            <a:custGeom>
              <a:avLst/>
              <a:gdLst/>
              <a:ahLst/>
              <a:cxnLst/>
              <a:rect l="l" t="t" r="r" b="b"/>
              <a:pathLst>
                <a:path w="114300" h="1714500">
                  <a:moveTo>
                    <a:pt x="114300" y="1714499"/>
                  </a:moveTo>
                  <a:lnTo>
                    <a:pt x="70559" y="1705806"/>
                  </a:lnTo>
                  <a:lnTo>
                    <a:pt x="33477" y="1681029"/>
                  </a:lnTo>
                  <a:lnTo>
                    <a:pt x="8700" y="1643947"/>
                  </a:lnTo>
                  <a:lnTo>
                    <a:pt x="0" y="1600207"/>
                  </a:lnTo>
                  <a:lnTo>
                    <a:pt x="0" y="114307"/>
                  </a:lnTo>
                  <a:lnTo>
                    <a:pt x="8700" y="70566"/>
                  </a:lnTo>
                  <a:lnTo>
                    <a:pt x="33477" y="33484"/>
                  </a:lnTo>
                  <a:lnTo>
                    <a:pt x="70559" y="8707"/>
                  </a:lnTo>
                  <a:lnTo>
                    <a:pt x="114300" y="0"/>
                  </a:lnTo>
                  <a:lnTo>
                    <a:pt x="106793" y="551"/>
                  </a:lnTo>
                  <a:lnTo>
                    <a:pt x="99431" y="2182"/>
                  </a:lnTo>
                  <a:lnTo>
                    <a:pt x="65982" y="25907"/>
                  </a:lnTo>
                  <a:lnTo>
                    <a:pt x="47108" y="60372"/>
                  </a:lnTo>
                  <a:lnTo>
                    <a:pt x="38462" y="103047"/>
                  </a:lnTo>
                  <a:lnTo>
                    <a:pt x="38100" y="114307"/>
                  </a:lnTo>
                  <a:lnTo>
                    <a:pt x="38100" y="1600207"/>
                  </a:lnTo>
                  <a:lnTo>
                    <a:pt x="43900" y="1643947"/>
                  </a:lnTo>
                  <a:lnTo>
                    <a:pt x="60418" y="1681029"/>
                  </a:lnTo>
                  <a:lnTo>
                    <a:pt x="92213" y="1709612"/>
                  </a:lnTo>
                  <a:lnTo>
                    <a:pt x="106793" y="1713963"/>
                  </a:lnTo>
                  <a:lnTo>
                    <a:pt x="114300" y="1714499"/>
                  </a:lnTo>
                  <a:close/>
                </a:path>
              </a:pathLst>
            </a:custGeom>
            <a:solidFill>
              <a:srgbClr val="1CC8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292600" y="3263900"/>
            <a:ext cx="2474595" cy="1236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External</a:t>
            </a:r>
            <a:r>
              <a:rPr sz="1500" b="1" spc="-50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Data</a:t>
            </a:r>
            <a:r>
              <a:rPr sz="1500" b="1" spc="-45" dirty="0">
                <a:solidFill>
                  <a:srgbClr val="1CC8C8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Integration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Incorporate neighborhood-level </a:t>
            </a:r>
            <a:r>
              <a:rPr sz="1200" spc="-20" dirty="0">
                <a:solidFill>
                  <a:srgbClr val="1C242F"/>
                </a:solidFill>
                <a:latin typeface="Arial MT"/>
                <a:cs typeface="Arial MT"/>
              </a:rPr>
              <a:t>data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(crime rates, school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scores,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accessibility) to strengthen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price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prediction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signals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4038599" y="4905355"/>
            <a:ext cx="2971800" cy="1715135"/>
            <a:chOff x="4038599" y="4905355"/>
            <a:chExt cx="2971800" cy="1715135"/>
          </a:xfrm>
        </p:grpSpPr>
        <p:sp>
          <p:nvSpPr>
            <p:cNvPr id="20" name="object 20"/>
            <p:cNvSpPr/>
            <p:nvPr/>
          </p:nvSpPr>
          <p:spPr>
            <a:xfrm>
              <a:off x="4057649" y="4905367"/>
              <a:ext cx="2952750" cy="1714500"/>
            </a:xfrm>
            <a:custGeom>
              <a:avLst/>
              <a:gdLst/>
              <a:ahLst/>
              <a:cxnLst/>
              <a:rect l="l" t="t" r="r" b="b"/>
              <a:pathLst>
                <a:path w="2952750" h="1714500">
                  <a:moveTo>
                    <a:pt x="2845954" y="1714499"/>
                  </a:moveTo>
                  <a:lnTo>
                    <a:pt x="88995" y="1714499"/>
                  </a:lnTo>
                  <a:lnTo>
                    <a:pt x="82801" y="1713756"/>
                  </a:lnTo>
                  <a:lnTo>
                    <a:pt x="37132" y="1691039"/>
                  </a:lnTo>
                  <a:lnTo>
                    <a:pt x="12577" y="1657445"/>
                  </a:lnTo>
                  <a:lnTo>
                    <a:pt x="610" y="1615135"/>
                  </a:lnTo>
                  <a:lnTo>
                    <a:pt x="0" y="1607696"/>
                  </a:lnTo>
                  <a:lnTo>
                    <a:pt x="0" y="1600199"/>
                  </a:lnTo>
                  <a:lnTo>
                    <a:pt x="0" y="106784"/>
                  </a:lnTo>
                  <a:lnTo>
                    <a:pt x="9643" y="63607"/>
                  </a:lnTo>
                  <a:lnTo>
                    <a:pt x="32320" y="28165"/>
                  </a:lnTo>
                  <a:lnTo>
                    <a:pt x="64577" y="5800"/>
                  </a:lnTo>
                  <a:lnTo>
                    <a:pt x="88995" y="0"/>
                  </a:lnTo>
                  <a:lnTo>
                    <a:pt x="2845954" y="0"/>
                  </a:lnTo>
                  <a:lnTo>
                    <a:pt x="2889124" y="11572"/>
                  </a:lnTo>
                  <a:lnTo>
                    <a:pt x="2924579" y="38766"/>
                  </a:lnTo>
                  <a:lnTo>
                    <a:pt x="2946920" y="77485"/>
                  </a:lnTo>
                  <a:lnTo>
                    <a:pt x="2952750" y="106784"/>
                  </a:lnTo>
                  <a:lnTo>
                    <a:pt x="2952750" y="1607696"/>
                  </a:lnTo>
                  <a:lnTo>
                    <a:pt x="2941176" y="1650853"/>
                  </a:lnTo>
                  <a:lnTo>
                    <a:pt x="2913965" y="1686315"/>
                  </a:lnTo>
                  <a:lnTo>
                    <a:pt x="2875256" y="1708641"/>
                  </a:lnTo>
                  <a:lnTo>
                    <a:pt x="2853387" y="1713756"/>
                  </a:lnTo>
                  <a:lnTo>
                    <a:pt x="2845954" y="171449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4038599" y="4905355"/>
              <a:ext cx="114300" cy="1714500"/>
            </a:xfrm>
            <a:custGeom>
              <a:avLst/>
              <a:gdLst/>
              <a:ahLst/>
              <a:cxnLst/>
              <a:rect l="l" t="t" r="r" b="b"/>
              <a:pathLst>
                <a:path w="114300" h="1714500">
                  <a:moveTo>
                    <a:pt x="114300" y="1714499"/>
                  </a:moveTo>
                  <a:lnTo>
                    <a:pt x="70559" y="1705806"/>
                  </a:lnTo>
                  <a:lnTo>
                    <a:pt x="33477" y="1681029"/>
                  </a:lnTo>
                  <a:lnTo>
                    <a:pt x="8700" y="1643947"/>
                  </a:lnTo>
                  <a:lnTo>
                    <a:pt x="0" y="1600207"/>
                  </a:lnTo>
                  <a:lnTo>
                    <a:pt x="0" y="114307"/>
                  </a:lnTo>
                  <a:lnTo>
                    <a:pt x="8700" y="70566"/>
                  </a:lnTo>
                  <a:lnTo>
                    <a:pt x="33477" y="33484"/>
                  </a:lnTo>
                  <a:lnTo>
                    <a:pt x="70559" y="8707"/>
                  </a:lnTo>
                  <a:lnTo>
                    <a:pt x="114300" y="0"/>
                  </a:lnTo>
                  <a:lnTo>
                    <a:pt x="106793" y="551"/>
                  </a:lnTo>
                  <a:lnTo>
                    <a:pt x="99431" y="2182"/>
                  </a:lnTo>
                  <a:lnTo>
                    <a:pt x="65982" y="25907"/>
                  </a:lnTo>
                  <a:lnTo>
                    <a:pt x="47108" y="60372"/>
                  </a:lnTo>
                  <a:lnTo>
                    <a:pt x="38462" y="103047"/>
                  </a:lnTo>
                  <a:lnTo>
                    <a:pt x="38100" y="114307"/>
                  </a:lnTo>
                  <a:lnTo>
                    <a:pt x="38100" y="1600207"/>
                  </a:lnTo>
                  <a:lnTo>
                    <a:pt x="43900" y="1643947"/>
                  </a:lnTo>
                  <a:lnTo>
                    <a:pt x="60418" y="1681029"/>
                  </a:lnTo>
                  <a:lnTo>
                    <a:pt x="92213" y="1709612"/>
                  </a:lnTo>
                  <a:lnTo>
                    <a:pt x="106793" y="1713963"/>
                  </a:lnTo>
                  <a:lnTo>
                    <a:pt x="114300" y="1714499"/>
                  </a:lnTo>
                  <a:close/>
                </a:path>
              </a:pathLst>
            </a:custGeom>
            <a:solidFill>
              <a:srgbClr val="164E9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4292600" y="5130800"/>
            <a:ext cx="2497455" cy="12369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Enhanced</a:t>
            </a:r>
            <a:r>
              <a:rPr sz="1500" b="1" spc="-60" dirty="0">
                <a:solidFill>
                  <a:srgbClr val="164E9C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164E9C"/>
                </a:solidFill>
                <a:latin typeface="Arial"/>
                <a:cs typeface="Arial"/>
              </a:rPr>
              <a:t>App </a:t>
            </a:r>
            <a:r>
              <a:rPr sz="1500" b="1" spc="-25" dirty="0">
                <a:solidFill>
                  <a:srgbClr val="164E9C"/>
                </a:solidFill>
                <a:latin typeface="Arial"/>
                <a:cs typeface="Arial"/>
              </a:rPr>
              <a:t>UX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Improve Streamlit app by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grouping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features intuitively and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adding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optional "advanced inputs" for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power users</a:t>
            </a:r>
            <a:endParaRPr sz="1200">
              <a:latin typeface="Arial MT"/>
              <a:cs typeface="Arial MT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4038599" y="6772254"/>
            <a:ext cx="2971800" cy="1486535"/>
            <a:chOff x="4038599" y="6772254"/>
            <a:chExt cx="2971800" cy="1486535"/>
          </a:xfrm>
        </p:grpSpPr>
        <p:sp>
          <p:nvSpPr>
            <p:cNvPr id="24" name="object 24"/>
            <p:cNvSpPr/>
            <p:nvPr/>
          </p:nvSpPr>
          <p:spPr>
            <a:xfrm>
              <a:off x="4057649" y="6772267"/>
              <a:ext cx="2952750" cy="1485900"/>
            </a:xfrm>
            <a:custGeom>
              <a:avLst/>
              <a:gdLst/>
              <a:ahLst/>
              <a:cxnLst/>
              <a:rect l="l" t="t" r="r" b="b"/>
              <a:pathLst>
                <a:path w="2952750" h="1485900">
                  <a:moveTo>
                    <a:pt x="2845954" y="1485899"/>
                  </a:moveTo>
                  <a:lnTo>
                    <a:pt x="88995" y="1485899"/>
                  </a:lnTo>
                  <a:lnTo>
                    <a:pt x="82801" y="1485156"/>
                  </a:lnTo>
                  <a:lnTo>
                    <a:pt x="37132" y="1462439"/>
                  </a:lnTo>
                  <a:lnTo>
                    <a:pt x="12577" y="1428845"/>
                  </a:lnTo>
                  <a:lnTo>
                    <a:pt x="610" y="1386516"/>
                  </a:lnTo>
                  <a:lnTo>
                    <a:pt x="0" y="1379096"/>
                  </a:lnTo>
                  <a:lnTo>
                    <a:pt x="0" y="1371599"/>
                  </a:lnTo>
                  <a:lnTo>
                    <a:pt x="0" y="106784"/>
                  </a:lnTo>
                  <a:lnTo>
                    <a:pt x="9643" y="63588"/>
                  </a:lnTo>
                  <a:lnTo>
                    <a:pt x="32320" y="28146"/>
                  </a:lnTo>
                  <a:lnTo>
                    <a:pt x="64577" y="5800"/>
                  </a:lnTo>
                  <a:lnTo>
                    <a:pt x="88995" y="0"/>
                  </a:lnTo>
                  <a:lnTo>
                    <a:pt x="2845954" y="0"/>
                  </a:lnTo>
                  <a:lnTo>
                    <a:pt x="2889124" y="11553"/>
                  </a:lnTo>
                  <a:lnTo>
                    <a:pt x="2924579" y="38766"/>
                  </a:lnTo>
                  <a:lnTo>
                    <a:pt x="2946920" y="77466"/>
                  </a:lnTo>
                  <a:lnTo>
                    <a:pt x="2952750" y="106784"/>
                  </a:lnTo>
                  <a:lnTo>
                    <a:pt x="2952750" y="1379096"/>
                  </a:lnTo>
                  <a:lnTo>
                    <a:pt x="2941176" y="1422253"/>
                  </a:lnTo>
                  <a:lnTo>
                    <a:pt x="2913965" y="1457715"/>
                  </a:lnTo>
                  <a:lnTo>
                    <a:pt x="2875256" y="1480042"/>
                  </a:lnTo>
                  <a:lnTo>
                    <a:pt x="2853387" y="1485156"/>
                  </a:lnTo>
                  <a:lnTo>
                    <a:pt x="2845954" y="1485899"/>
                  </a:lnTo>
                  <a:close/>
                </a:path>
              </a:pathLst>
            </a:custGeom>
            <a:solidFill>
              <a:srgbClr val="FFFFFF">
                <a:alpha val="79998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038599" y="6772254"/>
              <a:ext cx="114300" cy="1485900"/>
            </a:xfrm>
            <a:custGeom>
              <a:avLst/>
              <a:gdLst/>
              <a:ahLst/>
              <a:cxnLst/>
              <a:rect l="l" t="t" r="r" b="b"/>
              <a:pathLst>
                <a:path w="114300" h="1485900">
                  <a:moveTo>
                    <a:pt x="114300" y="1485899"/>
                  </a:moveTo>
                  <a:lnTo>
                    <a:pt x="70559" y="1477206"/>
                  </a:lnTo>
                  <a:lnTo>
                    <a:pt x="33477" y="1452429"/>
                  </a:lnTo>
                  <a:lnTo>
                    <a:pt x="8700" y="1415347"/>
                  </a:lnTo>
                  <a:lnTo>
                    <a:pt x="0" y="1371607"/>
                  </a:lnTo>
                  <a:lnTo>
                    <a:pt x="0" y="114307"/>
                  </a:lnTo>
                  <a:lnTo>
                    <a:pt x="8700" y="70566"/>
                  </a:lnTo>
                  <a:lnTo>
                    <a:pt x="33477" y="33485"/>
                  </a:lnTo>
                  <a:lnTo>
                    <a:pt x="70559" y="8707"/>
                  </a:lnTo>
                  <a:lnTo>
                    <a:pt x="114300" y="0"/>
                  </a:lnTo>
                  <a:lnTo>
                    <a:pt x="106793" y="551"/>
                  </a:lnTo>
                  <a:lnTo>
                    <a:pt x="99431" y="2182"/>
                  </a:lnTo>
                  <a:lnTo>
                    <a:pt x="65982" y="25907"/>
                  </a:lnTo>
                  <a:lnTo>
                    <a:pt x="47108" y="60372"/>
                  </a:lnTo>
                  <a:lnTo>
                    <a:pt x="38462" y="103047"/>
                  </a:lnTo>
                  <a:lnTo>
                    <a:pt x="38100" y="114307"/>
                  </a:lnTo>
                  <a:lnTo>
                    <a:pt x="38100" y="1371607"/>
                  </a:lnTo>
                  <a:lnTo>
                    <a:pt x="43900" y="1415347"/>
                  </a:lnTo>
                  <a:lnTo>
                    <a:pt x="60418" y="1452429"/>
                  </a:lnTo>
                  <a:lnTo>
                    <a:pt x="92213" y="1481013"/>
                  </a:lnTo>
                  <a:lnTo>
                    <a:pt x="106793" y="1485363"/>
                  </a:lnTo>
                  <a:lnTo>
                    <a:pt x="114300" y="1485899"/>
                  </a:lnTo>
                  <a:close/>
                </a:path>
              </a:pathLst>
            </a:custGeom>
            <a:solidFill>
              <a:srgbClr val="1CC8C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6" name="object 26"/>
          <p:cNvSpPr txBox="1"/>
          <p:nvPr/>
        </p:nvSpPr>
        <p:spPr>
          <a:xfrm>
            <a:off x="4292600" y="6997700"/>
            <a:ext cx="2371725" cy="10083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CC8C8"/>
                </a:solidFill>
                <a:latin typeface="Arial"/>
                <a:cs typeface="Arial"/>
              </a:rPr>
              <a:t>Model </a:t>
            </a:r>
            <a:r>
              <a:rPr sz="1500" b="1" spc="-10" dirty="0">
                <a:solidFill>
                  <a:srgbClr val="1CC8C8"/>
                </a:solidFill>
                <a:latin typeface="Arial"/>
                <a:cs typeface="Arial"/>
              </a:rPr>
              <a:t>Monitoring</a:t>
            </a:r>
            <a:endParaRPr sz="1500">
              <a:latin typeface="Arial"/>
              <a:cs typeface="Arial"/>
            </a:endParaRPr>
          </a:p>
          <a:p>
            <a:pPr marL="12700" marR="5080">
              <a:lnSpc>
                <a:spcPct val="125000"/>
              </a:lnSpc>
              <a:spcBef>
                <a:spcPts val="540"/>
              </a:spcBef>
            </a:pP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Implement performance tracking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in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production to detect data drift </a:t>
            </a:r>
            <a:r>
              <a:rPr sz="1200" spc="-25" dirty="0">
                <a:solidFill>
                  <a:srgbClr val="1C242F"/>
                </a:solidFill>
                <a:latin typeface="Arial MT"/>
                <a:cs typeface="Arial MT"/>
              </a:rPr>
              <a:t>and </a:t>
            </a:r>
            <a:r>
              <a:rPr sz="1200" dirty="0">
                <a:solidFill>
                  <a:srgbClr val="1C242F"/>
                </a:solidFill>
                <a:latin typeface="Arial MT"/>
                <a:cs typeface="Arial MT"/>
              </a:rPr>
              <a:t>schedule model </a:t>
            </a:r>
            <a:r>
              <a:rPr sz="1200" spc="-10" dirty="0">
                <a:solidFill>
                  <a:srgbClr val="1C242F"/>
                </a:solidFill>
                <a:latin typeface="Arial MT"/>
                <a:cs typeface="Arial MT"/>
              </a:rPr>
              <a:t>retraining</a:t>
            </a:r>
            <a:endParaRPr sz="12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7199" y="457188"/>
            <a:ext cx="6857999" cy="9696453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2439243" y="4587875"/>
            <a:ext cx="2894330" cy="71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500" dirty="0"/>
              <a:t>Thank</a:t>
            </a:r>
            <a:r>
              <a:rPr sz="4500" spc="-85" dirty="0"/>
              <a:t> </a:t>
            </a:r>
            <a:r>
              <a:rPr sz="4500" spc="-100" dirty="0"/>
              <a:t>You</a:t>
            </a:r>
            <a:endParaRPr sz="4500"/>
          </a:p>
        </p:txBody>
      </p:sp>
      <p:sp>
        <p:nvSpPr>
          <p:cNvPr id="4" name="object 4"/>
          <p:cNvSpPr txBox="1"/>
          <p:nvPr/>
        </p:nvSpPr>
        <p:spPr>
          <a:xfrm>
            <a:off x="3150641" y="5540374"/>
            <a:ext cx="1471295" cy="3683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250" spc="-10" dirty="0">
                <a:solidFill>
                  <a:srgbClr val="1C242F"/>
                </a:solidFill>
                <a:latin typeface="Arial MT"/>
                <a:cs typeface="Arial MT"/>
              </a:rPr>
              <a:t>Questions?</a:t>
            </a:r>
            <a:endParaRPr sz="225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1613</Words>
  <Application>Microsoft Office PowerPoint</Application>
  <PresentationFormat>Custom</PresentationFormat>
  <Paragraphs>273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MS PGothic</vt:lpstr>
      <vt:lpstr>Arial</vt:lpstr>
      <vt:lpstr>Arial MT</vt:lpstr>
      <vt:lpstr>Office Theme</vt:lpstr>
      <vt:lpstr>PowerPoint Presentation</vt:lpstr>
      <vt:lpstr>Problem Statement</vt:lpstr>
      <vt:lpstr>Dataset Overview</vt:lpstr>
      <vt:lpstr>Exploratory Data Analysis</vt:lpstr>
      <vt:lpstr>Missing Value Strategy</vt:lpstr>
      <vt:lpstr>Outlier Handling Strategy</vt:lpstr>
      <vt:lpstr>PowerPoint Presentation</vt:lpstr>
      <vt:lpstr>Bivariate Analysis: Features vs SalePrice</vt:lpstr>
      <vt:lpstr>Correlation Matrix &amp; Multicollinearity</vt:lpstr>
      <vt:lpstr>Domain-Driven Feature Engineering</vt:lpstr>
      <vt:lpstr>Categorical Encoding Strategy</vt:lpstr>
      <vt:lpstr>Model Development &amp; Comparison</vt:lpstr>
      <vt:lpstr>Why Ridge Regression?</vt:lpstr>
      <vt:lpstr>Ridge Hyperparameter Optimization</vt:lpstr>
      <vt:lpstr>Model Diagnostics: Learning Curve Analysis</vt:lpstr>
      <vt:lpstr>Error Analysis &amp; Model Performance</vt:lpstr>
      <vt:lpstr>Model Explainability with SHAP</vt:lpstr>
      <vt:lpstr>Kaggle Competition Results</vt:lpstr>
      <vt:lpstr>Streamlit Deployment</vt:lpstr>
      <vt:lpstr>Key Insights &amp; Learnings</vt:lpstr>
      <vt:lpstr>Future Enhancements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USER</dc:creator>
  <cp:lastModifiedBy>USER</cp:lastModifiedBy>
  <cp:revision>1</cp:revision>
  <dcterms:created xsi:type="dcterms:W3CDTF">2025-12-02T03:23:46Z</dcterms:created>
  <dcterms:modified xsi:type="dcterms:W3CDTF">2025-12-02T03:26:47Z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2025-12-02T00:00:00Z</vt:filetime>
  </property>
  <property fmtid="{D5CDD505-2E9C-101B-9397-08002B2CF9AE}" pid="3" name="Creator">
    <vt:lpwstr>Call PDF</vt:lpwstr>
  </property>
  <property fmtid="{D5CDD505-2E9C-101B-9397-08002B2CF9AE}" pid="4" name="Producer">
    <vt:lpwstr>Call PDF v 2.4</vt:lpwstr>
  </property>
  <property fmtid="{D5CDD505-2E9C-101B-9397-08002B2CF9AE}" pid="5" name="LastSaved">
    <vt:filetime>2025-12-02T00:00:00Z</vt:filetime>
  </property>
</Properties>
</file>