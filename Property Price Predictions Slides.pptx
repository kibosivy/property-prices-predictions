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9" r:id="rId22"/>
    <p:sldId id="280" r:id="rId2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608" y="-2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C24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1C24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C24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1C24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C24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C24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199" y="457188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299" y="1168400"/>
            <a:ext cx="6057900" cy="1341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C24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799" y="4483100"/>
            <a:ext cx="3084195" cy="3606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1C24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ovable.dev/projects/33eca673-e687-4b8a-bee1-3a5e719da513?utm_source=lovable-badge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kibosivy-property-prices-predictions-app-mqyip5.streamlit.app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457200"/>
            <a:ext cx="6858000" cy="9696450"/>
            <a:chOff x="457199" y="457200"/>
            <a:chExt cx="6858000" cy="9696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9" y="457200"/>
              <a:ext cx="6857999" cy="9696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" y="3864863"/>
              <a:ext cx="6857999" cy="2075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7631" y="5017007"/>
              <a:ext cx="4507991" cy="1289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8215" y="5843015"/>
              <a:ext cx="4315967" cy="899159"/>
            </a:xfrm>
            <a:prstGeom prst="rect">
              <a:avLst/>
            </a:prstGeom>
          </p:spPr>
        </p:pic>
        <p:sp>
          <p:nvSpPr>
            <p:cNvPr id="7" name="object 7">
              <a:hlinkClick r:id="rId6"/>
            </p:cNvPr>
            <p:cNvSpPr/>
            <p:nvPr/>
          </p:nvSpPr>
          <p:spPr>
            <a:xfrm>
              <a:off x="5876924" y="9791699"/>
              <a:ext cx="1343025" cy="266700"/>
            </a:xfrm>
            <a:custGeom>
              <a:avLst/>
              <a:gdLst/>
              <a:ahLst/>
              <a:cxnLst/>
              <a:rect l="l" t="t" r="r" b="b"/>
              <a:pathLst>
                <a:path w="1343025" h="266700">
                  <a:moveTo>
                    <a:pt x="1301715" y="266699"/>
                  </a:moveTo>
                  <a:lnTo>
                    <a:pt x="41309" y="266699"/>
                  </a:lnTo>
                  <a:lnTo>
                    <a:pt x="35234" y="265491"/>
                  </a:lnTo>
                  <a:lnTo>
                    <a:pt x="1208" y="231465"/>
                  </a:lnTo>
                  <a:lnTo>
                    <a:pt x="0" y="225390"/>
                  </a:lnTo>
                  <a:lnTo>
                    <a:pt x="0" y="219074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1301715" y="0"/>
                  </a:lnTo>
                  <a:lnTo>
                    <a:pt x="1336982" y="23564"/>
                  </a:lnTo>
                  <a:lnTo>
                    <a:pt x="1343024" y="41309"/>
                  </a:lnTo>
                  <a:lnTo>
                    <a:pt x="1343024" y="225390"/>
                  </a:lnTo>
                  <a:lnTo>
                    <a:pt x="1319459" y="260657"/>
                  </a:lnTo>
                  <a:lnTo>
                    <a:pt x="1307790" y="265491"/>
                  </a:lnTo>
                  <a:lnTo>
                    <a:pt x="1301715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988049" y="9836150"/>
            <a:ext cx="4578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A1A1AA"/>
                </a:solidFill>
                <a:latin typeface="Arial MT"/>
                <a:cs typeface="Arial MT"/>
                <a:hlinkClick r:id="rId6"/>
              </a:rPr>
              <a:t>Edit </a:t>
            </a:r>
            <a:r>
              <a:rPr sz="900" spc="-20" dirty="0">
                <a:solidFill>
                  <a:srgbClr val="A1A1AA"/>
                </a:solidFill>
                <a:latin typeface="Arial MT"/>
                <a:cs typeface="Arial MT"/>
                <a:hlinkClick r:id="rId6"/>
              </a:rPr>
              <a:t>with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67474" y="9870855"/>
            <a:ext cx="571500" cy="104139"/>
            <a:chOff x="6467474" y="9870855"/>
            <a:chExt cx="571500" cy="104139"/>
          </a:xfrm>
        </p:grpSpPr>
        <p:pic>
          <p:nvPicPr>
            <p:cNvPr id="10" name="object 10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6650" y="9876305"/>
              <a:ext cx="442328" cy="98578"/>
            </a:xfrm>
            <a:prstGeom prst="rect">
              <a:avLst/>
            </a:prstGeom>
          </p:spPr>
        </p:pic>
        <p:pic>
          <p:nvPicPr>
            <p:cNvPr id="11" name="object 11">
              <a:hlinkClick r:id="rId6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7474" y="9870855"/>
              <a:ext cx="98534" cy="10346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081639" y="9769475"/>
            <a:ext cx="1035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A1A1AA"/>
                </a:solidFill>
                <a:latin typeface="Arial MT"/>
                <a:cs typeface="Arial MT"/>
                <a:hlinkClick r:id="rId6"/>
              </a:rPr>
              <a:t>×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9" y="1692275"/>
            <a:ext cx="3150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295" marR="68580" indent="-252729">
              <a:lnSpc>
                <a:spcPct val="116700"/>
              </a:lnSpc>
              <a:spcBef>
                <a:spcPts val="100"/>
              </a:spcBef>
              <a:buClr>
                <a:srgbClr val="1CC8C8"/>
              </a:buClr>
              <a:buSzPct val="150000"/>
              <a:buChar char="•"/>
              <a:tabLst>
                <a:tab pos="328295" algn="l"/>
              </a:tabLst>
            </a:pPr>
            <a:r>
              <a:rPr sz="1500" spc="-10" dirty="0"/>
              <a:t>High-</a:t>
            </a:r>
            <a:r>
              <a:rPr sz="1500" dirty="0"/>
              <a:t>dimensional</a:t>
            </a:r>
            <a:r>
              <a:rPr sz="1500" spc="-60" dirty="0"/>
              <a:t> </a:t>
            </a:r>
            <a:r>
              <a:rPr sz="1500" dirty="0"/>
              <a:t>feature</a:t>
            </a:r>
            <a:r>
              <a:rPr sz="1500" spc="-55" dirty="0"/>
              <a:t> </a:t>
            </a:r>
            <a:r>
              <a:rPr sz="1500" spc="-10" dirty="0"/>
              <a:t>space </a:t>
            </a:r>
            <a:r>
              <a:rPr sz="1500" dirty="0"/>
              <a:t>(79</a:t>
            </a:r>
            <a:r>
              <a:rPr sz="1500" spc="-25" dirty="0"/>
              <a:t> </a:t>
            </a:r>
            <a:r>
              <a:rPr sz="1500" spc="-10" dirty="0"/>
              <a:t>variables)</a:t>
            </a:r>
            <a:endParaRPr sz="1500"/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1500"/>
          </a:p>
          <a:p>
            <a:pPr marL="328295" marR="460375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28295" algn="l"/>
              </a:tabLst>
            </a:pPr>
            <a:r>
              <a:rPr sz="1500" dirty="0"/>
              <a:t>Mixed</a:t>
            </a:r>
            <a:r>
              <a:rPr sz="1500" spc="-40" dirty="0"/>
              <a:t> </a:t>
            </a:r>
            <a:r>
              <a:rPr sz="1500" dirty="0"/>
              <a:t>data</a:t>
            </a:r>
            <a:r>
              <a:rPr sz="1500" spc="-35" dirty="0"/>
              <a:t> </a:t>
            </a:r>
            <a:r>
              <a:rPr sz="1500" dirty="0"/>
              <a:t>types</a:t>
            </a:r>
            <a:r>
              <a:rPr sz="1500" spc="-35" dirty="0"/>
              <a:t> </a:t>
            </a:r>
            <a:r>
              <a:rPr sz="1500" spc="-10" dirty="0"/>
              <a:t>(numeric, </a:t>
            </a:r>
            <a:r>
              <a:rPr sz="1500" dirty="0"/>
              <a:t>nominal,</a:t>
            </a:r>
            <a:r>
              <a:rPr sz="1500" spc="-60" dirty="0"/>
              <a:t> </a:t>
            </a:r>
            <a:r>
              <a:rPr sz="1500" spc="-10" dirty="0"/>
              <a:t>ordinal)</a:t>
            </a:r>
            <a:endParaRPr sz="1500"/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/>
          </a:p>
          <a:p>
            <a:pPr marL="328295" marR="68580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28295" algn="l"/>
              </a:tabLst>
            </a:pPr>
            <a:r>
              <a:rPr sz="1500" dirty="0"/>
              <a:t>Strong</a:t>
            </a:r>
            <a:r>
              <a:rPr sz="1500" spc="-60" dirty="0"/>
              <a:t> </a:t>
            </a:r>
            <a:r>
              <a:rPr sz="1500" dirty="0"/>
              <a:t>correlation</a:t>
            </a:r>
            <a:r>
              <a:rPr sz="1500" spc="-55" dirty="0"/>
              <a:t> </a:t>
            </a:r>
            <a:r>
              <a:rPr sz="1500" spc="-25" dirty="0"/>
              <a:t>and </a:t>
            </a:r>
            <a:r>
              <a:rPr sz="1500" dirty="0"/>
              <a:t>multicollinearity</a:t>
            </a:r>
            <a:r>
              <a:rPr sz="1500" spc="-75" dirty="0"/>
              <a:t> </a:t>
            </a:r>
            <a:r>
              <a:rPr sz="1500" dirty="0"/>
              <a:t>among</a:t>
            </a:r>
            <a:r>
              <a:rPr sz="1500" spc="-75" dirty="0"/>
              <a:t> </a:t>
            </a:r>
            <a:r>
              <a:rPr sz="1500" spc="-10" dirty="0"/>
              <a:t>features</a:t>
            </a:r>
            <a:endParaRPr sz="1500"/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/>
          </a:p>
          <a:p>
            <a:pPr marL="328295" marR="343535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28295" algn="l"/>
              </a:tabLst>
            </a:pPr>
            <a:r>
              <a:rPr sz="1500" dirty="0"/>
              <a:t>Structural</a:t>
            </a:r>
            <a:r>
              <a:rPr sz="1500" spc="-40" dirty="0"/>
              <a:t> </a:t>
            </a:r>
            <a:r>
              <a:rPr sz="1500" dirty="0"/>
              <a:t>and</a:t>
            </a:r>
            <a:r>
              <a:rPr sz="1500" spc="-40" dirty="0"/>
              <a:t> </a:t>
            </a:r>
            <a:r>
              <a:rPr sz="1500" spc="-10" dirty="0"/>
              <a:t>non-structural </a:t>
            </a:r>
            <a:r>
              <a:rPr sz="1500" dirty="0"/>
              <a:t>missing</a:t>
            </a:r>
            <a:r>
              <a:rPr sz="1500" spc="-55" dirty="0"/>
              <a:t> </a:t>
            </a:r>
            <a:r>
              <a:rPr sz="1500" spc="-10" dirty="0"/>
              <a:t>values</a:t>
            </a:r>
            <a:endParaRPr sz="1500"/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/>
          </a:p>
          <a:p>
            <a:pPr marL="328295" marR="269875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28295" algn="l"/>
              </a:tabLst>
            </a:pPr>
            <a:r>
              <a:rPr sz="1500" dirty="0"/>
              <a:t>Skewed</a:t>
            </a:r>
            <a:r>
              <a:rPr sz="1500" spc="-55" dirty="0"/>
              <a:t> </a:t>
            </a:r>
            <a:r>
              <a:rPr sz="1500" dirty="0"/>
              <a:t>numeric</a:t>
            </a:r>
            <a:r>
              <a:rPr sz="1500" spc="-55" dirty="0"/>
              <a:t> </a:t>
            </a:r>
            <a:r>
              <a:rPr sz="1500" spc="-10" dirty="0"/>
              <a:t>distributions </a:t>
            </a:r>
            <a:r>
              <a:rPr sz="1500" dirty="0"/>
              <a:t>and</a:t>
            </a:r>
            <a:r>
              <a:rPr sz="1500" spc="-35" dirty="0"/>
              <a:t> </a:t>
            </a:r>
            <a:r>
              <a:rPr sz="1500" dirty="0"/>
              <a:t>strong</a:t>
            </a:r>
            <a:r>
              <a:rPr sz="1500" spc="-35" dirty="0"/>
              <a:t> </a:t>
            </a:r>
            <a:r>
              <a:rPr sz="1500" spc="-10" dirty="0"/>
              <a:t>outliers</a:t>
            </a:r>
            <a:endParaRPr sz="1500"/>
          </a:p>
        </p:txBody>
      </p:sp>
      <p:sp>
        <p:nvSpPr>
          <p:cNvPr id="4" name="object 4"/>
          <p:cNvSpPr txBox="1"/>
          <p:nvPr/>
        </p:nvSpPr>
        <p:spPr>
          <a:xfrm>
            <a:off x="749299" y="2387600"/>
            <a:ext cx="5912485" cy="196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Predicting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house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prices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accurately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is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critical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in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real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estate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analytics,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helping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sellers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set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reasonable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expectations,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buyers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make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informed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decisions,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developers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assess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market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value.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Housing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prices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are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influenced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by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complex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interactions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of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structural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characteristics,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quality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indicators,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amenities,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location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variables.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288665" algn="l"/>
              </a:tabLst>
            </a:pP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Technical</a:t>
            </a:r>
            <a:r>
              <a:rPr sz="1800" b="1" spc="-60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Challenges</a:t>
            </a: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1CC8C8"/>
                </a:solidFill>
                <a:latin typeface="Arial"/>
                <a:cs typeface="Arial"/>
              </a:rPr>
              <a:t>Project </a:t>
            </a: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Workflow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9700" y="4483100"/>
            <a:ext cx="3009900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marR="489584" indent="-252729">
              <a:lnSpc>
                <a:spcPct val="116700"/>
              </a:lnSpc>
              <a:spcBef>
                <a:spcPts val="100"/>
              </a:spcBef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Exploratory</a:t>
            </a:r>
            <a:r>
              <a:rPr sz="1500" spc="-6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Data</a:t>
            </a:r>
            <a:r>
              <a:rPr sz="1500" spc="-9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Analysis (EDA)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340995" marR="278130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Missing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value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treatment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outlier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handling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340995" marR="775970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Domain-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driven</a:t>
            </a:r>
            <a:r>
              <a:rPr sz="15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feature engineering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340995" marR="55880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Model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development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cross- validation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340995" marR="415925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Hyperparameter</a:t>
            </a:r>
            <a:r>
              <a:rPr sz="15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tuning</a:t>
            </a:r>
            <a:r>
              <a:rPr sz="15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via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GridSearchCV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340995" marR="630555" indent="-252729">
              <a:lnSpc>
                <a:spcPct val="116700"/>
              </a:lnSpc>
              <a:buClr>
                <a:srgbClr val="1CC8C8"/>
              </a:buClr>
              <a:buSzPct val="150000"/>
              <a:buChar char="•"/>
              <a:tabLst>
                <a:tab pos="340995" algn="l"/>
              </a:tabLst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500" spc="-9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explainability</a:t>
            </a:r>
            <a:r>
              <a:rPr sz="1500" spc="-6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Streamlit</a:t>
            </a:r>
            <a:r>
              <a:rPr sz="1500" spc="-6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deployment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9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2397125"/>
            <a:ext cx="28848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 </a:t>
            </a:r>
            <a:r>
              <a:rPr spc="-10" dirty="0"/>
              <a:t>Overview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133724"/>
            <a:ext cx="2971799" cy="1409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4100" y="3180460"/>
            <a:ext cx="1628139" cy="104266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3600" b="1" spc="-10" dirty="0">
                <a:solidFill>
                  <a:srgbClr val="164E9C"/>
                </a:solidFill>
                <a:latin typeface="Arial"/>
                <a:cs typeface="Arial"/>
              </a:rPr>
              <a:t>1,460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Training</a:t>
            </a:r>
            <a:r>
              <a:rPr sz="15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Properties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9" y="3133724"/>
            <a:ext cx="2971800" cy="14096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30700" y="3180460"/>
            <a:ext cx="1515110" cy="104266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3600" b="1" spc="-25" dirty="0">
                <a:solidFill>
                  <a:srgbClr val="1CC8C8"/>
                </a:solidFill>
                <a:latin typeface="Arial"/>
                <a:cs typeface="Arial"/>
              </a:rPr>
              <a:t>79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Feature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Variables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7521" y="4835525"/>
            <a:ext cx="3777615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Kaggle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Competition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House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Prices -</a:t>
            </a:r>
            <a:r>
              <a:rPr sz="1350" spc="-7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Advanced Regression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Techniques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1861" y="5721349"/>
            <a:ext cx="56978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Numeric</a:t>
            </a:r>
            <a:r>
              <a:rPr sz="1500" b="1" spc="-4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Features:</a:t>
            </a:r>
            <a:r>
              <a:rPr sz="1500" b="1" spc="-4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Living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area,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lot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size,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garage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capacity,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year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built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299" y="5692774"/>
            <a:ext cx="1257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1CC8C8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50" spc="-50" dirty="0">
                <a:solidFill>
                  <a:srgbClr val="1CC8C8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861" y="6254749"/>
            <a:ext cx="57962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Ordinal</a:t>
            </a:r>
            <a:r>
              <a:rPr sz="1500" b="1" spc="-5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Features:</a:t>
            </a:r>
            <a:r>
              <a:rPr sz="1500" b="1" spc="-5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Quality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ratings,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condition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scores,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basement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finish levels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861" y="7054850"/>
            <a:ext cx="58597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Categorical</a:t>
            </a:r>
            <a:r>
              <a:rPr sz="1500" b="1" spc="-6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Features:</a:t>
            </a:r>
            <a:r>
              <a:rPr sz="1500" b="1" spc="-5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Neighborhood,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house</a:t>
            </a:r>
            <a:r>
              <a:rPr sz="1500" spc="-6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style,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exterior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materials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299" y="7026275"/>
            <a:ext cx="1257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1CC8C8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50" spc="-50" dirty="0">
                <a:solidFill>
                  <a:srgbClr val="1CC8C8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1861" y="7588250"/>
            <a:ext cx="52527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Target</a:t>
            </a:r>
            <a:r>
              <a:rPr sz="1500" b="1" spc="-6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Variable:</a:t>
            </a:r>
            <a:r>
              <a:rPr sz="1500" b="1" spc="-5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SalePrice</a:t>
            </a:r>
            <a:r>
              <a:rPr sz="1500" spc="-6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(heavily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right-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skewed,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requires</a:t>
            </a:r>
            <a:r>
              <a:rPr sz="1500" spc="-6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log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transformation)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619373"/>
            <a:ext cx="6248399" cy="29717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7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Exploratory Data</a:t>
            </a:r>
            <a:r>
              <a:rPr spc="-10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4100" y="2892425"/>
            <a:ext cx="2872740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Distribution</a:t>
            </a:r>
            <a:r>
              <a:rPr sz="2250" b="1" spc="-9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Analysis</a:t>
            </a:r>
            <a:endParaRPr sz="2250">
              <a:latin typeface="Arial"/>
              <a:cs typeface="Arial"/>
            </a:endParaRPr>
          </a:p>
          <a:p>
            <a:pPr marL="12700" marR="206375">
              <a:lnSpc>
                <a:spcPct val="129600"/>
              </a:lnSpc>
              <a:spcBef>
                <a:spcPts val="1019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Right-Skewed 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Distributions: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Many size-related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features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(LotArea, GrLivArea,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1C242F"/>
                </a:solidFill>
                <a:latin typeface="Arial MT"/>
                <a:cs typeface="Arial MT"/>
              </a:rPr>
              <a:t>TotalBsmtSF)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contain long right tails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because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most homes are moderately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sized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while few properties are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extremely large.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7800" y="3364865"/>
            <a:ext cx="265112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SalePrice: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Exhibited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significant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right skewness (skewness =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1.88),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requiring log transformation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to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normalize the distribution 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linear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models and improve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training stability.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5895973"/>
            <a:ext cx="3009899" cy="27812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54100" y="6959600"/>
            <a:ext cx="12217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indent="-118745">
              <a:lnSpc>
                <a:spcPct val="100000"/>
              </a:lnSpc>
              <a:spcBef>
                <a:spcPts val="1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OverallQual</a:t>
            </a:r>
            <a:endParaRPr sz="150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spcBef>
                <a:spcPts val="12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GrLivArea</a:t>
            </a:r>
            <a:endParaRPr sz="150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spcBef>
                <a:spcPts val="12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GarageCars</a:t>
            </a:r>
            <a:endParaRPr sz="1500">
              <a:latin typeface="Arial MT"/>
              <a:cs typeface="Arial MT"/>
            </a:endParaRPr>
          </a:p>
          <a:p>
            <a:pPr marL="127635" indent="-114935">
              <a:lnSpc>
                <a:spcPct val="100000"/>
              </a:lnSpc>
              <a:spcBef>
                <a:spcPts val="1200"/>
              </a:spcBef>
              <a:buChar char="•"/>
              <a:tabLst>
                <a:tab pos="12763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TotalBsmtSF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499" y="5895973"/>
            <a:ext cx="3009899" cy="27812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92600" y="6654800"/>
            <a:ext cx="119316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indent="-118745">
              <a:lnSpc>
                <a:spcPct val="100000"/>
              </a:lnSpc>
              <a:spcBef>
                <a:spcPts val="1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PoolQC</a:t>
            </a:r>
            <a:endParaRPr sz="150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spcBef>
                <a:spcPts val="12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MiscFeature</a:t>
            </a:r>
            <a:endParaRPr sz="15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spcBef>
                <a:spcPts val="1200"/>
              </a:spcBef>
              <a:buChar char="•"/>
              <a:tabLst>
                <a:tab pos="120650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Alley</a:t>
            </a:r>
            <a:endParaRPr sz="150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spcBef>
                <a:spcPts val="1200"/>
              </a:spcBef>
              <a:buChar char="•"/>
              <a:tabLst>
                <a:tab pos="131445" algn="l"/>
              </a:tabLst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Fence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8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2416175"/>
            <a:ext cx="37604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75" dirty="0"/>
              <a:t> </a:t>
            </a:r>
            <a:r>
              <a:rPr dirty="0"/>
              <a:t>Value</a:t>
            </a:r>
            <a:r>
              <a:rPr spc="-75" dirty="0"/>
              <a:t> </a:t>
            </a:r>
            <a:r>
              <a:rPr spc="-10" dirty="0"/>
              <a:t>Strategy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3152775"/>
            <a:ext cx="2971799" cy="13430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47939" y="4576445"/>
            <a:ext cx="27533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Heatmap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reveals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concentrated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missingness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in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optional</a:t>
            </a:r>
            <a:r>
              <a:rPr sz="1050" spc="-4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features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(pools,</a:t>
            </a:r>
            <a:r>
              <a:rPr sz="1050" spc="-4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garages,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basements)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999" y="3152773"/>
            <a:ext cx="2971800" cy="1866900"/>
          </a:xfrm>
          <a:custGeom>
            <a:avLst/>
            <a:gdLst/>
            <a:ahLst/>
            <a:cxnLst/>
            <a:rect l="l" t="t" r="r" b="b"/>
            <a:pathLst>
              <a:path w="2971800" h="1866900">
                <a:moveTo>
                  <a:pt x="2865004" y="1866899"/>
                </a:moveTo>
                <a:lnTo>
                  <a:pt x="106794" y="1866899"/>
                </a:lnTo>
                <a:lnTo>
                  <a:pt x="99362" y="1866165"/>
                </a:lnTo>
                <a:lnTo>
                  <a:pt x="57038" y="1851802"/>
                </a:lnTo>
                <a:lnTo>
                  <a:pt x="23432" y="1822335"/>
                </a:lnTo>
                <a:lnTo>
                  <a:pt x="3660" y="1782254"/>
                </a:lnTo>
                <a:lnTo>
                  <a:pt x="0" y="1760101"/>
                </a:lnTo>
                <a:lnTo>
                  <a:pt x="0" y="1752599"/>
                </a:lnTo>
                <a:lnTo>
                  <a:pt x="0" y="106793"/>
                </a:lnTo>
                <a:lnTo>
                  <a:pt x="11572" y="63619"/>
                </a:lnTo>
                <a:lnTo>
                  <a:pt x="38784" y="28170"/>
                </a:lnTo>
                <a:lnTo>
                  <a:pt x="77493" y="5822"/>
                </a:lnTo>
                <a:lnTo>
                  <a:pt x="106794" y="0"/>
                </a:lnTo>
                <a:lnTo>
                  <a:pt x="2865004" y="0"/>
                </a:lnTo>
                <a:lnTo>
                  <a:pt x="2908173" y="11567"/>
                </a:lnTo>
                <a:lnTo>
                  <a:pt x="2943628" y="38783"/>
                </a:lnTo>
                <a:lnTo>
                  <a:pt x="2965971" y="77488"/>
                </a:lnTo>
                <a:lnTo>
                  <a:pt x="2971799" y="106793"/>
                </a:lnTo>
                <a:lnTo>
                  <a:pt x="2971799" y="1760101"/>
                </a:lnTo>
                <a:lnTo>
                  <a:pt x="2960226" y="1803266"/>
                </a:lnTo>
                <a:lnTo>
                  <a:pt x="2933014" y="1838724"/>
                </a:lnTo>
                <a:lnTo>
                  <a:pt x="2894306" y="1861067"/>
                </a:lnTo>
                <a:lnTo>
                  <a:pt x="2872437" y="1866165"/>
                </a:lnTo>
                <a:lnTo>
                  <a:pt x="2865004" y="18668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9800" y="3340100"/>
            <a:ext cx="2575560" cy="146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Structural</a:t>
            </a:r>
            <a:r>
              <a:rPr sz="1500" b="1" spc="-3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Absence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Features like BsmtQual,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GarageType,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PoolQC filled with "None"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when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component doesn't exist (verified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by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checking related numeric features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=</a:t>
            </a:r>
            <a:r>
              <a:rPr sz="1200" spc="5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0)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999" y="5172073"/>
            <a:ext cx="2971800" cy="1409700"/>
          </a:xfrm>
          <a:custGeom>
            <a:avLst/>
            <a:gdLst/>
            <a:ahLst/>
            <a:cxnLst/>
            <a:rect l="l" t="t" r="r" b="b"/>
            <a:pathLst>
              <a:path w="2971800" h="1409700">
                <a:moveTo>
                  <a:pt x="2865004" y="1409699"/>
                </a:moveTo>
                <a:lnTo>
                  <a:pt x="106794" y="1409699"/>
                </a:lnTo>
                <a:lnTo>
                  <a:pt x="99362" y="1408965"/>
                </a:lnTo>
                <a:lnTo>
                  <a:pt x="57038" y="1394602"/>
                </a:lnTo>
                <a:lnTo>
                  <a:pt x="23432" y="1365135"/>
                </a:lnTo>
                <a:lnTo>
                  <a:pt x="3660" y="1325054"/>
                </a:lnTo>
                <a:lnTo>
                  <a:pt x="0" y="1302906"/>
                </a:lnTo>
                <a:lnTo>
                  <a:pt x="0" y="1295399"/>
                </a:lnTo>
                <a:lnTo>
                  <a:pt x="0" y="106788"/>
                </a:lnTo>
                <a:lnTo>
                  <a:pt x="11572" y="63614"/>
                </a:lnTo>
                <a:lnTo>
                  <a:pt x="38784" y="28165"/>
                </a:lnTo>
                <a:lnTo>
                  <a:pt x="77493" y="5827"/>
                </a:lnTo>
                <a:lnTo>
                  <a:pt x="106794" y="0"/>
                </a:lnTo>
                <a:lnTo>
                  <a:pt x="2865004" y="0"/>
                </a:lnTo>
                <a:lnTo>
                  <a:pt x="2908173" y="11567"/>
                </a:lnTo>
                <a:lnTo>
                  <a:pt x="2943628" y="38774"/>
                </a:lnTo>
                <a:lnTo>
                  <a:pt x="2965971" y="77483"/>
                </a:lnTo>
                <a:lnTo>
                  <a:pt x="2971799" y="106788"/>
                </a:lnTo>
                <a:lnTo>
                  <a:pt x="2971799" y="1302906"/>
                </a:lnTo>
                <a:lnTo>
                  <a:pt x="2960226" y="1346066"/>
                </a:lnTo>
                <a:lnTo>
                  <a:pt x="2933014" y="1381524"/>
                </a:lnTo>
                <a:lnTo>
                  <a:pt x="2894306" y="1403862"/>
                </a:lnTo>
                <a:lnTo>
                  <a:pt x="2872437" y="1408965"/>
                </a:lnTo>
                <a:lnTo>
                  <a:pt x="2865004" y="14096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9800" y="5359399"/>
            <a:ext cx="238061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Neighborhood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Median</a:t>
            </a:r>
            <a:endParaRPr sz="1500">
              <a:latin typeface="Arial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LotFrontage imputed using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median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values from same neighborhood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to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preserve geographic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patterns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999" y="6734172"/>
            <a:ext cx="2971800" cy="1409700"/>
          </a:xfrm>
          <a:custGeom>
            <a:avLst/>
            <a:gdLst/>
            <a:ahLst/>
            <a:cxnLst/>
            <a:rect l="l" t="t" r="r" b="b"/>
            <a:pathLst>
              <a:path w="2971800" h="1409700">
                <a:moveTo>
                  <a:pt x="2865004" y="1409695"/>
                </a:moveTo>
                <a:lnTo>
                  <a:pt x="106794" y="1409695"/>
                </a:lnTo>
                <a:lnTo>
                  <a:pt x="99362" y="1408960"/>
                </a:lnTo>
                <a:lnTo>
                  <a:pt x="57038" y="1394602"/>
                </a:lnTo>
                <a:lnTo>
                  <a:pt x="23432" y="1365135"/>
                </a:lnTo>
                <a:lnTo>
                  <a:pt x="3660" y="1325054"/>
                </a:lnTo>
                <a:lnTo>
                  <a:pt x="0" y="1302901"/>
                </a:lnTo>
                <a:lnTo>
                  <a:pt x="0" y="1295399"/>
                </a:lnTo>
                <a:lnTo>
                  <a:pt x="0" y="106793"/>
                </a:lnTo>
                <a:lnTo>
                  <a:pt x="11572" y="63624"/>
                </a:lnTo>
                <a:lnTo>
                  <a:pt x="38784" y="28170"/>
                </a:lnTo>
                <a:lnTo>
                  <a:pt x="77493" y="5822"/>
                </a:lnTo>
                <a:lnTo>
                  <a:pt x="106794" y="0"/>
                </a:lnTo>
                <a:lnTo>
                  <a:pt x="2865004" y="0"/>
                </a:lnTo>
                <a:lnTo>
                  <a:pt x="2908173" y="11562"/>
                </a:lnTo>
                <a:lnTo>
                  <a:pt x="2943628" y="38783"/>
                </a:lnTo>
                <a:lnTo>
                  <a:pt x="2965971" y="77492"/>
                </a:lnTo>
                <a:lnTo>
                  <a:pt x="2971799" y="106793"/>
                </a:lnTo>
                <a:lnTo>
                  <a:pt x="2971799" y="1302901"/>
                </a:lnTo>
                <a:lnTo>
                  <a:pt x="2960226" y="1346070"/>
                </a:lnTo>
                <a:lnTo>
                  <a:pt x="2933014" y="1381524"/>
                </a:lnTo>
                <a:lnTo>
                  <a:pt x="2894306" y="1403862"/>
                </a:lnTo>
                <a:lnTo>
                  <a:pt x="2872437" y="1408960"/>
                </a:lnTo>
                <a:lnTo>
                  <a:pt x="2865004" y="140969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9800" y="6921500"/>
            <a:ext cx="236347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Mode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Imputation</a:t>
            </a:r>
            <a:endParaRPr sz="1500">
              <a:latin typeface="Arial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Categorical features like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Electrical,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MSZoning filled with most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frequent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value for minor data entry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gaps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9" y="1168400"/>
            <a:ext cx="41598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Outlier</a:t>
            </a:r>
            <a:r>
              <a:rPr spc="-60" dirty="0"/>
              <a:t> </a:t>
            </a:r>
            <a:r>
              <a:rPr dirty="0"/>
              <a:t>Handling</a:t>
            </a:r>
            <a:r>
              <a:rPr spc="-60" dirty="0"/>
              <a:t> </a:t>
            </a:r>
            <a:r>
              <a:rPr spc="-10" dirty="0"/>
              <a:t>Strategy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1904998"/>
            <a:ext cx="1933574" cy="2895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7900" y="3151504"/>
            <a:ext cx="14909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Removed homes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very large living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area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(GrLivArea &gt;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4500)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but unusually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low</a:t>
            </a:r>
            <a:r>
              <a:rPr sz="1200" spc="5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sale prices,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likely</a:t>
            </a:r>
            <a:r>
              <a:rPr sz="1200" spc="5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data entry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errors</a:t>
            </a:r>
            <a:endParaRPr sz="12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4174" y="1904998"/>
            <a:ext cx="1924049" cy="2895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36800" y="2541904"/>
            <a:ext cx="148272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Applied standard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IQR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rule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(Q1 -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1.5×IQR,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Q3 + 1.5×IQR)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</a:t>
            </a:r>
            <a:endParaRPr sz="1200">
              <a:latin typeface="Arial MT"/>
              <a:cs typeface="Arial MT"/>
            </a:endParaRPr>
          </a:p>
          <a:p>
            <a:pPr marL="12700" marR="30480">
              <a:lnSpc>
                <a:spcPct val="125000"/>
              </a:lnSpc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features with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obvious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extreme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tails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6824" y="1904998"/>
            <a:ext cx="1933575" cy="28955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95850" y="2120900"/>
            <a:ext cx="1522095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Winsorization</a:t>
            </a:r>
            <a:endParaRPr sz="1800">
              <a:latin typeface="Arial"/>
              <a:cs typeface="Arial"/>
            </a:endParaRPr>
          </a:p>
          <a:p>
            <a:pPr marL="12700" marR="35560">
              <a:lnSpc>
                <a:spcPct val="125000"/>
              </a:lnSpc>
              <a:spcBef>
                <a:spcPts val="11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Capped zero-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inflated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features at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99th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percentile to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preserve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ordering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while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controlling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extremes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2250" y="5346700"/>
            <a:ext cx="4171949" cy="5124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020" y="5776383"/>
            <a:ext cx="6858000" cy="2857500"/>
            <a:chOff x="457199" y="457199"/>
            <a:chExt cx="6858000" cy="2857500"/>
          </a:xfrm>
        </p:grpSpPr>
        <p:sp>
          <p:nvSpPr>
            <p:cNvPr id="3" name="object 3"/>
            <p:cNvSpPr/>
            <p:nvPr/>
          </p:nvSpPr>
          <p:spPr>
            <a:xfrm>
              <a:off x="457199" y="457199"/>
              <a:ext cx="6858000" cy="2857500"/>
            </a:xfrm>
            <a:custGeom>
              <a:avLst/>
              <a:gdLst/>
              <a:ahLst/>
              <a:cxnLst/>
              <a:rect l="l" t="t" r="r" b="b"/>
              <a:pathLst>
                <a:path w="6858000" h="2857500">
                  <a:moveTo>
                    <a:pt x="6857999" y="2857499"/>
                  </a:moveTo>
                  <a:lnTo>
                    <a:pt x="0" y="2857499"/>
                  </a:lnTo>
                  <a:lnTo>
                    <a:pt x="0" y="0"/>
                  </a:lnTo>
                  <a:lnTo>
                    <a:pt x="6857999" y="0"/>
                  </a:lnTo>
                  <a:lnTo>
                    <a:pt x="6857999" y="2857499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0224" y="457200"/>
              <a:ext cx="4171949" cy="1828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061791" y="2359025"/>
            <a:ext cx="16484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Outlier</a:t>
            </a:r>
            <a:r>
              <a:rPr sz="1050" spc="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Distribution</a:t>
            </a:r>
            <a:r>
              <a:rPr sz="1050" spc="-4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Analysis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" name="object 11">
            <a:extLst>
              <a:ext uri="{FF2B5EF4-FFF2-40B4-BE49-F238E27FC236}">
                <a16:creationId xmlns:a16="http://schemas.microsoft.com/office/drawing/2014/main" id="{DB616F7A-8F94-3747-B815-870CDE7B1EE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046" y="647701"/>
            <a:ext cx="4171949" cy="5124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5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1168400"/>
            <a:ext cx="5082540" cy="8178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00"/>
              </a:spcBef>
            </a:pPr>
            <a:r>
              <a:rPr dirty="0"/>
              <a:t>Bivariate</a:t>
            </a:r>
            <a:r>
              <a:rPr spc="-105" dirty="0"/>
              <a:t> </a:t>
            </a:r>
            <a:r>
              <a:rPr dirty="0"/>
              <a:t>Analysis: Features </a:t>
            </a:r>
            <a:r>
              <a:rPr spc="-25" dirty="0"/>
              <a:t>vs </a:t>
            </a:r>
            <a:r>
              <a:rPr spc="-10" dirty="0"/>
              <a:t>SalePrice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2000" y="2285999"/>
            <a:ext cx="6248399" cy="7458074"/>
            <a:chOff x="762000" y="2285999"/>
            <a:chExt cx="6248399" cy="745807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2285999"/>
              <a:ext cx="2971799" cy="74580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38599" y="2286002"/>
              <a:ext cx="2971800" cy="1409700"/>
            </a:xfrm>
            <a:custGeom>
              <a:avLst/>
              <a:gdLst/>
              <a:ahLst/>
              <a:cxnLst/>
              <a:rect l="l" t="t" r="r" b="b"/>
              <a:pathLst>
                <a:path w="2971800" h="1409700">
                  <a:moveTo>
                    <a:pt x="2865004" y="1409695"/>
                  </a:moveTo>
                  <a:lnTo>
                    <a:pt x="106795" y="1409695"/>
                  </a:lnTo>
                  <a:lnTo>
                    <a:pt x="99362" y="1408960"/>
                  </a:lnTo>
                  <a:lnTo>
                    <a:pt x="57038" y="1394598"/>
                  </a:lnTo>
                  <a:lnTo>
                    <a:pt x="23432" y="1365130"/>
                  </a:lnTo>
                  <a:lnTo>
                    <a:pt x="3660" y="1325049"/>
                  </a:lnTo>
                  <a:lnTo>
                    <a:pt x="0" y="1302897"/>
                  </a:lnTo>
                  <a:lnTo>
                    <a:pt x="0" y="1295395"/>
                  </a:lnTo>
                  <a:lnTo>
                    <a:pt x="0" y="106788"/>
                  </a:lnTo>
                  <a:lnTo>
                    <a:pt x="11572" y="63614"/>
                  </a:lnTo>
                  <a:lnTo>
                    <a:pt x="38784" y="28160"/>
                  </a:lnTo>
                  <a:lnTo>
                    <a:pt x="77492" y="5822"/>
                  </a:lnTo>
                  <a:lnTo>
                    <a:pt x="106795" y="0"/>
                  </a:lnTo>
                  <a:lnTo>
                    <a:pt x="2865004" y="0"/>
                  </a:lnTo>
                  <a:lnTo>
                    <a:pt x="2908174" y="11562"/>
                  </a:lnTo>
                  <a:lnTo>
                    <a:pt x="2943629" y="38774"/>
                  </a:lnTo>
                  <a:lnTo>
                    <a:pt x="2965970" y="77483"/>
                  </a:lnTo>
                  <a:lnTo>
                    <a:pt x="2971800" y="106788"/>
                  </a:lnTo>
                  <a:lnTo>
                    <a:pt x="2971800" y="1302897"/>
                  </a:lnTo>
                  <a:lnTo>
                    <a:pt x="2960226" y="1346061"/>
                  </a:lnTo>
                  <a:lnTo>
                    <a:pt x="2933015" y="1381520"/>
                  </a:lnTo>
                  <a:lnTo>
                    <a:pt x="2894306" y="1403853"/>
                  </a:lnTo>
                  <a:lnTo>
                    <a:pt x="2872437" y="1408960"/>
                  </a:lnTo>
                  <a:lnTo>
                    <a:pt x="2865004" y="140969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216400" y="2473325"/>
            <a:ext cx="259778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Strong Linear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Relationships</a:t>
            </a:r>
            <a:endParaRPr sz="1500">
              <a:latin typeface="Arial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GrLivArea,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TotalBsmtSF,</a:t>
            </a:r>
            <a:r>
              <a:rPr sz="120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GarageCars,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OverallQual show clear upward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linear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trends with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SalePrice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38599" y="3848097"/>
            <a:ext cx="2971800" cy="1409700"/>
          </a:xfrm>
          <a:custGeom>
            <a:avLst/>
            <a:gdLst/>
            <a:ahLst/>
            <a:cxnLst/>
            <a:rect l="l" t="t" r="r" b="b"/>
            <a:pathLst>
              <a:path w="2971800" h="1409700">
                <a:moveTo>
                  <a:pt x="2865004" y="1409695"/>
                </a:moveTo>
                <a:lnTo>
                  <a:pt x="106795" y="1409695"/>
                </a:lnTo>
                <a:lnTo>
                  <a:pt x="99362" y="1408965"/>
                </a:lnTo>
                <a:lnTo>
                  <a:pt x="57038" y="1394594"/>
                </a:lnTo>
                <a:lnTo>
                  <a:pt x="23432" y="1365130"/>
                </a:lnTo>
                <a:lnTo>
                  <a:pt x="3660" y="1325049"/>
                </a:lnTo>
                <a:lnTo>
                  <a:pt x="0" y="1302901"/>
                </a:lnTo>
                <a:lnTo>
                  <a:pt x="0" y="1295399"/>
                </a:lnTo>
                <a:lnTo>
                  <a:pt x="0" y="106788"/>
                </a:lnTo>
                <a:lnTo>
                  <a:pt x="11572" y="63614"/>
                </a:lnTo>
                <a:lnTo>
                  <a:pt x="38784" y="28165"/>
                </a:lnTo>
                <a:lnTo>
                  <a:pt x="77492" y="5827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62"/>
                </a:lnTo>
                <a:lnTo>
                  <a:pt x="2943629" y="38779"/>
                </a:lnTo>
                <a:lnTo>
                  <a:pt x="2965970" y="77483"/>
                </a:lnTo>
                <a:lnTo>
                  <a:pt x="2971800" y="106788"/>
                </a:lnTo>
                <a:lnTo>
                  <a:pt x="2971800" y="1302901"/>
                </a:lnTo>
                <a:lnTo>
                  <a:pt x="2960226" y="1346061"/>
                </a:lnTo>
                <a:lnTo>
                  <a:pt x="2933015" y="1381520"/>
                </a:lnTo>
                <a:lnTo>
                  <a:pt x="2894306" y="1403858"/>
                </a:lnTo>
                <a:lnTo>
                  <a:pt x="2872437" y="1408960"/>
                </a:lnTo>
                <a:lnTo>
                  <a:pt x="2865004" y="140969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16400" y="4035425"/>
            <a:ext cx="246824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Moderate</a:t>
            </a:r>
            <a:r>
              <a:rPr sz="1500" b="1" spc="-7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Relationships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YearBuilt,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YearRemodAdd,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FullBath,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Fireplaces have weaker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but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meaningful positive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trends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8599" y="5410197"/>
            <a:ext cx="2971800" cy="1409700"/>
          </a:xfrm>
          <a:custGeom>
            <a:avLst/>
            <a:gdLst/>
            <a:ahLst/>
            <a:cxnLst/>
            <a:rect l="l" t="t" r="r" b="b"/>
            <a:pathLst>
              <a:path w="2971800" h="1409700">
                <a:moveTo>
                  <a:pt x="2865004" y="1409695"/>
                </a:moveTo>
                <a:lnTo>
                  <a:pt x="106795" y="1409695"/>
                </a:lnTo>
                <a:lnTo>
                  <a:pt x="99362" y="1408965"/>
                </a:lnTo>
                <a:lnTo>
                  <a:pt x="57038" y="1394598"/>
                </a:lnTo>
                <a:lnTo>
                  <a:pt x="23432" y="1365135"/>
                </a:lnTo>
                <a:lnTo>
                  <a:pt x="3660" y="1325054"/>
                </a:lnTo>
                <a:lnTo>
                  <a:pt x="0" y="1302901"/>
                </a:lnTo>
                <a:lnTo>
                  <a:pt x="0" y="1295399"/>
                </a:lnTo>
                <a:lnTo>
                  <a:pt x="0" y="106793"/>
                </a:lnTo>
                <a:lnTo>
                  <a:pt x="11572" y="63614"/>
                </a:lnTo>
                <a:lnTo>
                  <a:pt x="38784" y="28165"/>
                </a:lnTo>
                <a:lnTo>
                  <a:pt x="77492" y="5822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62"/>
                </a:lnTo>
                <a:lnTo>
                  <a:pt x="2943629" y="38779"/>
                </a:lnTo>
                <a:lnTo>
                  <a:pt x="2965970" y="77483"/>
                </a:lnTo>
                <a:lnTo>
                  <a:pt x="2971800" y="106793"/>
                </a:lnTo>
                <a:lnTo>
                  <a:pt x="2971800" y="1302901"/>
                </a:lnTo>
                <a:lnTo>
                  <a:pt x="2960226" y="1346066"/>
                </a:lnTo>
                <a:lnTo>
                  <a:pt x="2933015" y="1381520"/>
                </a:lnTo>
                <a:lnTo>
                  <a:pt x="2894306" y="1403862"/>
                </a:lnTo>
                <a:lnTo>
                  <a:pt x="2872437" y="1408965"/>
                </a:lnTo>
                <a:lnTo>
                  <a:pt x="2865004" y="140969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16400" y="5597524"/>
            <a:ext cx="248793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Weak</a:t>
            </a:r>
            <a:r>
              <a:rPr sz="1500" b="1" spc="-6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Relationships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PoolArea,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MiscVal,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3SsnPorch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show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little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relationship - rare, zero-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heavy features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Correlation Matrix &amp; </a:t>
            </a:r>
            <a:r>
              <a:rPr spc="-10" dirty="0"/>
              <a:t>Multicollinearity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2752724"/>
            <a:ext cx="6248399" cy="3048002"/>
            <a:chOff x="762000" y="2752724"/>
            <a:chExt cx="6248399" cy="304800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2752724"/>
              <a:ext cx="2971799" cy="2285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38599" y="2752726"/>
              <a:ext cx="2971800" cy="3048000"/>
            </a:xfrm>
            <a:custGeom>
              <a:avLst/>
              <a:gdLst/>
              <a:ahLst/>
              <a:cxnLst/>
              <a:rect l="l" t="t" r="r" b="b"/>
              <a:pathLst>
                <a:path w="2971800" h="3048000">
                  <a:moveTo>
                    <a:pt x="2865004" y="3047990"/>
                  </a:moveTo>
                  <a:lnTo>
                    <a:pt x="106795" y="3047990"/>
                  </a:lnTo>
                  <a:lnTo>
                    <a:pt x="99362" y="3047255"/>
                  </a:lnTo>
                  <a:lnTo>
                    <a:pt x="57038" y="3032889"/>
                  </a:lnTo>
                  <a:lnTo>
                    <a:pt x="23432" y="3003425"/>
                  </a:lnTo>
                  <a:lnTo>
                    <a:pt x="3660" y="2963349"/>
                  </a:lnTo>
                  <a:lnTo>
                    <a:pt x="0" y="2941196"/>
                  </a:lnTo>
                  <a:lnTo>
                    <a:pt x="0" y="2933695"/>
                  </a:lnTo>
                  <a:lnTo>
                    <a:pt x="0" y="106783"/>
                  </a:lnTo>
                  <a:lnTo>
                    <a:pt x="11572" y="63609"/>
                  </a:lnTo>
                  <a:lnTo>
                    <a:pt x="38784" y="28160"/>
                  </a:lnTo>
                  <a:lnTo>
                    <a:pt x="77492" y="5817"/>
                  </a:lnTo>
                  <a:lnTo>
                    <a:pt x="106795" y="0"/>
                  </a:lnTo>
                  <a:lnTo>
                    <a:pt x="2865004" y="0"/>
                  </a:lnTo>
                  <a:lnTo>
                    <a:pt x="2908174" y="11557"/>
                  </a:lnTo>
                  <a:lnTo>
                    <a:pt x="2943629" y="38774"/>
                  </a:lnTo>
                  <a:lnTo>
                    <a:pt x="2965970" y="77479"/>
                  </a:lnTo>
                  <a:lnTo>
                    <a:pt x="2971800" y="106783"/>
                  </a:lnTo>
                  <a:lnTo>
                    <a:pt x="2971800" y="2941196"/>
                  </a:lnTo>
                  <a:lnTo>
                    <a:pt x="2960226" y="2984361"/>
                  </a:lnTo>
                  <a:lnTo>
                    <a:pt x="2933015" y="3019815"/>
                  </a:lnTo>
                  <a:lnTo>
                    <a:pt x="2894306" y="3042158"/>
                  </a:lnTo>
                  <a:lnTo>
                    <a:pt x="2872437" y="3047255"/>
                  </a:lnTo>
                  <a:lnTo>
                    <a:pt x="2865004" y="304799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16400" y="2901950"/>
            <a:ext cx="2597785" cy="2684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Strong Positive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Correlations </a:t>
            </a: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with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SalePrice</a:t>
            </a:r>
            <a:endParaRPr sz="1500">
              <a:latin typeface="Arial"/>
              <a:cs typeface="Arial"/>
            </a:endParaRPr>
          </a:p>
          <a:p>
            <a:pPr marL="12700" marR="50165" indent="95885">
              <a:lnSpc>
                <a:spcPct val="125000"/>
              </a:lnSpc>
              <a:spcBef>
                <a:spcPts val="54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OverallQual</a:t>
            </a:r>
            <a:r>
              <a:rPr sz="1200" b="1" spc="-2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–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Strongest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correlation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with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price</a:t>
            </a:r>
            <a:endParaRPr sz="1200">
              <a:latin typeface="Arial MT"/>
              <a:cs typeface="Arial MT"/>
            </a:endParaRPr>
          </a:p>
          <a:p>
            <a:pPr marL="12700" marR="266065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GrLivArea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– Larger living area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=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higher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  <a:p>
            <a:pPr marL="12700" marR="33020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GarageCars/GarageArea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–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Garage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capacity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impact</a:t>
            </a:r>
            <a:endParaRPr sz="1200">
              <a:latin typeface="Arial MT"/>
              <a:cs typeface="Arial MT"/>
            </a:endParaRPr>
          </a:p>
          <a:p>
            <a:pPr marL="12700" marR="697230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TotalBsmtSF</a:t>
            </a:r>
            <a:r>
              <a:rPr sz="1200" b="1" spc="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–</a:t>
            </a:r>
            <a:r>
              <a:rPr sz="120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Basement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contribution to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38599" y="5953121"/>
            <a:ext cx="2971800" cy="2590800"/>
          </a:xfrm>
          <a:custGeom>
            <a:avLst/>
            <a:gdLst/>
            <a:ahLst/>
            <a:cxnLst/>
            <a:rect l="l" t="t" r="r" b="b"/>
            <a:pathLst>
              <a:path w="2971800" h="2590800">
                <a:moveTo>
                  <a:pt x="2865004" y="2590799"/>
                </a:moveTo>
                <a:lnTo>
                  <a:pt x="106795" y="2590799"/>
                </a:lnTo>
                <a:lnTo>
                  <a:pt x="99362" y="2590065"/>
                </a:lnTo>
                <a:lnTo>
                  <a:pt x="57038" y="2575694"/>
                </a:lnTo>
                <a:lnTo>
                  <a:pt x="23432" y="2546225"/>
                </a:lnTo>
                <a:lnTo>
                  <a:pt x="3660" y="2506144"/>
                </a:lnTo>
                <a:lnTo>
                  <a:pt x="0" y="2483996"/>
                </a:lnTo>
                <a:lnTo>
                  <a:pt x="0" y="2476499"/>
                </a:lnTo>
                <a:lnTo>
                  <a:pt x="0" y="106793"/>
                </a:lnTo>
                <a:lnTo>
                  <a:pt x="11572" y="63614"/>
                </a:lnTo>
                <a:lnTo>
                  <a:pt x="38784" y="28165"/>
                </a:lnTo>
                <a:lnTo>
                  <a:pt x="77492" y="5827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70"/>
                </a:lnTo>
                <a:lnTo>
                  <a:pt x="2943629" y="38779"/>
                </a:lnTo>
                <a:lnTo>
                  <a:pt x="2965970" y="77483"/>
                </a:lnTo>
                <a:lnTo>
                  <a:pt x="2971800" y="106793"/>
                </a:lnTo>
                <a:lnTo>
                  <a:pt x="2971800" y="2483996"/>
                </a:lnTo>
                <a:lnTo>
                  <a:pt x="2960226" y="2527157"/>
                </a:lnTo>
                <a:lnTo>
                  <a:pt x="2933015" y="2562615"/>
                </a:lnTo>
                <a:lnTo>
                  <a:pt x="2894306" y="2584967"/>
                </a:lnTo>
                <a:lnTo>
                  <a:pt x="2872437" y="2590065"/>
                </a:lnTo>
                <a:lnTo>
                  <a:pt x="2865004" y="25907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16400" y="6102349"/>
            <a:ext cx="2501900" cy="224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265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Multicollinearity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Patterns Detected</a:t>
            </a:r>
            <a:endParaRPr sz="15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900"/>
              </a:spcBef>
              <a:buChar char="•"/>
              <a:tabLst>
                <a:tab pos="108585" algn="l"/>
              </a:tabLst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GarageCars ↔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GarageArea</a:t>
            </a:r>
            <a:endParaRPr sz="1200">
              <a:latin typeface="Arial MT"/>
              <a:cs typeface="Arial MT"/>
            </a:endParaRPr>
          </a:p>
          <a:p>
            <a:pPr marL="108585" indent="-95885">
              <a:lnSpc>
                <a:spcPct val="100000"/>
              </a:lnSpc>
              <a:spcBef>
                <a:spcPts val="960"/>
              </a:spcBef>
              <a:buChar char="•"/>
              <a:tabLst>
                <a:tab pos="108585" algn="l"/>
              </a:tabLst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GrLivArea ↔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1stFlrSF</a:t>
            </a:r>
            <a:endParaRPr sz="1200">
              <a:latin typeface="Arial MT"/>
              <a:cs typeface="Arial MT"/>
            </a:endParaRPr>
          </a:p>
          <a:p>
            <a:pPr marL="105410" indent="-92710">
              <a:lnSpc>
                <a:spcPct val="100000"/>
              </a:lnSpc>
              <a:spcBef>
                <a:spcPts val="960"/>
              </a:spcBef>
              <a:buChar char="•"/>
              <a:tabLst>
                <a:tab pos="105410" algn="l"/>
              </a:tabLst>
            </a:pP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TotalBsmtSF</a:t>
            </a:r>
            <a:r>
              <a:rPr sz="1200" spc="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↔</a:t>
            </a:r>
            <a:r>
              <a:rPr sz="1200" spc="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1stFlrSF</a:t>
            </a:r>
            <a:endParaRPr sz="1200">
              <a:latin typeface="Arial MT"/>
              <a:cs typeface="Arial MT"/>
            </a:endParaRPr>
          </a:p>
          <a:p>
            <a:pPr marL="105410" indent="-92710">
              <a:lnSpc>
                <a:spcPct val="100000"/>
              </a:lnSpc>
              <a:spcBef>
                <a:spcPts val="960"/>
              </a:spcBef>
              <a:buChar char="•"/>
              <a:tabLst>
                <a:tab pos="105410" algn="l"/>
              </a:tabLst>
            </a:pP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YearBuilt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↔</a:t>
            </a:r>
            <a:r>
              <a:rPr sz="12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YearRemodAdd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19000"/>
              </a:lnSpc>
              <a:spcBef>
                <a:spcPts val="72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→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Feature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engineering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needed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to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capture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combined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signals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6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2416175"/>
            <a:ext cx="58750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Domain-Driven Feature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229" y="3111500"/>
            <a:ext cx="5024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3095" marR="5080" indent="-189103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Created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7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engineered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features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capture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complex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property characteristics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3914768"/>
            <a:ext cx="3009900" cy="1181100"/>
            <a:chOff x="761999" y="3914768"/>
            <a:chExt cx="3009900" cy="1181100"/>
          </a:xfrm>
        </p:grpSpPr>
        <p:sp>
          <p:nvSpPr>
            <p:cNvPr id="6" name="object 6"/>
            <p:cNvSpPr/>
            <p:nvPr/>
          </p:nvSpPr>
          <p:spPr>
            <a:xfrm>
              <a:off x="781049" y="3914781"/>
              <a:ext cx="2990850" cy="1181100"/>
            </a:xfrm>
            <a:custGeom>
              <a:avLst/>
              <a:gdLst/>
              <a:ahLst/>
              <a:cxnLst/>
              <a:rect l="l" t="t" r="r" b="b"/>
              <a:pathLst>
                <a:path w="2990850" h="1181100">
                  <a:moveTo>
                    <a:pt x="2884054" y="1181080"/>
                  </a:moveTo>
                  <a:lnTo>
                    <a:pt x="88995" y="1181080"/>
                  </a:lnTo>
                  <a:lnTo>
                    <a:pt x="82801" y="1180346"/>
                  </a:lnTo>
                  <a:lnTo>
                    <a:pt x="37131" y="1157650"/>
                  </a:lnTo>
                  <a:lnTo>
                    <a:pt x="12577" y="1124042"/>
                  </a:lnTo>
                  <a:lnTo>
                    <a:pt x="610" y="1081719"/>
                  </a:lnTo>
                  <a:lnTo>
                    <a:pt x="0" y="1074297"/>
                  </a:lnTo>
                  <a:lnTo>
                    <a:pt x="0" y="1066790"/>
                  </a:lnTo>
                  <a:lnTo>
                    <a:pt x="0" y="106783"/>
                  </a:lnTo>
                  <a:lnTo>
                    <a:pt x="9643" y="63614"/>
                  </a:lnTo>
                  <a:lnTo>
                    <a:pt x="32320" y="28155"/>
                  </a:lnTo>
                  <a:lnTo>
                    <a:pt x="64577" y="5813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3" y="11561"/>
                  </a:lnTo>
                  <a:lnTo>
                    <a:pt x="2962678" y="38769"/>
                  </a:lnTo>
                  <a:lnTo>
                    <a:pt x="2985021" y="77474"/>
                  </a:lnTo>
                  <a:lnTo>
                    <a:pt x="2990849" y="106783"/>
                  </a:lnTo>
                  <a:lnTo>
                    <a:pt x="2990849" y="1074297"/>
                  </a:lnTo>
                  <a:lnTo>
                    <a:pt x="2979276" y="1117448"/>
                  </a:lnTo>
                  <a:lnTo>
                    <a:pt x="2952064" y="1152915"/>
                  </a:lnTo>
                  <a:lnTo>
                    <a:pt x="2913356" y="1175258"/>
                  </a:lnTo>
                  <a:lnTo>
                    <a:pt x="2891487" y="1180346"/>
                  </a:lnTo>
                  <a:lnTo>
                    <a:pt x="2884054" y="118108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999" y="3914768"/>
              <a:ext cx="114300" cy="1181100"/>
            </a:xfrm>
            <a:custGeom>
              <a:avLst/>
              <a:gdLst/>
              <a:ahLst/>
              <a:cxnLst/>
              <a:rect l="l" t="t" r="r" b="b"/>
              <a:pathLst>
                <a:path w="114300" h="1181100">
                  <a:moveTo>
                    <a:pt x="114300" y="1181099"/>
                  </a:moveTo>
                  <a:lnTo>
                    <a:pt x="70559" y="1172402"/>
                  </a:lnTo>
                  <a:lnTo>
                    <a:pt x="33477" y="1147625"/>
                  </a:lnTo>
                  <a:lnTo>
                    <a:pt x="8700" y="1110543"/>
                  </a:lnTo>
                  <a:lnTo>
                    <a:pt x="0" y="10668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6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7" y="60367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066803"/>
                  </a:lnTo>
                  <a:lnTo>
                    <a:pt x="43900" y="1110543"/>
                  </a:lnTo>
                  <a:lnTo>
                    <a:pt x="60418" y="1147625"/>
                  </a:lnTo>
                  <a:lnTo>
                    <a:pt x="92213" y="1176209"/>
                  </a:lnTo>
                  <a:lnTo>
                    <a:pt x="106793" y="1180559"/>
                  </a:lnTo>
                  <a:lnTo>
                    <a:pt x="114300" y="11810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7900" y="4102100"/>
            <a:ext cx="256794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TotalSF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1stFlrSF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+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2ndFlrSF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+</a:t>
            </a:r>
            <a:r>
              <a:rPr sz="12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TotalBsmtSF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Complete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living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area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aggregation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1999" y="5210168"/>
            <a:ext cx="3009900" cy="1409700"/>
            <a:chOff x="761999" y="5210168"/>
            <a:chExt cx="3009900" cy="1409700"/>
          </a:xfrm>
        </p:grpSpPr>
        <p:sp>
          <p:nvSpPr>
            <p:cNvPr id="10" name="object 10"/>
            <p:cNvSpPr/>
            <p:nvPr/>
          </p:nvSpPr>
          <p:spPr>
            <a:xfrm>
              <a:off x="781049" y="5210171"/>
              <a:ext cx="2990850" cy="1409700"/>
            </a:xfrm>
            <a:custGeom>
              <a:avLst/>
              <a:gdLst/>
              <a:ahLst/>
              <a:cxnLst/>
              <a:rect l="l" t="t" r="r" b="b"/>
              <a:pathLst>
                <a:path w="2990850" h="1409700">
                  <a:moveTo>
                    <a:pt x="2884054" y="1409690"/>
                  </a:moveTo>
                  <a:lnTo>
                    <a:pt x="88995" y="1409690"/>
                  </a:lnTo>
                  <a:lnTo>
                    <a:pt x="82801" y="1408955"/>
                  </a:lnTo>
                  <a:lnTo>
                    <a:pt x="37131" y="1386259"/>
                  </a:lnTo>
                  <a:lnTo>
                    <a:pt x="12577" y="1352643"/>
                  </a:lnTo>
                  <a:lnTo>
                    <a:pt x="610" y="1310329"/>
                  </a:lnTo>
                  <a:lnTo>
                    <a:pt x="0" y="1302906"/>
                  </a:lnTo>
                  <a:lnTo>
                    <a:pt x="0" y="1295399"/>
                  </a:lnTo>
                  <a:lnTo>
                    <a:pt x="0" y="106793"/>
                  </a:lnTo>
                  <a:lnTo>
                    <a:pt x="9643" y="63614"/>
                  </a:lnTo>
                  <a:lnTo>
                    <a:pt x="32320" y="28165"/>
                  </a:lnTo>
                  <a:lnTo>
                    <a:pt x="64577" y="5814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3" y="11562"/>
                  </a:lnTo>
                  <a:lnTo>
                    <a:pt x="2962678" y="38769"/>
                  </a:lnTo>
                  <a:lnTo>
                    <a:pt x="2985021" y="77474"/>
                  </a:lnTo>
                  <a:lnTo>
                    <a:pt x="2990849" y="106793"/>
                  </a:lnTo>
                  <a:lnTo>
                    <a:pt x="2990849" y="1302906"/>
                  </a:lnTo>
                  <a:lnTo>
                    <a:pt x="2979276" y="1346057"/>
                  </a:lnTo>
                  <a:lnTo>
                    <a:pt x="2952064" y="1381524"/>
                  </a:lnTo>
                  <a:lnTo>
                    <a:pt x="2913356" y="1403858"/>
                  </a:lnTo>
                  <a:lnTo>
                    <a:pt x="2891487" y="1408955"/>
                  </a:lnTo>
                  <a:lnTo>
                    <a:pt x="2884054" y="140969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5210168"/>
              <a:ext cx="114300" cy="1409700"/>
            </a:xfrm>
            <a:custGeom>
              <a:avLst/>
              <a:gdLst/>
              <a:ahLst/>
              <a:cxnLst/>
              <a:rect l="l" t="t" r="r" b="b"/>
              <a:pathLst>
                <a:path w="114300" h="1409700">
                  <a:moveTo>
                    <a:pt x="114300" y="1409699"/>
                  </a:moveTo>
                  <a:lnTo>
                    <a:pt x="70559" y="1401002"/>
                  </a:lnTo>
                  <a:lnTo>
                    <a:pt x="33477" y="1376225"/>
                  </a:lnTo>
                  <a:lnTo>
                    <a:pt x="8700" y="1339143"/>
                  </a:lnTo>
                  <a:lnTo>
                    <a:pt x="0" y="12954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7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7" y="60368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295403"/>
                  </a:lnTo>
                  <a:lnTo>
                    <a:pt x="43900" y="1339143"/>
                  </a:lnTo>
                  <a:lnTo>
                    <a:pt x="60418" y="1376225"/>
                  </a:lnTo>
                  <a:lnTo>
                    <a:pt x="92213" y="1404808"/>
                  </a:lnTo>
                  <a:lnTo>
                    <a:pt x="106793" y="1409159"/>
                  </a:lnTo>
                  <a:lnTo>
                    <a:pt x="114300" y="14096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7900" y="5397499"/>
            <a:ext cx="233807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Total_Bathrooms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 FullBath + 0.5×HalfBath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+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BsmtFullBath +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0.5×BsmtHalfBath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Standardized</a:t>
            </a:r>
            <a:r>
              <a:rPr sz="1050" spc="-5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bathroom</a:t>
            </a:r>
            <a:r>
              <a:rPr sz="1050" spc="-5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count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1999" y="6734168"/>
            <a:ext cx="3009900" cy="1409700"/>
            <a:chOff x="761999" y="6734168"/>
            <a:chExt cx="3009900" cy="1409700"/>
          </a:xfrm>
        </p:grpSpPr>
        <p:sp>
          <p:nvSpPr>
            <p:cNvPr id="14" name="object 14"/>
            <p:cNvSpPr/>
            <p:nvPr/>
          </p:nvSpPr>
          <p:spPr>
            <a:xfrm>
              <a:off x="781049" y="6734181"/>
              <a:ext cx="2990850" cy="1409700"/>
            </a:xfrm>
            <a:custGeom>
              <a:avLst/>
              <a:gdLst/>
              <a:ahLst/>
              <a:cxnLst/>
              <a:rect l="l" t="t" r="r" b="b"/>
              <a:pathLst>
                <a:path w="2990850" h="1409700">
                  <a:moveTo>
                    <a:pt x="2884054" y="1409690"/>
                  </a:moveTo>
                  <a:lnTo>
                    <a:pt x="88995" y="1409690"/>
                  </a:lnTo>
                  <a:lnTo>
                    <a:pt x="82801" y="1408955"/>
                  </a:lnTo>
                  <a:lnTo>
                    <a:pt x="37131" y="1386240"/>
                  </a:lnTo>
                  <a:lnTo>
                    <a:pt x="12577" y="1352633"/>
                  </a:lnTo>
                  <a:lnTo>
                    <a:pt x="610" y="1310329"/>
                  </a:lnTo>
                  <a:lnTo>
                    <a:pt x="0" y="1302897"/>
                  </a:lnTo>
                  <a:lnTo>
                    <a:pt x="0" y="1295390"/>
                  </a:lnTo>
                  <a:lnTo>
                    <a:pt x="0" y="106783"/>
                  </a:lnTo>
                  <a:lnTo>
                    <a:pt x="9643" y="63614"/>
                  </a:lnTo>
                  <a:lnTo>
                    <a:pt x="32320" y="28155"/>
                  </a:lnTo>
                  <a:lnTo>
                    <a:pt x="64577" y="5804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3" y="11552"/>
                  </a:lnTo>
                  <a:lnTo>
                    <a:pt x="2962678" y="38769"/>
                  </a:lnTo>
                  <a:lnTo>
                    <a:pt x="2985021" y="77474"/>
                  </a:lnTo>
                  <a:lnTo>
                    <a:pt x="2990849" y="106783"/>
                  </a:lnTo>
                  <a:lnTo>
                    <a:pt x="2990849" y="1302897"/>
                  </a:lnTo>
                  <a:lnTo>
                    <a:pt x="2979276" y="1346048"/>
                  </a:lnTo>
                  <a:lnTo>
                    <a:pt x="2952064" y="1381505"/>
                  </a:lnTo>
                  <a:lnTo>
                    <a:pt x="2913356" y="1403848"/>
                  </a:lnTo>
                  <a:lnTo>
                    <a:pt x="2891487" y="1408955"/>
                  </a:lnTo>
                  <a:lnTo>
                    <a:pt x="2884054" y="140969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999" y="6734168"/>
              <a:ext cx="114300" cy="1409700"/>
            </a:xfrm>
            <a:custGeom>
              <a:avLst/>
              <a:gdLst/>
              <a:ahLst/>
              <a:cxnLst/>
              <a:rect l="l" t="t" r="r" b="b"/>
              <a:pathLst>
                <a:path w="114300" h="1409700">
                  <a:moveTo>
                    <a:pt x="114300" y="1409699"/>
                  </a:moveTo>
                  <a:lnTo>
                    <a:pt x="70559" y="1401002"/>
                  </a:lnTo>
                  <a:lnTo>
                    <a:pt x="33477" y="1376225"/>
                  </a:lnTo>
                  <a:lnTo>
                    <a:pt x="8700" y="1339143"/>
                  </a:lnTo>
                  <a:lnTo>
                    <a:pt x="0" y="12954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7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7" y="60368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295403"/>
                  </a:lnTo>
                  <a:lnTo>
                    <a:pt x="43900" y="1339143"/>
                  </a:lnTo>
                  <a:lnTo>
                    <a:pt x="60418" y="1376225"/>
                  </a:lnTo>
                  <a:lnTo>
                    <a:pt x="92213" y="1404808"/>
                  </a:lnTo>
                  <a:lnTo>
                    <a:pt x="106793" y="1409159"/>
                  </a:lnTo>
                  <a:lnTo>
                    <a:pt x="114300" y="14096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77900" y="6921500"/>
            <a:ext cx="235331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HouseAge</a:t>
            </a:r>
            <a:r>
              <a:rPr sz="1500" b="1" spc="-4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&amp;</a:t>
            </a:r>
            <a:r>
              <a:rPr sz="1500" b="1" spc="-4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RemodAge</a:t>
            </a:r>
            <a:endParaRPr sz="1500">
              <a:latin typeface="Arial"/>
              <a:cs typeface="Arial"/>
            </a:endParaRPr>
          </a:p>
          <a:p>
            <a:pPr marL="12700" marR="505459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YrSold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-</a:t>
            </a:r>
            <a:r>
              <a:rPr sz="12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YearBuilt,</a:t>
            </a:r>
            <a:r>
              <a:rPr sz="12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YrSold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-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YearRemodAdd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Captures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aging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and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renovation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recency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00499" y="3914768"/>
            <a:ext cx="3009900" cy="1181100"/>
            <a:chOff x="4000499" y="3914768"/>
            <a:chExt cx="3009900" cy="1181100"/>
          </a:xfrm>
        </p:grpSpPr>
        <p:sp>
          <p:nvSpPr>
            <p:cNvPr id="18" name="object 18"/>
            <p:cNvSpPr/>
            <p:nvPr/>
          </p:nvSpPr>
          <p:spPr>
            <a:xfrm>
              <a:off x="4019549" y="3914781"/>
              <a:ext cx="2990850" cy="1181100"/>
            </a:xfrm>
            <a:custGeom>
              <a:avLst/>
              <a:gdLst/>
              <a:ahLst/>
              <a:cxnLst/>
              <a:rect l="l" t="t" r="r" b="b"/>
              <a:pathLst>
                <a:path w="2990850" h="1181100">
                  <a:moveTo>
                    <a:pt x="2884054" y="1181080"/>
                  </a:moveTo>
                  <a:lnTo>
                    <a:pt x="88995" y="1181080"/>
                  </a:lnTo>
                  <a:lnTo>
                    <a:pt x="82801" y="1180346"/>
                  </a:lnTo>
                  <a:lnTo>
                    <a:pt x="37131" y="1157650"/>
                  </a:lnTo>
                  <a:lnTo>
                    <a:pt x="12577" y="1124042"/>
                  </a:lnTo>
                  <a:lnTo>
                    <a:pt x="610" y="1081719"/>
                  </a:lnTo>
                  <a:lnTo>
                    <a:pt x="0" y="1074297"/>
                  </a:lnTo>
                  <a:lnTo>
                    <a:pt x="0" y="1066790"/>
                  </a:lnTo>
                  <a:lnTo>
                    <a:pt x="0" y="106783"/>
                  </a:lnTo>
                  <a:lnTo>
                    <a:pt x="9643" y="63614"/>
                  </a:lnTo>
                  <a:lnTo>
                    <a:pt x="32320" y="28155"/>
                  </a:lnTo>
                  <a:lnTo>
                    <a:pt x="64577" y="5813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4" y="11561"/>
                  </a:lnTo>
                  <a:lnTo>
                    <a:pt x="2962679" y="38769"/>
                  </a:lnTo>
                  <a:lnTo>
                    <a:pt x="2985020" y="77474"/>
                  </a:lnTo>
                  <a:lnTo>
                    <a:pt x="2990850" y="106783"/>
                  </a:lnTo>
                  <a:lnTo>
                    <a:pt x="2990850" y="1074297"/>
                  </a:lnTo>
                  <a:lnTo>
                    <a:pt x="2979276" y="1117448"/>
                  </a:lnTo>
                  <a:lnTo>
                    <a:pt x="2952065" y="1152915"/>
                  </a:lnTo>
                  <a:lnTo>
                    <a:pt x="2913356" y="1175258"/>
                  </a:lnTo>
                  <a:lnTo>
                    <a:pt x="2891487" y="1180346"/>
                  </a:lnTo>
                  <a:lnTo>
                    <a:pt x="2884054" y="118108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0499" y="3914768"/>
              <a:ext cx="114300" cy="1181100"/>
            </a:xfrm>
            <a:custGeom>
              <a:avLst/>
              <a:gdLst/>
              <a:ahLst/>
              <a:cxnLst/>
              <a:rect l="l" t="t" r="r" b="b"/>
              <a:pathLst>
                <a:path w="114300" h="1181100">
                  <a:moveTo>
                    <a:pt x="114300" y="1181099"/>
                  </a:moveTo>
                  <a:lnTo>
                    <a:pt x="70559" y="1172402"/>
                  </a:lnTo>
                  <a:lnTo>
                    <a:pt x="33477" y="1147625"/>
                  </a:lnTo>
                  <a:lnTo>
                    <a:pt x="8700" y="1110543"/>
                  </a:lnTo>
                  <a:lnTo>
                    <a:pt x="0" y="10668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6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8" y="60367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066803"/>
                  </a:lnTo>
                  <a:lnTo>
                    <a:pt x="43900" y="1110543"/>
                  </a:lnTo>
                  <a:lnTo>
                    <a:pt x="60418" y="1147625"/>
                  </a:lnTo>
                  <a:lnTo>
                    <a:pt x="92213" y="1176209"/>
                  </a:lnTo>
                  <a:lnTo>
                    <a:pt x="106793" y="1180559"/>
                  </a:lnTo>
                  <a:lnTo>
                    <a:pt x="114300" y="11810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16400" y="4102100"/>
            <a:ext cx="182118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OverallQualArea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 OverallQual ×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GrLivArea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Quality-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size</a:t>
            </a:r>
            <a:r>
              <a:rPr sz="1050" spc="-1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interaction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term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00499" y="5210168"/>
            <a:ext cx="3009900" cy="1409700"/>
            <a:chOff x="4000499" y="5210168"/>
            <a:chExt cx="3009900" cy="1409700"/>
          </a:xfrm>
        </p:grpSpPr>
        <p:sp>
          <p:nvSpPr>
            <p:cNvPr id="22" name="object 22"/>
            <p:cNvSpPr/>
            <p:nvPr/>
          </p:nvSpPr>
          <p:spPr>
            <a:xfrm>
              <a:off x="4019549" y="5210171"/>
              <a:ext cx="2990850" cy="1409700"/>
            </a:xfrm>
            <a:custGeom>
              <a:avLst/>
              <a:gdLst/>
              <a:ahLst/>
              <a:cxnLst/>
              <a:rect l="l" t="t" r="r" b="b"/>
              <a:pathLst>
                <a:path w="2990850" h="1409700">
                  <a:moveTo>
                    <a:pt x="2884054" y="1409690"/>
                  </a:moveTo>
                  <a:lnTo>
                    <a:pt x="88995" y="1409690"/>
                  </a:lnTo>
                  <a:lnTo>
                    <a:pt x="82801" y="1408955"/>
                  </a:lnTo>
                  <a:lnTo>
                    <a:pt x="37131" y="1386259"/>
                  </a:lnTo>
                  <a:lnTo>
                    <a:pt x="12577" y="1352643"/>
                  </a:lnTo>
                  <a:lnTo>
                    <a:pt x="610" y="1310329"/>
                  </a:lnTo>
                  <a:lnTo>
                    <a:pt x="0" y="1302906"/>
                  </a:lnTo>
                  <a:lnTo>
                    <a:pt x="0" y="1295399"/>
                  </a:lnTo>
                  <a:lnTo>
                    <a:pt x="0" y="106793"/>
                  </a:lnTo>
                  <a:lnTo>
                    <a:pt x="9643" y="63614"/>
                  </a:lnTo>
                  <a:lnTo>
                    <a:pt x="32320" y="28165"/>
                  </a:lnTo>
                  <a:lnTo>
                    <a:pt x="64577" y="5814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4" y="11562"/>
                  </a:lnTo>
                  <a:lnTo>
                    <a:pt x="2962679" y="38769"/>
                  </a:lnTo>
                  <a:lnTo>
                    <a:pt x="2985020" y="77474"/>
                  </a:lnTo>
                  <a:lnTo>
                    <a:pt x="2990850" y="106793"/>
                  </a:lnTo>
                  <a:lnTo>
                    <a:pt x="2990850" y="1302906"/>
                  </a:lnTo>
                  <a:lnTo>
                    <a:pt x="2979276" y="1346057"/>
                  </a:lnTo>
                  <a:lnTo>
                    <a:pt x="2952065" y="1381524"/>
                  </a:lnTo>
                  <a:lnTo>
                    <a:pt x="2913356" y="1403858"/>
                  </a:lnTo>
                  <a:lnTo>
                    <a:pt x="2891487" y="1408955"/>
                  </a:lnTo>
                  <a:lnTo>
                    <a:pt x="2884054" y="140969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00499" y="5210168"/>
              <a:ext cx="114300" cy="1409700"/>
            </a:xfrm>
            <a:custGeom>
              <a:avLst/>
              <a:gdLst/>
              <a:ahLst/>
              <a:cxnLst/>
              <a:rect l="l" t="t" r="r" b="b"/>
              <a:pathLst>
                <a:path w="114300" h="1409700">
                  <a:moveTo>
                    <a:pt x="114300" y="1409699"/>
                  </a:moveTo>
                  <a:lnTo>
                    <a:pt x="70559" y="1401002"/>
                  </a:lnTo>
                  <a:lnTo>
                    <a:pt x="33477" y="1376225"/>
                  </a:lnTo>
                  <a:lnTo>
                    <a:pt x="8700" y="1339143"/>
                  </a:lnTo>
                  <a:lnTo>
                    <a:pt x="0" y="12954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7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8" y="60368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295403"/>
                  </a:lnTo>
                  <a:lnTo>
                    <a:pt x="43900" y="1339143"/>
                  </a:lnTo>
                  <a:lnTo>
                    <a:pt x="60418" y="1376225"/>
                  </a:lnTo>
                  <a:lnTo>
                    <a:pt x="92213" y="1404808"/>
                  </a:lnTo>
                  <a:lnTo>
                    <a:pt x="106793" y="1409159"/>
                  </a:lnTo>
                  <a:lnTo>
                    <a:pt x="114300" y="14096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16400" y="5397499"/>
            <a:ext cx="2113915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QualityScore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 OverallQual + OverallCond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+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KitchenQual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Composite</a:t>
            </a:r>
            <a:r>
              <a:rPr sz="1050" spc="-4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quality</a:t>
            </a:r>
            <a:r>
              <a:rPr sz="1050" spc="-4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metric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00499" y="6734168"/>
            <a:ext cx="3009900" cy="1409700"/>
            <a:chOff x="4000499" y="6734168"/>
            <a:chExt cx="3009900" cy="1409700"/>
          </a:xfrm>
        </p:grpSpPr>
        <p:sp>
          <p:nvSpPr>
            <p:cNvPr id="26" name="object 26"/>
            <p:cNvSpPr/>
            <p:nvPr/>
          </p:nvSpPr>
          <p:spPr>
            <a:xfrm>
              <a:off x="4019549" y="6734181"/>
              <a:ext cx="2990850" cy="1409700"/>
            </a:xfrm>
            <a:custGeom>
              <a:avLst/>
              <a:gdLst/>
              <a:ahLst/>
              <a:cxnLst/>
              <a:rect l="l" t="t" r="r" b="b"/>
              <a:pathLst>
                <a:path w="2990850" h="1409700">
                  <a:moveTo>
                    <a:pt x="2884054" y="1409690"/>
                  </a:moveTo>
                  <a:lnTo>
                    <a:pt x="88995" y="1409690"/>
                  </a:lnTo>
                  <a:lnTo>
                    <a:pt x="82801" y="1408955"/>
                  </a:lnTo>
                  <a:lnTo>
                    <a:pt x="37131" y="1386240"/>
                  </a:lnTo>
                  <a:lnTo>
                    <a:pt x="12577" y="1352633"/>
                  </a:lnTo>
                  <a:lnTo>
                    <a:pt x="610" y="1310329"/>
                  </a:lnTo>
                  <a:lnTo>
                    <a:pt x="0" y="1302897"/>
                  </a:lnTo>
                  <a:lnTo>
                    <a:pt x="0" y="1295390"/>
                  </a:lnTo>
                  <a:lnTo>
                    <a:pt x="0" y="106783"/>
                  </a:lnTo>
                  <a:lnTo>
                    <a:pt x="9643" y="63614"/>
                  </a:lnTo>
                  <a:lnTo>
                    <a:pt x="32320" y="28155"/>
                  </a:lnTo>
                  <a:lnTo>
                    <a:pt x="64577" y="5804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4" y="11552"/>
                  </a:lnTo>
                  <a:lnTo>
                    <a:pt x="2962679" y="38769"/>
                  </a:lnTo>
                  <a:lnTo>
                    <a:pt x="2985020" y="77474"/>
                  </a:lnTo>
                  <a:lnTo>
                    <a:pt x="2990850" y="106783"/>
                  </a:lnTo>
                  <a:lnTo>
                    <a:pt x="2990850" y="1302897"/>
                  </a:lnTo>
                  <a:lnTo>
                    <a:pt x="2979276" y="1346048"/>
                  </a:lnTo>
                  <a:lnTo>
                    <a:pt x="2952065" y="1381505"/>
                  </a:lnTo>
                  <a:lnTo>
                    <a:pt x="2913356" y="1403848"/>
                  </a:lnTo>
                  <a:lnTo>
                    <a:pt x="2891487" y="1408955"/>
                  </a:lnTo>
                  <a:lnTo>
                    <a:pt x="2884054" y="140969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00499" y="6734168"/>
              <a:ext cx="114300" cy="1409700"/>
            </a:xfrm>
            <a:custGeom>
              <a:avLst/>
              <a:gdLst/>
              <a:ahLst/>
              <a:cxnLst/>
              <a:rect l="l" t="t" r="r" b="b"/>
              <a:pathLst>
                <a:path w="114300" h="1409700">
                  <a:moveTo>
                    <a:pt x="114300" y="1409699"/>
                  </a:moveTo>
                  <a:lnTo>
                    <a:pt x="70559" y="1401002"/>
                  </a:lnTo>
                  <a:lnTo>
                    <a:pt x="33477" y="1376225"/>
                  </a:lnTo>
                  <a:lnTo>
                    <a:pt x="8700" y="1339143"/>
                  </a:lnTo>
                  <a:lnTo>
                    <a:pt x="0" y="1295403"/>
                  </a:lnTo>
                  <a:lnTo>
                    <a:pt x="0" y="114303"/>
                  </a:lnTo>
                  <a:lnTo>
                    <a:pt x="8700" y="70562"/>
                  </a:lnTo>
                  <a:lnTo>
                    <a:pt x="33477" y="33480"/>
                  </a:lnTo>
                  <a:lnTo>
                    <a:pt x="70559" y="8703"/>
                  </a:lnTo>
                  <a:lnTo>
                    <a:pt x="114300" y="0"/>
                  </a:lnTo>
                  <a:lnTo>
                    <a:pt x="106793" y="547"/>
                  </a:lnTo>
                  <a:lnTo>
                    <a:pt x="99431" y="2178"/>
                  </a:lnTo>
                  <a:lnTo>
                    <a:pt x="65982" y="25903"/>
                  </a:lnTo>
                  <a:lnTo>
                    <a:pt x="47108" y="60368"/>
                  </a:lnTo>
                  <a:lnTo>
                    <a:pt x="38462" y="103043"/>
                  </a:lnTo>
                  <a:lnTo>
                    <a:pt x="38100" y="114303"/>
                  </a:lnTo>
                  <a:lnTo>
                    <a:pt x="38100" y="1295403"/>
                  </a:lnTo>
                  <a:lnTo>
                    <a:pt x="43900" y="1339143"/>
                  </a:lnTo>
                  <a:lnTo>
                    <a:pt x="60418" y="1376225"/>
                  </a:lnTo>
                  <a:lnTo>
                    <a:pt x="92213" y="1404808"/>
                  </a:lnTo>
                  <a:lnTo>
                    <a:pt x="106793" y="1409159"/>
                  </a:lnTo>
                  <a:lnTo>
                    <a:pt x="114300" y="14096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16400" y="6921500"/>
            <a:ext cx="2453005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TotalPorch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 OpenPorchSF + EnclosedPorch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+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3SsnPorch +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ScreenPorch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Total</a:t>
            </a:r>
            <a:r>
              <a:rPr sz="1050" spc="-5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outdoor/porch</a:t>
            </a:r>
            <a:r>
              <a:rPr sz="1050" spc="-5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area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9" y="2854325"/>
            <a:ext cx="5017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Categorical Encoding </a:t>
            </a:r>
            <a:r>
              <a:rPr spc="-10" dirty="0"/>
              <a:t>Strategy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590921"/>
            <a:ext cx="1933574" cy="4114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7900" y="4526915"/>
            <a:ext cx="13023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For features 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with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natural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ordering: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7900" y="5218430"/>
            <a:ext cx="1473835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ExterQual: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Ex(5),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Gd(4),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TA(3),</a:t>
            </a:r>
            <a:endParaRPr sz="120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Fa(2),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Po(1)</a:t>
            </a:r>
            <a:endParaRPr sz="1200">
              <a:latin typeface="Arial MT"/>
              <a:cs typeface="Arial MT"/>
            </a:endParaRPr>
          </a:p>
          <a:p>
            <a:pPr marL="240665" marR="29845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BsmtQual: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Excellent to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None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(5-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0)</a:t>
            </a:r>
            <a:endParaRPr sz="1200">
              <a:latin typeface="Arial MT"/>
              <a:cs typeface="Arial MT"/>
            </a:endParaRPr>
          </a:p>
          <a:p>
            <a:pPr marL="240665" marR="199390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GarageFinish: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Fin, RFn,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Unf, None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4174" y="3590921"/>
            <a:ext cx="1924049" cy="41147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36800" y="4526915"/>
            <a:ext cx="9309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nominal categories: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6800" y="5218430"/>
            <a:ext cx="1490980" cy="2250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solidFill>
                  <a:srgbClr val="164E9C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64E9C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Neighborhood:</a:t>
            </a: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25 unique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areas</a:t>
            </a:r>
            <a:endParaRPr sz="1200">
              <a:latin typeface="Arial MT"/>
              <a:cs typeface="Arial MT"/>
            </a:endParaRPr>
          </a:p>
          <a:p>
            <a:pPr marL="240665" marR="5080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64E9C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64E9C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HouseStyle: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8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architectural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types</a:t>
            </a:r>
            <a:endParaRPr sz="1200">
              <a:latin typeface="Arial MT"/>
              <a:cs typeface="Arial MT"/>
            </a:endParaRPr>
          </a:p>
          <a:p>
            <a:pPr marL="240665" marR="302260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64E9C"/>
                </a:solidFill>
                <a:latin typeface="Arial MT"/>
                <a:cs typeface="Arial MT"/>
              </a:rPr>
              <a:t>→</a:t>
            </a:r>
            <a:r>
              <a:rPr sz="1200" spc="225" dirty="0">
                <a:solidFill>
                  <a:srgbClr val="164E9C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MSZoning:</a:t>
            </a:r>
            <a:r>
              <a:rPr sz="1200" b="1" spc="-2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5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zoning classifications</a:t>
            </a:r>
            <a:endParaRPr sz="1200">
              <a:latin typeface="Arial MT"/>
              <a:cs typeface="Arial MT"/>
            </a:endParaRPr>
          </a:p>
          <a:p>
            <a:pPr marL="12700" marR="180340">
              <a:lnSpc>
                <a:spcPct val="119000"/>
              </a:lnSpc>
              <a:spcBef>
                <a:spcPts val="720"/>
              </a:spcBef>
            </a:pP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Train/Test</a:t>
            </a:r>
            <a:r>
              <a:rPr sz="1050" spc="1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alignment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automatically</a:t>
            </a:r>
            <a:r>
              <a:rPr sz="1050" spc="-6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handled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6824" y="3590921"/>
            <a:ext cx="1933575" cy="41147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95850" y="3776345"/>
            <a:ext cx="11010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1C242F"/>
                </a:solidFill>
                <a:latin typeface="Arial"/>
                <a:cs typeface="Arial"/>
              </a:rPr>
              <a:t>Train-</a:t>
            </a:r>
            <a:r>
              <a:rPr sz="1800" b="1" spc="-45" dirty="0">
                <a:solidFill>
                  <a:srgbClr val="1C242F"/>
                </a:solidFill>
                <a:latin typeface="Arial"/>
                <a:cs typeface="Arial"/>
              </a:rPr>
              <a:t>Test </a:t>
            </a: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Split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5850" y="4526915"/>
            <a:ext cx="105473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80/20 split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validation: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5850" y="5218430"/>
            <a:ext cx="1490980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148590" indent="-22860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80% training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set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for model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fitting</a:t>
            </a:r>
            <a:endParaRPr sz="1200">
              <a:latin typeface="Arial MT"/>
              <a:cs typeface="Arial MT"/>
            </a:endParaRPr>
          </a:p>
          <a:p>
            <a:pPr marL="240665" marR="5080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20% validation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set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evaluation</a:t>
            </a:r>
            <a:endParaRPr sz="1200">
              <a:latin typeface="Arial MT"/>
              <a:cs typeface="Arial MT"/>
            </a:endParaRPr>
          </a:p>
          <a:p>
            <a:pPr marL="240665" marR="284480" indent="-22860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200" spc="265" dirty="0">
                <a:solidFill>
                  <a:srgbClr val="1CC8C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5-fold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cross-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validation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robust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metrics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6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Development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Comparison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73535" y="2625725"/>
            <a:ext cx="4225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5-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Fold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Cross-Validation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Performance</a:t>
            </a:r>
            <a:r>
              <a:rPr sz="1500" spc="-5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Comparison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3124195"/>
            <a:ext cx="3048000" cy="1581150"/>
            <a:chOff x="761999" y="3124195"/>
            <a:chExt cx="3048000" cy="1581150"/>
          </a:xfrm>
        </p:grpSpPr>
        <p:sp>
          <p:nvSpPr>
            <p:cNvPr id="6" name="object 6"/>
            <p:cNvSpPr/>
            <p:nvPr/>
          </p:nvSpPr>
          <p:spPr>
            <a:xfrm>
              <a:off x="766762" y="3128958"/>
              <a:ext cx="3038475" cy="1571625"/>
            </a:xfrm>
            <a:custGeom>
              <a:avLst/>
              <a:gdLst/>
              <a:ahLst/>
              <a:cxnLst/>
              <a:rect l="l" t="t" r="r" b="b"/>
              <a:pathLst>
                <a:path w="3038475" h="1571625">
                  <a:moveTo>
                    <a:pt x="2936129" y="1571624"/>
                  </a:moveTo>
                  <a:lnTo>
                    <a:pt x="102345" y="1571624"/>
                  </a:lnTo>
                  <a:lnTo>
                    <a:pt x="95221" y="1570918"/>
                  </a:lnTo>
                  <a:lnTo>
                    <a:pt x="54661" y="1557142"/>
                  </a:lnTo>
                  <a:lnTo>
                    <a:pt x="22456" y="1528920"/>
                  </a:lnTo>
                  <a:lnTo>
                    <a:pt x="3507" y="1490504"/>
                  </a:lnTo>
                  <a:lnTo>
                    <a:pt x="0" y="1469277"/>
                  </a:lnTo>
                  <a:lnTo>
                    <a:pt x="0" y="1462087"/>
                  </a:lnTo>
                  <a:lnTo>
                    <a:pt x="0" y="102337"/>
                  </a:lnTo>
                  <a:lnTo>
                    <a:pt x="11090" y="60954"/>
                  </a:lnTo>
                  <a:lnTo>
                    <a:pt x="37168" y="26984"/>
                  </a:lnTo>
                  <a:lnTo>
                    <a:pt x="74264" y="5572"/>
                  </a:lnTo>
                  <a:lnTo>
                    <a:pt x="102345" y="0"/>
                  </a:lnTo>
                  <a:lnTo>
                    <a:pt x="2936129" y="0"/>
                  </a:lnTo>
                  <a:lnTo>
                    <a:pt x="2977499" y="11088"/>
                  </a:lnTo>
                  <a:lnTo>
                    <a:pt x="3011477" y="37160"/>
                  </a:lnTo>
                  <a:lnTo>
                    <a:pt x="3032888" y="74246"/>
                  </a:lnTo>
                  <a:lnTo>
                    <a:pt x="3038474" y="102337"/>
                  </a:lnTo>
                  <a:lnTo>
                    <a:pt x="3038474" y="1469277"/>
                  </a:lnTo>
                  <a:lnTo>
                    <a:pt x="3027383" y="1510642"/>
                  </a:lnTo>
                  <a:lnTo>
                    <a:pt x="3001305" y="1544621"/>
                  </a:lnTo>
                  <a:lnTo>
                    <a:pt x="2964210" y="1566025"/>
                  </a:lnTo>
                  <a:lnTo>
                    <a:pt x="2943252" y="1570918"/>
                  </a:lnTo>
                  <a:lnTo>
                    <a:pt x="2936129" y="1571624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6762" y="3128958"/>
              <a:ext cx="3038475" cy="1571625"/>
            </a:xfrm>
            <a:custGeom>
              <a:avLst/>
              <a:gdLst/>
              <a:ahLst/>
              <a:cxnLst/>
              <a:rect l="l" t="t" r="r" b="b"/>
              <a:pathLst>
                <a:path w="3038475" h="1571625">
                  <a:moveTo>
                    <a:pt x="0" y="1462087"/>
                  </a:moveTo>
                  <a:lnTo>
                    <a:pt x="0" y="109537"/>
                  </a:lnTo>
                  <a:lnTo>
                    <a:pt x="0" y="102337"/>
                  </a:lnTo>
                  <a:lnTo>
                    <a:pt x="701" y="95212"/>
                  </a:lnTo>
                  <a:lnTo>
                    <a:pt x="2104" y="88162"/>
                  </a:lnTo>
                  <a:lnTo>
                    <a:pt x="3507" y="81101"/>
                  </a:lnTo>
                  <a:lnTo>
                    <a:pt x="5585" y="74246"/>
                  </a:lnTo>
                  <a:lnTo>
                    <a:pt x="8338" y="67605"/>
                  </a:lnTo>
                  <a:lnTo>
                    <a:pt x="11090" y="60954"/>
                  </a:lnTo>
                  <a:lnTo>
                    <a:pt x="14464" y="54647"/>
                  </a:lnTo>
                  <a:lnTo>
                    <a:pt x="18460" y="48667"/>
                  </a:lnTo>
                  <a:lnTo>
                    <a:pt x="22456" y="42685"/>
                  </a:lnTo>
                  <a:lnTo>
                    <a:pt x="26997" y="37160"/>
                  </a:lnTo>
                  <a:lnTo>
                    <a:pt x="60974" y="11088"/>
                  </a:lnTo>
                  <a:lnTo>
                    <a:pt x="88167" y="2102"/>
                  </a:lnTo>
                  <a:lnTo>
                    <a:pt x="95221" y="697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928937" y="0"/>
                  </a:lnTo>
                  <a:lnTo>
                    <a:pt x="2936129" y="0"/>
                  </a:lnTo>
                  <a:lnTo>
                    <a:pt x="2943252" y="697"/>
                  </a:lnTo>
                  <a:lnTo>
                    <a:pt x="2950306" y="2102"/>
                  </a:lnTo>
                  <a:lnTo>
                    <a:pt x="2957360" y="3497"/>
                  </a:lnTo>
                  <a:lnTo>
                    <a:pt x="2995772" y="22444"/>
                  </a:lnTo>
                  <a:lnTo>
                    <a:pt x="3020014" y="48667"/>
                  </a:lnTo>
                  <a:lnTo>
                    <a:pt x="3024009" y="54647"/>
                  </a:lnTo>
                  <a:lnTo>
                    <a:pt x="3027383" y="60954"/>
                  </a:lnTo>
                  <a:lnTo>
                    <a:pt x="3030136" y="67605"/>
                  </a:lnTo>
                  <a:lnTo>
                    <a:pt x="3032888" y="74246"/>
                  </a:lnTo>
                  <a:lnTo>
                    <a:pt x="3034966" y="81101"/>
                  </a:lnTo>
                  <a:lnTo>
                    <a:pt x="3036369" y="88162"/>
                  </a:lnTo>
                  <a:lnTo>
                    <a:pt x="3037772" y="95212"/>
                  </a:lnTo>
                  <a:lnTo>
                    <a:pt x="3038474" y="102337"/>
                  </a:lnTo>
                  <a:lnTo>
                    <a:pt x="3038474" y="109537"/>
                  </a:lnTo>
                  <a:lnTo>
                    <a:pt x="3038474" y="1462087"/>
                  </a:lnTo>
                  <a:lnTo>
                    <a:pt x="3038474" y="1469277"/>
                  </a:lnTo>
                  <a:lnTo>
                    <a:pt x="3037772" y="1476393"/>
                  </a:lnTo>
                  <a:lnTo>
                    <a:pt x="3036369" y="1483444"/>
                  </a:lnTo>
                  <a:lnTo>
                    <a:pt x="3034966" y="1490504"/>
                  </a:lnTo>
                  <a:lnTo>
                    <a:pt x="3032888" y="1497349"/>
                  </a:lnTo>
                  <a:lnTo>
                    <a:pt x="3030136" y="1503991"/>
                  </a:lnTo>
                  <a:lnTo>
                    <a:pt x="3027383" y="1510642"/>
                  </a:lnTo>
                  <a:lnTo>
                    <a:pt x="3001305" y="1544621"/>
                  </a:lnTo>
                  <a:lnTo>
                    <a:pt x="2989792" y="1553151"/>
                  </a:lnTo>
                  <a:lnTo>
                    <a:pt x="2983812" y="1557142"/>
                  </a:lnTo>
                  <a:lnTo>
                    <a:pt x="2977499" y="1560518"/>
                  </a:lnTo>
                  <a:lnTo>
                    <a:pt x="2970855" y="1563271"/>
                  </a:lnTo>
                  <a:lnTo>
                    <a:pt x="2964210" y="1566025"/>
                  </a:lnTo>
                  <a:lnTo>
                    <a:pt x="2957360" y="1568109"/>
                  </a:lnTo>
                  <a:lnTo>
                    <a:pt x="2950306" y="1569513"/>
                  </a:lnTo>
                  <a:lnTo>
                    <a:pt x="2943252" y="1570918"/>
                  </a:lnTo>
                  <a:lnTo>
                    <a:pt x="2936129" y="1571624"/>
                  </a:lnTo>
                  <a:lnTo>
                    <a:pt x="2928937" y="1571624"/>
                  </a:lnTo>
                  <a:lnTo>
                    <a:pt x="109537" y="1571624"/>
                  </a:lnTo>
                  <a:lnTo>
                    <a:pt x="102345" y="1571624"/>
                  </a:lnTo>
                  <a:lnTo>
                    <a:pt x="95221" y="1570918"/>
                  </a:lnTo>
                  <a:lnTo>
                    <a:pt x="88167" y="1569513"/>
                  </a:lnTo>
                  <a:lnTo>
                    <a:pt x="81113" y="1568109"/>
                  </a:lnTo>
                  <a:lnTo>
                    <a:pt x="74264" y="1566025"/>
                  </a:lnTo>
                  <a:lnTo>
                    <a:pt x="67619" y="1563271"/>
                  </a:lnTo>
                  <a:lnTo>
                    <a:pt x="60974" y="1560518"/>
                  </a:lnTo>
                  <a:lnTo>
                    <a:pt x="54661" y="1557142"/>
                  </a:lnTo>
                  <a:lnTo>
                    <a:pt x="48681" y="1553151"/>
                  </a:lnTo>
                  <a:lnTo>
                    <a:pt x="42701" y="1549161"/>
                  </a:lnTo>
                  <a:lnTo>
                    <a:pt x="14464" y="1516958"/>
                  </a:lnTo>
                  <a:lnTo>
                    <a:pt x="8338" y="1503991"/>
                  </a:lnTo>
                  <a:lnTo>
                    <a:pt x="5585" y="1497349"/>
                  </a:lnTo>
                  <a:lnTo>
                    <a:pt x="3507" y="1490504"/>
                  </a:lnTo>
                  <a:lnTo>
                    <a:pt x="2104" y="1483444"/>
                  </a:lnTo>
                  <a:lnTo>
                    <a:pt x="701" y="1476393"/>
                  </a:lnTo>
                  <a:lnTo>
                    <a:pt x="0" y="1469277"/>
                  </a:lnTo>
                  <a:lnTo>
                    <a:pt x="0" y="14620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425" y="3319145"/>
            <a:ext cx="1482725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6535">
              <a:lnSpc>
                <a:spcPct val="1111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Linear Regression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Baseline linear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9831" y="3597275"/>
            <a:ext cx="7251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20" dirty="0">
                <a:solidFill>
                  <a:srgbClr val="1CC8C8"/>
                </a:solidFill>
                <a:latin typeface="Arial"/>
                <a:cs typeface="Arial"/>
              </a:rPr>
              <a:t>0.911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62399" y="3124195"/>
            <a:ext cx="3048000" cy="1581150"/>
            <a:chOff x="3962399" y="3124195"/>
            <a:chExt cx="3048000" cy="1581150"/>
          </a:xfrm>
        </p:grpSpPr>
        <p:sp>
          <p:nvSpPr>
            <p:cNvPr id="11" name="object 11"/>
            <p:cNvSpPr/>
            <p:nvPr/>
          </p:nvSpPr>
          <p:spPr>
            <a:xfrm>
              <a:off x="3967161" y="3128958"/>
              <a:ext cx="3038475" cy="1571625"/>
            </a:xfrm>
            <a:custGeom>
              <a:avLst/>
              <a:gdLst/>
              <a:ahLst/>
              <a:cxnLst/>
              <a:rect l="l" t="t" r="r" b="b"/>
              <a:pathLst>
                <a:path w="3038475" h="1571625">
                  <a:moveTo>
                    <a:pt x="2936129" y="1571624"/>
                  </a:moveTo>
                  <a:lnTo>
                    <a:pt x="102345" y="1571624"/>
                  </a:lnTo>
                  <a:lnTo>
                    <a:pt x="95221" y="1570918"/>
                  </a:lnTo>
                  <a:lnTo>
                    <a:pt x="54662" y="1557142"/>
                  </a:lnTo>
                  <a:lnTo>
                    <a:pt x="22456" y="1528920"/>
                  </a:lnTo>
                  <a:lnTo>
                    <a:pt x="3507" y="1490504"/>
                  </a:lnTo>
                  <a:lnTo>
                    <a:pt x="0" y="1469277"/>
                  </a:lnTo>
                  <a:lnTo>
                    <a:pt x="0" y="1462087"/>
                  </a:lnTo>
                  <a:lnTo>
                    <a:pt x="0" y="102337"/>
                  </a:lnTo>
                  <a:lnTo>
                    <a:pt x="11090" y="60954"/>
                  </a:lnTo>
                  <a:lnTo>
                    <a:pt x="37168" y="26984"/>
                  </a:lnTo>
                  <a:lnTo>
                    <a:pt x="74264" y="5572"/>
                  </a:lnTo>
                  <a:lnTo>
                    <a:pt x="102345" y="0"/>
                  </a:lnTo>
                  <a:lnTo>
                    <a:pt x="2936129" y="0"/>
                  </a:lnTo>
                  <a:lnTo>
                    <a:pt x="2977499" y="11088"/>
                  </a:lnTo>
                  <a:lnTo>
                    <a:pt x="3011477" y="37160"/>
                  </a:lnTo>
                  <a:lnTo>
                    <a:pt x="3032888" y="74246"/>
                  </a:lnTo>
                  <a:lnTo>
                    <a:pt x="3038474" y="102337"/>
                  </a:lnTo>
                  <a:lnTo>
                    <a:pt x="3038474" y="1469277"/>
                  </a:lnTo>
                  <a:lnTo>
                    <a:pt x="3027383" y="1510642"/>
                  </a:lnTo>
                  <a:lnTo>
                    <a:pt x="3001305" y="1544621"/>
                  </a:lnTo>
                  <a:lnTo>
                    <a:pt x="2964209" y="1566025"/>
                  </a:lnTo>
                  <a:lnTo>
                    <a:pt x="2943252" y="1570918"/>
                  </a:lnTo>
                  <a:lnTo>
                    <a:pt x="2936129" y="1571624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7161" y="3128958"/>
              <a:ext cx="3038475" cy="1571625"/>
            </a:xfrm>
            <a:custGeom>
              <a:avLst/>
              <a:gdLst/>
              <a:ahLst/>
              <a:cxnLst/>
              <a:rect l="l" t="t" r="r" b="b"/>
              <a:pathLst>
                <a:path w="3038475" h="1571625">
                  <a:moveTo>
                    <a:pt x="0" y="1462087"/>
                  </a:moveTo>
                  <a:lnTo>
                    <a:pt x="0" y="109537"/>
                  </a:lnTo>
                  <a:lnTo>
                    <a:pt x="0" y="102337"/>
                  </a:lnTo>
                  <a:lnTo>
                    <a:pt x="701" y="95212"/>
                  </a:lnTo>
                  <a:lnTo>
                    <a:pt x="2104" y="88162"/>
                  </a:lnTo>
                  <a:lnTo>
                    <a:pt x="3507" y="81101"/>
                  </a:lnTo>
                  <a:lnTo>
                    <a:pt x="5585" y="74246"/>
                  </a:lnTo>
                  <a:lnTo>
                    <a:pt x="8337" y="67605"/>
                  </a:lnTo>
                  <a:lnTo>
                    <a:pt x="11090" y="60954"/>
                  </a:lnTo>
                  <a:lnTo>
                    <a:pt x="14464" y="54647"/>
                  </a:lnTo>
                  <a:lnTo>
                    <a:pt x="18460" y="48667"/>
                  </a:lnTo>
                  <a:lnTo>
                    <a:pt x="22456" y="42685"/>
                  </a:lnTo>
                  <a:lnTo>
                    <a:pt x="26997" y="37160"/>
                  </a:lnTo>
                  <a:lnTo>
                    <a:pt x="32082" y="32072"/>
                  </a:lnTo>
                  <a:lnTo>
                    <a:pt x="37168" y="26984"/>
                  </a:lnTo>
                  <a:lnTo>
                    <a:pt x="42701" y="22444"/>
                  </a:lnTo>
                  <a:lnTo>
                    <a:pt x="48681" y="18454"/>
                  </a:lnTo>
                  <a:lnTo>
                    <a:pt x="54662" y="14464"/>
                  </a:lnTo>
                  <a:lnTo>
                    <a:pt x="60974" y="11088"/>
                  </a:lnTo>
                  <a:lnTo>
                    <a:pt x="67619" y="8324"/>
                  </a:lnTo>
                  <a:lnTo>
                    <a:pt x="74264" y="5572"/>
                  </a:lnTo>
                  <a:lnTo>
                    <a:pt x="81113" y="3497"/>
                  </a:lnTo>
                  <a:lnTo>
                    <a:pt x="88167" y="2102"/>
                  </a:lnTo>
                  <a:lnTo>
                    <a:pt x="95221" y="697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928937" y="0"/>
                  </a:lnTo>
                  <a:lnTo>
                    <a:pt x="2936129" y="0"/>
                  </a:lnTo>
                  <a:lnTo>
                    <a:pt x="2943252" y="697"/>
                  </a:lnTo>
                  <a:lnTo>
                    <a:pt x="2950306" y="2102"/>
                  </a:lnTo>
                  <a:lnTo>
                    <a:pt x="2957360" y="3497"/>
                  </a:lnTo>
                  <a:lnTo>
                    <a:pt x="2995772" y="22444"/>
                  </a:lnTo>
                  <a:lnTo>
                    <a:pt x="3020013" y="48667"/>
                  </a:lnTo>
                  <a:lnTo>
                    <a:pt x="3024009" y="54647"/>
                  </a:lnTo>
                  <a:lnTo>
                    <a:pt x="3027383" y="60954"/>
                  </a:lnTo>
                  <a:lnTo>
                    <a:pt x="3030136" y="67605"/>
                  </a:lnTo>
                  <a:lnTo>
                    <a:pt x="3032888" y="74246"/>
                  </a:lnTo>
                  <a:lnTo>
                    <a:pt x="3034966" y="81101"/>
                  </a:lnTo>
                  <a:lnTo>
                    <a:pt x="3036369" y="88162"/>
                  </a:lnTo>
                  <a:lnTo>
                    <a:pt x="3037772" y="95212"/>
                  </a:lnTo>
                  <a:lnTo>
                    <a:pt x="3038474" y="102337"/>
                  </a:lnTo>
                  <a:lnTo>
                    <a:pt x="3038475" y="109537"/>
                  </a:lnTo>
                  <a:lnTo>
                    <a:pt x="3038475" y="1462087"/>
                  </a:lnTo>
                  <a:lnTo>
                    <a:pt x="3038474" y="1469277"/>
                  </a:lnTo>
                  <a:lnTo>
                    <a:pt x="3037772" y="1476393"/>
                  </a:lnTo>
                  <a:lnTo>
                    <a:pt x="3036369" y="1483444"/>
                  </a:lnTo>
                  <a:lnTo>
                    <a:pt x="3034966" y="1490504"/>
                  </a:lnTo>
                  <a:lnTo>
                    <a:pt x="3032888" y="1497349"/>
                  </a:lnTo>
                  <a:lnTo>
                    <a:pt x="3030136" y="1503991"/>
                  </a:lnTo>
                  <a:lnTo>
                    <a:pt x="3027383" y="1510642"/>
                  </a:lnTo>
                  <a:lnTo>
                    <a:pt x="3001305" y="1544621"/>
                  </a:lnTo>
                  <a:lnTo>
                    <a:pt x="2989792" y="1553151"/>
                  </a:lnTo>
                  <a:lnTo>
                    <a:pt x="2983812" y="1557142"/>
                  </a:lnTo>
                  <a:lnTo>
                    <a:pt x="2977499" y="1560518"/>
                  </a:lnTo>
                  <a:lnTo>
                    <a:pt x="2970854" y="1563271"/>
                  </a:lnTo>
                  <a:lnTo>
                    <a:pt x="2964209" y="1566025"/>
                  </a:lnTo>
                  <a:lnTo>
                    <a:pt x="2957360" y="1568109"/>
                  </a:lnTo>
                  <a:lnTo>
                    <a:pt x="2950306" y="1569513"/>
                  </a:lnTo>
                  <a:lnTo>
                    <a:pt x="2943252" y="1570918"/>
                  </a:lnTo>
                  <a:lnTo>
                    <a:pt x="2936129" y="1571624"/>
                  </a:lnTo>
                  <a:lnTo>
                    <a:pt x="2928937" y="1571624"/>
                  </a:lnTo>
                  <a:lnTo>
                    <a:pt x="109537" y="1571624"/>
                  </a:lnTo>
                  <a:lnTo>
                    <a:pt x="102345" y="1571624"/>
                  </a:lnTo>
                  <a:lnTo>
                    <a:pt x="95221" y="1570918"/>
                  </a:lnTo>
                  <a:lnTo>
                    <a:pt x="88167" y="1569513"/>
                  </a:lnTo>
                  <a:lnTo>
                    <a:pt x="81113" y="1568109"/>
                  </a:lnTo>
                  <a:lnTo>
                    <a:pt x="74264" y="1566025"/>
                  </a:lnTo>
                  <a:lnTo>
                    <a:pt x="67619" y="1563271"/>
                  </a:lnTo>
                  <a:lnTo>
                    <a:pt x="60974" y="1560518"/>
                  </a:lnTo>
                  <a:lnTo>
                    <a:pt x="54662" y="1557142"/>
                  </a:lnTo>
                  <a:lnTo>
                    <a:pt x="48681" y="1553151"/>
                  </a:lnTo>
                  <a:lnTo>
                    <a:pt x="42701" y="1549161"/>
                  </a:lnTo>
                  <a:lnTo>
                    <a:pt x="14464" y="1516958"/>
                  </a:lnTo>
                  <a:lnTo>
                    <a:pt x="8337" y="1503991"/>
                  </a:lnTo>
                  <a:lnTo>
                    <a:pt x="5585" y="1497349"/>
                  </a:lnTo>
                  <a:lnTo>
                    <a:pt x="3507" y="1490504"/>
                  </a:lnTo>
                  <a:lnTo>
                    <a:pt x="2104" y="1483444"/>
                  </a:lnTo>
                  <a:lnTo>
                    <a:pt x="701" y="1476393"/>
                  </a:lnTo>
                  <a:lnTo>
                    <a:pt x="0" y="1469277"/>
                  </a:lnTo>
                  <a:lnTo>
                    <a:pt x="0" y="14620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87825" y="3319145"/>
            <a:ext cx="137287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680">
              <a:lnSpc>
                <a:spcPct val="1111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Lasso Regression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254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L1 regularization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sparsity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0231" y="3711575"/>
            <a:ext cx="7251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20" dirty="0">
                <a:solidFill>
                  <a:srgbClr val="1CC8C8"/>
                </a:solidFill>
                <a:latin typeface="Arial"/>
                <a:cs typeface="Arial"/>
              </a:rPr>
              <a:t>0.911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1999" y="4857745"/>
            <a:ext cx="6248400" cy="1447800"/>
            <a:chOff x="761999" y="4857745"/>
            <a:chExt cx="6248400" cy="14478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049" y="4876798"/>
              <a:ext cx="6210299" cy="14096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71524" y="4867270"/>
              <a:ext cx="6229350" cy="1428750"/>
            </a:xfrm>
            <a:custGeom>
              <a:avLst/>
              <a:gdLst/>
              <a:ahLst/>
              <a:cxnLst/>
              <a:rect l="l" t="t" r="r" b="b"/>
              <a:pathLst>
                <a:path w="6229350" h="1428750">
                  <a:moveTo>
                    <a:pt x="0" y="1323974"/>
                  </a:moveTo>
                  <a:lnTo>
                    <a:pt x="0" y="104774"/>
                  </a:lnTo>
                  <a:lnTo>
                    <a:pt x="0" y="97891"/>
                  </a:lnTo>
                  <a:lnTo>
                    <a:pt x="671" y="91073"/>
                  </a:lnTo>
                  <a:lnTo>
                    <a:pt x="13835" y="52266"/>
                  </a:lnTo>
                  <a:lnTo>
                    <a:pt x="17657" y="46545"/>
                  </a:lnTo>
                  <a:lnTo>
                    <a:pt x="21479" y="40825"/>
                  </a:lnTo>
                  <a:lnTo>
                    <a:pt x="25823" y="35541"/>
                  </a:lnTo>
                  <a:lnTo>
                    <a:pt x="30687" y="30677"/>
                  </a:lnTo>
                  <a:lnTo>
                    <a:pt x="35552" y="25803"/>
                  </a:lnTo>
                  <a:lnTo>
                    <a:pt x="40844" y="21458"/>
                  </a:lnTo>
                  <a:lnTo>
                    <a:pt x="46565" y="17645"/>
                  </a:lnTo>
                  <a:lnTo>
                    <a:pt x="52285" y="13822"/>
                  </a:lnTo>
                  <a:lnTo>
                    <a:pt x="58323" y="10604"/>
                  </a:lnTo>
                  <a:lnTo>
                    <a:pt x="64679" y="7971"/>
                  </a:lnTo>
                  <a:lnTo>
                    <a:pt x="71035" y="5338"/>
                  </a:lnTo>
                  <a:lnTo>
                    <a:pt x="77586" y="3348"/>
                  </a:lnTo>
                  <a:lnTo>
                    <a:pt x="84334" y="2008"/>
                  </a:lnTo>
                  <a:lnTo>
                    <a:pt x="91081" y="669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6124574" y="0"/>
                  </a:lnTo>
                  <a:lnTo>
                    <a:pt x="6131453" y="0"/>
                  </a:lnTo>
                  <a:lnTo>
                    <a:pt x="6138266" y="669"/>
                  </a:lnTo>
                  <a:lnTo>
                    <a:pt x="6177063" y="13822"/>
                  </a:lnTo>
                  <a:lnTo>
                    <a:pt x="6182783" y="17645"/>
                  </a:lnTo>
                  <a:lnTo>
                    <a:pt x="6188503" y="21458"/>
                  </a:lnTo>
                  <a:lnTo>
                    <a:pt x="6193796" y="25803"/>
                  </a:lnTo>
                  <a:lnTo>
                    <a:pt x="6198661" y="30677"/>
                  </a:lnTo>
                  <a:lnTo>
                    <a:pt x="6203525" y="35541"/>
                  </a:lnTo>
                  <a:lnTo>
                    <a:pt x="6221373" y="64666"/>
                  </a:lnTo>
                  <a:lnTo>
                    <a:pt x="6224006" y="71019"/>
                  </a:lnTo>
                  <a:lnTo>
                    <a:pt x="6229349" y="104774"/>
                  </a:lnTo>
                  <a:lnTo>
                    <a:pt x="6229349" y="1323974"/>
                  </a:lnTo>
                  <a:lnTo>
                    <a:pt x="6229348" y="1330849"/>
                  </a:lnTo>
                  <a:lnTo>
                    <a:pt x="6228677" y="1337657"/>
                  </a:lnTo>
                  <a:lnTo>
                    <a:pt x="6227335" y="1344401"/>
                  </a:lnTo>
                  <a:lnTo>
                    <a:pt x="6225993" y="1351144"/>
                  </a:lnTo>
                  <a:lnTo>
                    <a:pt x="6207868" y="1387896"/>
                  </a:lnTo>
                  <a:lnTo>
                    <a:pt x="6198661" y="1398053"/>
                  </a:lnTo>
                  <a:lnTo>
                    <a:pt x="6193796" y="1402919"/>
                  </a:lnTo>
                  <a:lnTo>
                    <a:pt x="6188503" y="1407253"/>
                  </a:lnTo>
                  <a:lnTo>
                    <a:pt x="6182783" y="1411076"/>
                  </a:lnTo>
                  <a:lnTo>
                    <a:pt x="6177063" y="1414899"/>
                  </a:lnTo>
                  <a:lnTo>
                    <a:pt x="6171025" y="1418127"/>
                  </a:lnTo>
                  <a:lnTo>
                    <a:pt x="6164669" y="1420759"/>
                  </a:lnTo>
                  <a:lnTo>
                    <a:pt x="6158313" y="1423392"/>
                  </a:lnTo>
                  <a:lnTo>
                    <a:pt x="6151761" y="1425382"/>
                  </a:lnTo>
                  <a:lnTo>
                    <a:pt x="6145014" y="1426722"/>
                  </a:lnTo>
                  <a:lnTo>
                    <a:pt x="6138266" y="1428070"/>
                  </a:lnTo>
                  <a:lnTo>
                    <a:pt x="6131453" y="1428740"/>
                  </a:lnTo>
                  <a:lnTo>
                    <a:pt x="6124574" y="1428749"/>
                  </a:lnTo>
                  <a:lnTo>
                    <a:pt x="104774" y="1428749"/>
                  </a:lnTo>
                  <a:lnTo>
                    <a:pt x="97895" y="1428740"/>
                  </a:lnTo>
                  <a:lnTo>
                    <a:pt x="91081" y="1428070"/>
                  </a:lnTo>
                  <a:lnTo>
                    <a:pt x="84334" y="1426722"/>
                  </a:lnTo>
                  <a:lnTo>
                    <a:pt x="77586" y="1425382"/>
                  </a:lnTo>
                  <a:lnTo>
                    <a:pt x="71035" y="1423392"/>
                  </a:lnTo>
                  <a:lnTo>
                    <a:pt x="64679" y="1420759"/>
                  </a:lnTo>
                  <a:lnTo>
                    <a:pt x="58323" y="1418127"/>
                  </a:lnTo>
                  <a:lnTo>
                    <a:pt x="52285" y="1414899"/>
                  </a:lnTo>
                  <a:lnTo>
                    <a:pt x="46565" y="1411076"/>
                  </a:lnTo>
                  <a:lnTo>
                    <a:pt x="40844" y="1407253"/>
                  </a:lnTo>
                  <a:lnTo>
                    <a:pt x="35552" y="1402919"/>
                  </a:lnTo>
                  <a:lnTo>
                    <a:pt x="30687" y="1398053"/>
                  </a:lnTo>
                  <a:lnTo>
                    <a:pt x="25823" y="1393189"/>
                  </a:lnTo>
                  <a:lnTo>
                    <a:pt x="5342" y="1357702"/>
                  </a:lnTo>
                  <a:lnTo>
                    <a:pt x="0" y="1330849"/>
                  </a:lnTo>
                  <a:lnTo>
                    <a:pt x="0" y="1323974"/>
                  </a:lnTo>
                  <a:close/>
                </a:path>
              </a:pathLst>
            </a:custGeom>
            <a:ln w="19049">
              <a:solidFill>
                <a:srgbClr val="164E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6950" y="4883150"/>
            <a:ext cx="3628390" cy="115125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50" b="1" dirty="0">
                <a:solidFill>
                  <a:srgbClr val="164E9C"/>
                </a:solidFill>
                <a:latin typeface="Arial"/>
                <a:cs typeface="Arial"/>
              </a:rPr>
              <a:t>Ridge </a:t>
            </a: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Regression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L2 regularization 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multicollinearity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solidFill>
                  <a:srgbClr val="616F83"/>
                </a:solidFill>
                <a:latin typeface="Arial MT"/>
                <a:cs typeface="Arial MT"/>
              </a:rPr>
              <a:t>Best</a:t>
            </a:r>
            <a:r>
              <a:rPr sz="1200" spc="-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616F83"/>
                </a:solidFill>
                <a:latin typeface="Arial MT"/>
                <a:cs typeface="Arial MT"/>
              </a:rPr>
              <a:t>balance of </a:t>
            </a:r>
            <a:r>
              <a:rPr sz="1200" spc="-10" dirty="0">
                <a:solidFill>
                  <a:srgbClr val="616F83"/>
                </a:solidFill>
                <a:latin typeface="Arial MT"/>
                <a:cs typeface="Arial MT"/>
              </a:rPr>
              <a:t>accuracy,</a:t>
            </a:r>
            <a:r>
              <a:rPr sz="120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616F83"/>
                </a:solidFill>
                <a:latin typeface="Arial MT"/>
                <a:cs typeface="Arial MT"/>
              </a:rPr>
              <a:t>stability,</a:t>
            </a:r>
            <a:r>
              <a:rPr sz="1200" dirty="0">
                <a:solidFill>
                  <a:srgbClr val="616F83"/>
                </a:solidFill>
                <a:latin typeface="Arial MT"/>
                <a:cs typeface="Arial MT"/>
              </a:rPr>
              <a:t> and </a:t>
            </a:r>
            <a:r>
              <a:rPr sz="1200" spc="-10" dirty="0">
                <a:solidFill>
                  <a:srgbClr val="616F83"/>
                </a:solidFill>
                <a:latin typeface="Arial MT"/>
                <a:cs typeface="Arial MT"/>
              </a:rPr>
              <a:t>interpretability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1999" y="5772522"/>
            <a:ext cx="4190365" cy="1695450"/>
            <a:chOff x="761999" y="5772522"/>
            <a:chExt cx="4190365" cy="16954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4923" y="5772522"/>
              <a:ext cx="157242" cy="14973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6762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1869329" y="1000115"/>
                  </a:moveTo>
                  <a:lnTo>
                    <a:pt x="102345" y="1000115"/>
                  </a:lnTo>
                  <a:lnTo>
                    <a:pt x="95221" y="999418"/>
                  </a:lnTo>
                  <a:lnTo>
                    <a:pt x="54661" y="985642"/>
                  </a:lnTo>
                  <a:lnTo>
                    <a:pt x="22456" y="957411"/>
                  </a:lnTo>
                  <a:lnTo>
                    <a:pt x="3507" y="919004"/>
                  </a:lnTo>
                  <a:lnTo>
                    <a:pt x="0" y="897777"/>
                  </a:lnTo>
                  <a:lnTo>
                    <a:pt x="0" y="890587"/>
                  </a:lnTo>
                  <a:lnTo>
                    <a:pt x="0" y="102337"/>
                  </a:lnTo>
                  <a:lnTo>
                    <a:pt x="11090" y="60954"/>
                  </a:lnTo>
                  <a:lnTo>
                    <a:pt x="37168" y="26984"/>
                  </a:lnTo>
                  <a:lnTo>
                    <a:pt x="74264" y="5580"/>
                  </a:lnTo>
                  <a:lnTo>
                    <a:pt x="102345" y="0"/>
                  </a:lnTo>
                  <a:lnTo>
                    <a:pt x="1869329" y="0"/>
                  </a:lnTo>
                  <a:lnTo>
                    <a:pt x="1910700" y="11078"/>
                  </a:lnTo>
                  <a:lnTo>
                    <a:pt x="1944677" y="37151"/>
                  </a:lnTo>
                  <a:lnTo>
                    <a:pt x="1966088" y="74246"/>
                  </a:lnTo>
                  <a:lnTo>
                    <a:pt x="1971674" y="102337"/>
                  </a:lnTo>
                  <a:lnTo>
                    <a:pt x="1971674" y="897777"/>
                  </a:lnTo>
                  <a:lnTo>
                    <a:pt x="1960583" y="939151"/>
                  </a:lnTo>
                  <a:lnTo>
                    <a:pt x="1934506" y="973121"/>
                  </a:lnTo>
                  <a:lnTo>
                    <a:pt x="1897410" y="994525"/>
                  </a:lnTo>
                  <a:lnTo>
                    <a:pt x="1876452" y="999418"/>
                  </a:lnTo>
                  <a:lnTo>
                    <a:pt x="1869329" y="100011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6762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0" y="890587"/>
                  </a:moveTo>
                  <a:lnTo>
                    <a:pt x="0" y="109537"/>
                  </a:lnTo>
                  <a:lnTo>
                    <a:pt x="0" y="102337"/>
                  </a:lnTo>
                  <a:lnTo>
                    <a:pt x="701" y="95212"/>
                  </a:lnTo>
                  <a:lnTo>
                    <a:pt x="2104" y="88152"/>
                  </a:lnTo>
                  <a:lnTo>
                    <a:pt x="3507" y="81092"/>
                  </a:lnTo>
                  <a:lnTo>
                    <a:pt x="5585" y="74246"/>
                  </a:lnTo>
                  <a:lnTo>
                    <a:pt x="8338" y="67605"/>
                  </a:lnTo>
                  <a:lnTo>
                    <a:pt x="11090" y="60954"/>
                  </a:lnTo>
                  <a:lnTo>
                    <a:pt x="14464" y="54638"/>
                  </a:lnTo>
                  <a:lnTo>
                    <a:pt x="18460" y="48657"/>
                  </a:lnTo>
                  <a:lnTo>
                    <a:pt x="22456" y="42676"/>
                  </a:lnTo>
                  <a:lnTo>
                    <a:pt x="26997" y="37151"/>
                  </a:lnTo>
                  <a:lnTo>
                    <a:pt x="32082" y="32072"/>
                  </a:lnTo>
                  <a:lnTo>
                    <a:pt x="37168" y="26984"/>
                  </a:lnTo>
                  <a:lnTo>
                    <a:pt x="74264" y="5580"/>
                  </a:lnTo>
                  <a:lnTo>
                    <a:pt x="88167" y="2102"/>
                  </a:lnTo>
                  <a:lnTo>
                    <a:pt x="95221" y="697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862137" y="0"/>
                  </a:lnTo>
                  <a:lnTo>
                    <a:pt x="1869329" y="0"/>
                  </a:lnTo>
                  <a:lnTo>
                    <a:pt x="1876452" y="697"/>
                  </a:lnTo>
                  <a:lnTo>
                    <a:pt x="1883506" y="2102"/>
                  </a:lnTo>
                  <a:lnTo>
                    <a:pt x="1890560" y="3507"/>
                  </a:lnTo>
                  <a:lnTo>
                    <a:pt x="1928973" y="22436"/>
                  </a:lnTo>
                  <a:lnTo>
                    <a:pt x="1939591" y="32072"/>
                  </a:lnTo>
                  <a:lnTo>
                    <a:pt x="1944677" y="37151"/>
                  </a:lnTo>
                  <a:lnTo>
                    <a:pt x="1949218" y="42676"/>
                  </a:lnTo>
                  <a:lnTo>
                    <a:pt x="1953213" y="48657"/>
                  </a:lnTo>
                  <a:lnTo>
                    <a:pt x="1957209" y="54638"/>
                  </a:lnTo>
                  <a:lnTo>
                    <a:pt x="1960583" y="60954"/>
                  </a:lnTo>
                  <a:lnTo>
                    <a:pt x="1963336" y="67605"/>
                  </a:lnTo>
                  <a:lnTo>
                    <a:pt x="1966088" y="74246"/>
                  </a:lnTo>
                  <a:lnTo>
                    <a:pt x="1968166" y="81092"/>
                  </a:lnTo>
                  <a:lnTo>
                    <a:pt x="1969569" y="88152"/>
                  </a:lnTo>
                  <a:lnTo>
                    <a:pt x="1970973" y="95212"/>
                  </a:lnTo>
                  <a:lnTo>
                    <a:pt x="1971674" y="102337"/>
                  </a:lnTo>
                  <a:lnTo>
                    <a:pt x="1971674" y="109537"/>
                  </a:lnTo>
                  <a:lnTo>
                    <a:pt x="1971674" y="890587"/>
                  </a:lnTo>
                  <a:lnTo>
                    <a:pt x="1971674" y="897777"/>
                  </a:lnTo>
                  <a:lnTo>
                    <a:pt x="1970973" y="904893"/>
                  </a:lnTo>
                  <a:lnTo>
                    <a:pt x="1969569" y="911944"/>
                  </a:lnTo>
                  <a:lnTo>
                    <a:pt x="1968166" y="919004"/>
                  </a:lnTo>
                  <a:lnTo>
                    <a:pt x="1953214" y="951430"/>
                  </a:lnTo>
                  <a:lnTo>
                    <a:pt x="1949218" y="957411"/>
                  </a:lnTo>
                  <a:lnTo>
                    <a:pt x="1922992" y="981651"/>
                  </a:lnTo>
                  <a:lnTo>
                    <a:pt x="1917012" y="985642"/>
                  </a:lnTo>
                  <a:lnTo>
                    <a:pt x="1910700" y="989018"/>
                  </a:lnTo>
                  <a:lnTo>
                    <a:pt x="1904055" y="991771"/>
                  </a:lnTo>
                  <a:lnTo>
                    <a:pt x="1897410" y="994525"/>
                  </a:lnTo>
                  <a:lnTo>
                    <a:pt x="1890560" y="996609"/>
                  </a:lnTo>
                  <a:lnTo>
                    <a:pt x="1883506" y="998013"/>
                  </a:lnTo>
                  <a:lnTo>
                    <a:pt x="1876452" y="999418"/>
                  </a:lnTo>
                  <a:lnTo>
                    <a:pt x="1869329" y="1000115"/>
                  </a:lnTo>
                  <a:lnTo>
                    <a:pt x="1862137" y="1000124"/>
                  </a:lnTo>
                  <a:lnTo>
                    <a:pt x="109537" y="1000124"/>
                  </a:lnTo>
                  <a:lnTo>
                    <a:pt x="102345" y="1000115"/>
                  </a:lnTo>
                  <a:lnTo>
                    <a:pt x="95221" y="999418"/>
                  </a:lnTo>
                  <a:lnTo>
                    <a:pt x="88167" y="998013"/>
                  </a:lnTo>
                  <a:lnTo>
                    <a:pt x="81113" y="996609"/>
                  </a:lnTo>
                  <a:lnTo>
                    <a:pt x="74264" y="994525"/>
                  </a:lnTo>
                  <a:lnTo>
                    <a:pt x="67619" y="991771"/>
                  </a:lnTo>
                  <a:lnTo>
                    <a:pt x="60974" y="989018"/>
                  </a:lnTo>
                  <a:lnTo>
                    <a:pt x="54661" y="985642"/>
                  </a:lnTo>
                  <a:lnTo>
                    <a:pt x="48681" y="981651"/>
                  </a:lnTo>
                  <a:lnTo>
                    <a:pt x="42701" y="977661"/>
                  </a:lnTo>
                  <a:lnTo>
                    <a:pt x="18460" y="951430"/>
                  </a:lnTo>
                  <a:lnTo>
                    <a:pt x="14464" y="945458"/>
                  </a:lnTo>
                  <a:lnTo>
                    <a:pt x="2104" y="911944"/>
                  </a:lnTo>
                  <a:lnTo>
                    <a:pt x="701" y="904893"/>
                  </a:lnTo>
                  <a:lnTo>
                    <a:pt x="0" y="897777"/>
                  </a:lnTo>
                  <a:lnTo>
                    <a:pt x="0" y="8905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3115" y="4923535"/>
            <a:ext cx="1782445" cy="104266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650240">
              <a:lnSpc>
                <a:spcPct val="100000"/>
              </a:lnSpc>
              <a:spcBef>
                <a:spcPts val="1430"/>
              </a:spcBef>
            </a:pPr>
            <a:r>
              <a:rPr sz="3600" b="1" spc="-35" dirty="0">
                <a:solidFill>
                  <a:srgbClr val="164E9C"/>
                </a:solidFill>
                <a:latin typeface="Arial"/>
                <a:cs typeface="Arial"/>
              </a:rPr>
              <a:t>0.911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SELECTED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7425" y="6683375"/>
            <a:ext cx="153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5" baseline="1851" dirty="0">
                <a:solidFill>
                  <a:srgbClr val="1C242F"/>
                </a:solidFill>
                <a:latin typeface="Arial"/>
                <a:cs typeface="Arial"/>
              </a:rPr>
              <a:t>ElasticNet</a:t>
            </a:r>
            <a:r>
              <a:rPr sz="2250" b="1" spc="-300" baseline="1851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616F83"/>
                </a:solidFill>
                <a:latin typeface="Arial"/>
                <a:cs typeface="Arial"/>
              </a:rPr>
              <a:t>0.911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95599" y="6457945"/>
            <a:ext cx="1981200" cy="1009650"/>
            <a:chOff x="2895599" y="6457945"/>
            <a:chExt cx="1981200" cy="1009650"/>
          </a:xfrm>
        </p:grpSpPr>
        <p:sp>
          <p:nvSpPr>
            <p:cNvPr id="26" name="object 26"/>
            <p:cNvSpPr/>
            <p:nvPr/>
          </p:nvSpPr>
          <p:spPr>
            <a:xfrm>
              <a:off x="2900362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1869329" y="1000115"/>
                  </a:moveTo>
                  <a:lnTo>
                    <a:pt x="102345" y="1000115"/>
                  </a:lnTo>
                  <a:lnTo>
                    <a:pt x="95221" y="999418"/>
                  </a:lnTo>
                  <a:lnTo>
                    <a:pt x="54661" y="985642"/>
                  </a:lnTo>
                  <a:lnTo>
                    <a:pt x="22456" y="957411"/>
                  </a:lnTo>
                  <a:lnTo>
                    <a:pt x="3507" y="919004"/>
                  </a:lnTo>
                  <a:lnTo>
                    <a:pt x="0" y="897777"/>
                  </a:lnTo>
                  <a:lnTo>
                    <a:pt x="0" y="890587"/>
                  </a:lnTo>
                  <a:lnTo>
                    <a:pt x="0" y="102337"/>
                  </a:lnTo>
                  <a:lnTo>
                    <a:pt x="11090" y="60954"/>
                  </a:lnTo>
                  <a:lnTo>
                    <a:pt x="37168" y="26984"/>
                  </a:lnTo>
                  <a:lnTo>
                    <a:pt x="74263" y="5580"/>
                  </a:lnTo>
                  <a:lnTo>
                    <a:pt x="102345" y="0"/>
                  </a:lnTo>
                  <a:lnTo>
                    <a:pt x="1869329" y="0"/>
                  </a:lnTo>
                  <a:lnTo>
                    <a:pt x="1910699" y="11078"/>
                  </a:lnTo>
                  <a:lnTo>
                    <a:pt x="1944677" y="37151"/>
                  </a:lnTo>
                  <a:lnTo>
                    <a:pt x="1966088" y="74246"/>
                  </a:lnTo>
                  <a:lnTo>
                    <a:pt x="1971674" y="102337"/>
                  </a:lnTo>
                  <a:lnTo>
                    <a:pt x="1971674" y="897777"/>
                  </a:lnTo>
                  <a:lnTo>
                    <a:pt x="1960583" y="939151"/>
                  </a:lnTo>
                  <a:lnTo>
                    <a:pt x="1934505" y="973121"/>
                  </a:lnTo>
                  <a:lnTo>
                    <a:pt x="1897410" y="994525"/>
                  </a:lnTo>
                  <a:lnTo>
                    <a:pt x="1876452" y="999418"/>
                  </a:lnTo>
                  <a:lnTo>
                    <a:pt x="1869329" y="100011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00362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0" y="890587"/>
                  </a:moveTo>
                  <a:lnTo>
                    <a:pt x="0" y="109537"/>
                  </a:lnTo>
                  <a:lnTo>
                    <a:pt x="0" y="102337"/>
                  </a:lnTo>
                  <a:lnTo>
                    <a:pt x="701" y="95212"/>
                  </a:lnTo>
                  <a:lnTo>
                    <a:pt x="2104" y="88152"/>
                  </a:lnTo>
                  <a:lnTo>
                    <a:pt x="3507" y="81092"/>
                  </a:lnTo>
                  <a:lnTo>
                    <a:pt x="5585" y="74246"/>
                  </a:lnTo>
                  <a:lnTo>
                    <a:pt x="8337" y="67605"/>
                  </a:lnTo>
                  <a:lnTo>
                    <a:pt x="11090" y="60954"/>
                  </a:lnTo>
                  <a:lnTo>
                    <a:pt x="14464" y="54638"/>
                  </a:lnTo>
                  <a:lnTo>
                    <a:pt x="18460" y="48657"/>
                  </a:lnTo>
                  <a:lnTo>
                    <a:pt x="22456" y="42676"/>
                  </a:lnTo>
                  <a:lnTo>
                    <a:pt x="26996" y="37151"/>
                  </a:lnTo>
                  <a:lnTo>
                    <a:pt x="32082" y="32072"/>
                  </a:lnTo>
                  <a:lnTo>
                    <a:pt x="37168" y="26984"/>
                  </a:lnTo>
                  <a:lnTo>
                    <a:pt x="74263" y="558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862137" y="0"/>
                  </a:lnTo>
                  <a:lnTo>
                    <a:pt x="1869329" y="0"/>
                  </a:lnTo>
                  <a:lnTo>
                    <a:pt x="1876452" y="697"/>
                  </a:lnTo>
                  <a:lnTo>
                    <a:pt x="1917012" y="14455"/>
                  </a:lnTo>
                  <a:lnTo>
                    <a:pt x="1939591" y="32072"/>
                  </a:lnTo>
                  <a:lnTo>
                    <a:pt x="1944677" y="37151"/>
                  </a:lnTo>
                  <a:lnTo>
                    <a:pt x="1949218" y="42676"/>
                  </a:lnTo>
                  <a:lnTo>
                    <a:pt x="1953214" y="48657"/>
                  </a:lnTo>
                  <a:lnTo>
                    <a:pt x="1957209" y="54638"/>
                  </a:lnTo>
                  <a:lnTo>
                    <a:pt x="1960584" y="60954"/>
                  </a:lnTo>
                  <a:lnTo>
                    <a:pt x="1963336" y="67605"/>
                  </a:lnTo>
                  <a:lnTo>
                    <a:pt x="1966088" y="74246"/>
                  </a:lnTo>
                  <a:lnTo>
                    <a:pt x="1971674" y="109537"/>
                  </a:lnTo>
                  <a:lnTo>
                    <a:pt x="1971674" y="890587"/>
                  </a:lnTo>
                  <a:lnTo>
                    <a:pt x="1971674" y="897777"/>
                  </a:lnTo>
                  <a:lnTo>
                    <a:pt x="1970972" y="904893"/>
                  </a:lnTo>
                  <a:lnTo>
                    <a:pt x="1969569" y="911944"/>
                  </a:lnTo>
                  <a:lnTo>
                    <a:pt x="1968166" y="919004"/>
                  </a:lnTo>
                  <a:lnTo>
                    <a:pt x="1953214" y="951430"/>
                  </a:lnTo>
                  <a:lnTo>
                    <a:pt x="1949218" y="957411"/>
                  </a:lnTo>
                  <a:lnTo>
                    <a:pt x="1922992" y="981651"/>
                  </a:lnTo>
                  <a:lnTo>
                    <a:pt x="1917012" y="985642"/>
                  </a:lnTo>
                  <a:lnTo>
                    <a:pt x="1910700" y="989018"/>
                  </a:lnTo>
                  <a:lnTo>
                    <a:pt x="1904055" y="991771"/>
                  </a:lnTo>
                  <a:lnTo>
                    <a:pt x="1897410" y="994525"/>
                  </a:lnTo>
                  <a:lnTo>
                    <a:pt x="1890560" y="996609"/>
                  </a:lnTo>
                  <a:lnTo>
                    <a:pt x="1883506" y="998013"/>
                  </a:lnTo>
                  <a:lnTo>
                    <a:pt x="1876452" y="999418"/>
                  </a:lnTo>
                  <a:lnTo>
                    <a:pt x="1869329" y="1000115"/>
                  </a:lnTo>
                  <a:lnTo>
                    <a:pt x="1862137" y="1000124"/>
                  </a:lnTo>
                  <a:lnTo>
                    <a:pt x="109537" y="1000124"/>
                  </a:lnTo>
                  <a:lnTo>
                    <a:pt x="102345" y="1000115"/>
                  </a:lnTo>
                  <a:lnTo>
                    <a:pt x="95221" y="999418"/>
                  </a:lnTo>
                  <a:lnTo>
                    <a:pt x="88167" y="998013"/>
                  </a:lnTo>
                  <a:lnTo>
                    <a:pt x="81113" y="996609"/>
                  </a:lnTo>
                  <a:lnTo>
                    <a:pt x="74264" y="994525"/>
                  </a:lnTo>
                  <a:lnTo>
                    <a:pt x="67619" y="991771"/>
                  </a:lnTo>
                  <a:lnTo>
                    <a:pt x="60974" y="989018"/>
                  </a:lnTo>
                  <a:lnTo>
                    <a:pt x="54661" y="985642"/>
                  </a:lnTo>
                  <a:lnTo>
                    <a:pt x="48681" y="981651"/>
                  </a:lnTo>
                  <a:lnTo>
                    <a:pt x="42701" y="977661"/>
                  </a:lnTo>
                  <a:lnTo>
                    <a:pt x="18460" y="951430"/>
                  </a:lnTo>
                  <a:lnTo>
                    <a:pt x="14464" y="945458"/>
                  </a:lnTo>
                  <a:lnTo>
                    <a:pt x="2104" y="911944"/>
                  </a:lnTo>
                  <a:lnTo>
                    <a:pt x="701" y="904893"/>
                  </a:lnTo>
                  <a:lnTo>
                    <a:pt x="0" y="897777"/>
                  </a:lnTo>
                  <a:lnTo>
                    <a:pt x="0" y="8905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21024" y="6654799"/>
            <a:ext cx="7874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Random Forest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53879" y="6797675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16F83"/>
                </a:solidFill>
                <a:latin typeface="Arial"/>
                <a:cs typeface="Arial"/>
              </a:rPr>
              <a:t>0.900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29199" y="6457945"/>
            <a:ext cx="1981200" cy="1009650"/>
            <a:chOff x="5029199" y="6457945"/>
            <a:chExt cx="1981200" cy="1009650"/>
          </a:xfrm>
        </p:grpSpPr>
        <p:sp>
          <p:nvSpPr>
            <p:cNvPr id="31" name="object 31"/>
            <p:cNvSpPr/>
            <p:nvPr/>
          </p:nvSpPr>
          <p:spPr>
            <a:xfrm>
              <a:off x="5033961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1869329" y="1000115"/>
                  </a:moveTo>
                  <a:lnTo>
                    <a:pt x="102345" y="1000115"/>
                  </a:lnTo>
                  <a:lnTo>
                    <a:pt x="95221" y="999418"/>
                  </a:lnTo>
                  <a:lnTo>
                    <a:pt x="54661" y="985642"/>
                  </a:lnTo>
                  <a:lnTo>
                    <a:pt x="22455" y="957411"/>
                  </a:lnTo>
                  <a:lnTo>
                    <a:pt x="3507" y="919004"/>
                  </a:lnTo>
                  <a:lnTo>
                    <a:pt x="0" y="897777"/>
                  </a:lnTo>
                  <a:lnTo>
                    <a:pt x="0" y="890587"/>
                  </a:lnTo>
                  <a:lnTo>
                    <a:pt x="0" y="102337"/>
                  </a:lnTo>
                  <a:lnTo>
                    <a:pt x="11090" y="60954"/>
                  </a:lnTo>
                  <a:lnTo>
                    <a:pt x="37168" y="26984"/>
                  </a:lnTo>
                  <a:lnTo>
                    <a:pt x="74263" y="5580"/>
                  </a:lnTo>
                  <a:lnTo>
                    <a:pt x="102345" y="0"/>
                  </a:lnTo>
                  <a:lnTo>
                    <a:pt x="1869329" y="0"/>
                  </a:lnTo>
                  <a:lnTo>
                    <a:pt x="1910699" y="11078"/>
                  </a:lnTo>
                  <a:lnTo>
                    <a:pt x="1944677" y="37151"/>
                  </a:lnTo>
                  <a:lnTo>
                    <a:pt x="1966088" y="74246"/>
                  </a:lnTo>
                  <a:lnTo>
                    <a:pt x="1971674" y="102337"/>
                  </a:lnTo>
                  <a:lnTo>
                    <a:pt x="1971674" y="897777"/>
                  </a:lnTo>
                  <a:lnTo>
                    <a:pt x="1960583" y="939151"/>
                  </a:lnTo>
                  <a:lnTo>
                    <a:pt x="1934505" y="973121"/>
                  </a:lnTo>
                  <a:lnTo>
                    <a:pt x="1897409" y="994525"/>
                  </a:lnTo>
                  <a:lnTo>
                    <a:pt x="1876453" y="999418"/>
                  </a:lnTo>
                  <a:lnTo>
                    <a:pt x="1869329" y="100011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33961" y="6462708"/>
              <a:ext cx="1971675" cy="1000125"/>
            </a:xfrm>
            <a:custGeom>
              <a:avLst/>
              <a:gdLst/>
              <a:ahLst/>
              <a:cxnLst/>
              <a:rect l="l" t="t" r="r" b="b"/>
              <a:pathLst>
                <a:path w="1971675" h="1000125">
                  <a:moveTo>
                    <a:pt x="0" y="890587"/>
                  </a:moveTo>
                  <a:lnTo>
                    <a:pt x="0" y="109537"/>
                  </a:lnTo>
                  <a:lnTo>
                    <a:pt x="0" y="102337"/>
                  </a:lnTo>
                  <a:lnTo>
                    <a:pt x="701" y="95212"/>
                  </a:lnTo>
                  <a:lnTo>
                    <a:pt x="2104" y="88152"/>
                  </a:lnTo>
                  <a:lnTo>
                    <a:pt x="3507" y="81092"/>
                  </a:lnTo>
                  <a:lnTo>
                    <a:pt x="5585" y="74246"/>
                  </a:lnTo>
                  <a:lnTo>
                    <a:pt x="8337" y="67605"/>
                  </a:lnTo>
                  <a:lnTo>
                    <a:pt x="11090" y="60954"/>
                  </a:lnTo>
                  <a:lnTo>
                    <a:pt x="32082" y="32072"/>
                  </a:lnTo>
                  <a:lnTo>
                    <a:pt x="37168" y="26984"/>
                  </a:lnTo>
                  <a:lnTo>
                    <a:pt x="74263" y="5580"/>
                  </a:lnTo>
                  <a:lnTo>
                    <a:pt x="88167" y="2102"/>
                  </a:lnTo>
                  <a:lnTo>
                    <a:pt x="95221" y="697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862137" y="0"/>
                  </a:lnTo>
                  <a:lnTo>
                    <a:pt x="1869329" y="0"/>
                  </a:lnTo>
                  <a:lnTo>
                    <a:pt x="1876453" y="697"/>
                  </a:lnTo>
                  <a:lnTo>
                    <a:pt x="1917011" y="14455"/>
                  </a:lnTo>
                  <a:lnTo>
                    <a:pt x="1939591" y="32072"/>
                  </a:lnTo>
                  <a:lnTo>
                    <a:pt x="1944677" y="37151"/>
                  </a:lnTo>
                  <a:lnTo>
                    <a:pt x="1963336" y="67605"/>
                  </a:lnTo>
                  <a:lnTo>
                    <a:pt x="1966088" y="74246"/>
                  </a:lnTo>
                  <a:lnTo>
                    <a:pt x="1968166" y="81092"/>
                  </a:lnTo>
                  <a:lnTo>
                    <a:pt x="1969569" y="88152"/>
                  </a:lnTo>
                  <a:lnTo>
                    <a:pt x="1970972" y="95212"/>
                  </a:lnTo>
                  <a:lnTo>
                    <a:pt x="1971674" y="102337"/>
                  </a:lnTo>
                  <a:lnTo>
                    <a:pt x="1971675" y="109537"/>
                  </a:lnTo>
                  <a:lnTo>
                    <a:pt x="1971675" y="890587"/>
                  </a:lnTo>
                  <a:lnTo>
                    <a:pt x="1971674" y="897777"/>
                  </a:lnTo>
                  <a:lnTo>
                    <a:pt x="1970972" y="904893"/>
                  </a:lnTo>
                  <a:lnTo>
                    <a:pt x="1969569" y="911944"/>
                  </a:lnTo>
                  <a:lnTo>
                    <a:pt x="1968166" y="919004"/>
                  </a:lnTo>
                  <a:lnTo>
                    <a:pt x="1966088" y="925849"/>
                  </a:lnTo>
                  <a:lnTo>
                    <a:pt x="1963336" y="932501"/>
                  </a:lnTo>
                  <a:lnTo>
                    <a:pt x="1960583" y="939151"/>
                  </a:lnTo>
                  <a:lnTo>
                    <a:pt x="1957209" y="945458"/>
                  </a:lnTo>
                  <a:lnTo>
                    <a:pt x="1953214" y="951430"/>
                  </a:lnTo>
                  <a:lnTo>
                    <a:pt x="1949218" y="957411"/>
                  </a:lnTo>
                  <a:lnTo>
                    <a:pt x="1922992" y="981651"/>
                  </a:lnTo>
                  <a:lnTo>
                    <a:pt x="1917012" y="985642"/>
                  </a:lnTo>
                  <a:lnTo>
                    <a:pt x="1910699" y="989018"/>
                  </a:lnTo>
                  <a:lnTo>
                    <a:pt x="1904054" y="991771"/>
                  </a:lnTo>
                  <a:lnTo>
                    <a:pt x="1897409" y="994525"/>
                  </a:lnTo>
                  <a:lnTo>
                    <a:pt x="1890560" y="996609"/>
                  </a:lnTo>
                  <a:lnTo>
                    <a:pt x="1883506" y="998013"/>
                  </a:lnTo>
                  <a:lnTo>
                    <a:pt x="1876453" y="999418"/>
                  </a:lnTo>
                  <a:lnTo>
                    <a:pt x="1869329" y="1000115"/>
                  </a:lnTo>
                  <a:lnTo>
                    <a:pt x="1862137" y="1000124"/>
                  </a:lnTo>
                  <a:lnTo>
                    <a:pt x="109537" y="1000124"/>
                  </a:lnTo>
                  <a:lnTo>
                    <a:pt x="102345" y="1000115"/>
                  </a:lnTo>
                  <a:lnTo>
                    <a:pt x="95221" y="999418"/>
                  </a:lnTo>
                  <a:lnTo>
                    <a:pt x="88167" y="998013"/>
                  </a:lnTo>
                  <a:lnTo>
                    <a:pt x="81113" y="996609"/>
                  </a:lnTo>
                  <a:lnTo>
                    <a:pt x="74263" y="994525"/>
                  </a:lnTo>
                  <a:lnTo>
                    <a:pt x="67618" y="991771"/>
                  </a:lnTo>
                  <a:lnTo>
                    <a:pt x="60973" y="989018"/>
                  </a:lnTo>
                  <a:lnTo>
                    <a:pt x="54661" y="985642"/>
                  </a:lnTo>
                  <a:lnTo>
                    <a:pt x="48681" y="981651"/>
                  </a:lnTo>
                  <a:lnTo>
                    <a:pt x="42701" y="977661"/>
                  </a:lnTo>
                  <a:lnTo>
                    <a:pt x="18459" y="951430"/>
                  </a:lnTo>
                  <a:lnTo>
                    <a:pt x="14463" y="945458"/>
                  </a:lnTo>
                  <a:lnTo>
                    <a:pt x="2104" y="911944"/>
                  </a:lnTo>
                  <a:lnTo>
                    <a:pt x="701" y="904893"/>
                  </a:lnTo>
                  <a:lnTo>
                    <a:pt x="0" y="897777"/>
                  </a:lnTo>
                  <a:lnTo>
                    <a:pt x="0" y="8905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254624" y="6654799"/>
            <a:ext cx="8509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Gradient Boosting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00129" y="6797675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16F83"/>
                </a:solidFill>
                <a:latin typeface="Arial"/>
                <a:cs typeface="Arial"/>
              </a:rPr>
              <a:t>0.911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61999" y="7619995"/>
            <a:ext cx="6248400" cy="1047750"/>
            <a:chOff x="761999" y="7619995"/>
            <a:chExt cx="6248400" cy="1047750"/>
          </a:xfrm>
        </p:grpSpPr>
        <p:sp>
          <p:nvSpPr>
            <p:cNvPr id="36" name="object 36"/>
            <p:cNvSpPr/>
            <p:nvPr/>
          </p:nvSpPr>
          <p:spPr>
            <a:xfrm>
              <a:off x="766762" y="7624757"/>
              <a:ext cx="6238875" cy="1038225"/>
            </a:xfrm>
            <a:custGeom>
              <a:avLst/>
              <a:gdLst/>
              <a:ahLst/>
              <a:cxnLst/>
              <a:rect l="l" t="t" r="r" b="b"/>
              <a:pathLst>
                <a:path w="6238875" h="1038225">
                  <a:moveTo>
                    <a:pt x="6136529" y="1038215"/>
                  </a:moveTo>
                  <a:lnTo>
                    <a:pt x="102345" y="1038215"/>
                  </a:lnTo>
                  <a:lnTo>
                    <a:pt x="95221" y="1037518"/>
                  </a:lnTo>
                  <a:lnTo>
                    <a:pt x="54661" y="1023742"/>
                  </a:lnTo>
                  <a:lnTo>
                    <a:pt x="22456" y="995511"/>
                  </a:lnTo>
                  <a:lnTo>
                    <a:pt x="3507" y="957094"/>
                  </a:lnTo>
                  <a:lnTo>
                    <a:pt x="0" y="935877"/>
                  </a:lnTo>
                  <a:lnTo>
                    <a:pt x="0" y="928687"/>
                  </a:lnTo>
                  <a:lnTo>
                    <a:pt x="0" y="102347"/>
                  </a:lnTo>
                  <a:lnTo>
                    <a:pt x="11090" y="60973"/>
                  </a:lnTo>
                  <a:lnTo>
                    <a:pt x="37168" y="26993"/>
                  </a:lnTo>
                  <a:lnTo>
                    <a:pt x="74264" y="5590"/>
                  </a:lnTo>
                  <a:lnTo>
                    <a:pt x="102345" y="0"/>
                  </a:lnTo>
                  <a:lnTo>
                    <a:pt x="6136529" y="0"/>
                  </a:lnTo>
                  <a:lnTo>
                    <a:pt x="6177898" y="11078"/>
                  </a:lnTo>
                  <a:lnTo>
                    <a:pt x="6211876" y="37169"/>
                  </a:lnTo>
                  <a:lnTo>
                    <a:pt x="6233288" y="74265"/>
                  </a:lnTo>
                  <a:lnTo>
                    <a:pt x="6238873" y="102347"/>
                  </a:lnTo>
                  <a:lnTo>
                    <a:pt x="6238873" y="935877"/>
                  </a:lnTo>
                  <a:lnTo>
                    <a:pt x="6227783" y="977233"/>
                  </a:lnTo>
                  <a:lnTo>
                    <a:pt x="6201704" y="1011212"/>
                  </a:lnTo>
                  <a:lnTo>
                    <a:pt x="6164609" y="1032625"/>
                  </a:lnTo>
                  <a:lnTo>
                    <a:pt x="6143652" y="1037518"/>
                  </a:lnTo>
                  <a:lnTo>
                    <a:pt x="6136529" y="103821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6762" y="7624757"/>
              <a:ext cx="6238875" cy="1038225"/>
            </a:xfrm>
            <a:custGeom>
              <a:avLst/>
              <a:gdLst/>
              <a:ahLst/>
              <a:cxnLst/>
              <a:rect l="l" t="t" r="r" b="b"/>
              <a:pathLst>
                <a:path w="6238875" h="1038225">
                  <a:moveTo>
                    <a:pt x="0" y="928687"/>
                  </a:moveTo>
                  <a:lnTo>
                    <a:pt x="0" y="109537"/>
                  </a:lnTo>
                  <a:lnTo>
                    <a:pt x="0" y="102347"/>
                  </a:lnTo>
                  <a:lnTo>
                    <a:pt x="701" y="95222"/>
                  </a:lnTo>
                  <a:lnTo>
                    <a:pt x="14464" y="54657"/>
                  </a:lnTo>
                  <a:lnTo>
                    <a:pt x="18460" y="48676"/>
                  </a:lnTo>
                  <a:lnTo>
                    <a:pt x="22456" y="42694"/>
                  </a:lnTo>
                  <a:lnTo>
                    <a:pt x="26997" y="37169"/>
                  </a:lnTo>
                  <a:lnTo>
                    <a:pt x="32082" y="32082"/>
                  </a:lnTo>
                  <a:lnTo>
                    <a:pt x="37168" y="26993"/>
                  </a:lnTo>
                  <a:lnTo>
                    <a:pt x="74264" y="5590"/>
                  </a:lnTo>
                  <a:lnTo>
                    <a:pt x="88167" y="2111"/>
                  </a:lnTo>
                  <a:lnTo>
                    <a:pt x="95221" y="706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6129337" y="0"/>
                  </a:lnTo>
                  <a:lnTo>
                    <a:pt x="6136529" y="0"/>
                  </a:lnTo>
                  <a:lnTo>
                    <a:pt x="6143652" y="706"/>
                  </a:lnTo>
                  <a:lnTo>
                    <a:pt x="6150706" y="2111"/>
                  </a:lnTo>
                  <a:lnTo>
                    <a:pt x="6157759" y="3515"/>
                  </a:lnTo>
                  <a:lnTo>
                    <a:pt x="6196171" y="22454"/>
                  </a:lnTo>
                  <a:lnTo>
                    <a:pt x="6206791" y="32082"/>
                  </a:lnTo>
                  <a:lnTo>
                    <a:pt x="6211876" y="37169"/>
                  </a:lnTo>
                  <a:lnTo>
                    <a:pt x="6216417" y="42694"/>
                  </a:lnTo>
                  <a:lnTo>
                    <a:pt x="6220413" y="48676"/>
                  </a:lnTo>
                  <a:lnTo>
                    <a:pt x="6224409" y="54657"/>
                  </a:lnTo>
                  <a:lnTo>
                    <a:pt x="6238172" y="95222"/>
                  </a:lnTo>
                  <a:lnTo>
                    <a:pt x="6238874" y="109537"/>
                  </a:lnTo>
                  <a:lnTo>
                    <a:pt x="6238874" y="928687"/>
                  </a:lnTo>
                  <a:lnTo>
                    <a:pt x="6238873" y="935877"/>
                  </a:lnTo>
                  <a:lnTo>
                    <a:pt x="6238172" y="942993"/>
                  </a:lnTo>
                  <a:lnTo>
                    <a:pt x="6236768" y="950044"/>
                  </a:lnTo>
                  <a:lnTo>
                    <a:pt x="6235366" y="957094"/>
                  </a:lnTo>
                  <a:lnTo>
                    <a:pt x="6233288" y="963941"/>
                  </a:lnTo>
                  <a:lnTo>
                    <a:pt x="6230535" y="970582"/>
                  </a:lnTo>
                  <a:lnTo>
                    <a:pt x="6227783" y="977233"/>
                  </a:lnTo>
                  <a:lnTo>
                    <a:pt x="6224409" y="983539"/>
                  </a:lnTo>
                  <a:lnTo>
                    <a:pt x="6220413" y="989520"/>
                  </a:lnTo>
                  <a:lnTo>
                    <a:pt x="6216417" y="995511"/>
                  </a:lnTo>
                  <a:lnTo>
                    <a:pt x="6184211" y="1023742"/>
                  </a:lnTo>
                  <a:lnTo>
                    <a:pt x="6171254" y="1029871"/>
                  </a:lnTo>
                  <a:lnTo>
                    <a:pt x="6164609" y="1032625"/>
                  </a:lnTo>
                  <a:lnTo>
                    <a:pt x="6157759" y="1034709"/>
                  </a:lnTo>
                  <a:lnTo>
                    <a:pt x="6150706" y="1036113"/>
                  </a:lnTo>
                  <a:lnTo>
                    <a:pt x="6143652" y="1037518"/>
                  </a:lnTo>
                  <a:lnTo>
                    <a:pt x="6136529" y="1038215"/>
                  </a:lnTo>
                  <a:lnTo>
                    <a:pt x="6129337" y="1038224"/>
                  </a:lnTo>
                  <a:lnTo>
                    <a:pt x="109537" y="1038224"/>
                  </a:lnTo>
                  <a:lnTo>
                    <a:pt x="102345" y="1038215"/>
                  </a:lnTo>
                  <a:lnTo>
                    <a:pt x="95221" y="1037518"/>
                  </a:lnTo>
                  <a:lnTo>
                    <a:pt x="88167" y="1036113"/>
                  </a:lnTo>
                  <a:lnTo>
                    <a:pt x="81113" y="1034709"/>
                  </a:lnTo>
                  <a:lnTo>
                    <a:pt x="74264" y="1032625"/>
                  </a:lnTo>
                  <a:lnTo>
                    <a:pt x="67619" y="1029871"/>
                  </a:lnTo>
                  <a:lnTo>
                    <a:pt x="60974" y="1027118"/>
                  </a:lnTo>
                  <a:lnTo>
                    <a:pt x="26997" y="1001045"/>
                  </a:lnTo>
                  <a:lnTo>
                    <a:pt x="18460" y="989520"/>
                  </a:lnTo>
                  <a:lnTo>
                    <a:pt x="14464" y="983539"/>
                  </a:lnTo>
                  <a:lnTo>
                    <a:pt x="11090" y="977233"/>
                  </a:lnTo>
                  <a:lnTo>
                    <a:pt x="8338" y="970582"/>
                  </a:lnTo>
                  <a:lnTo>
                    <a:pt x="5585" y="963941"/>
                  </a:lnTo>
                  <a:lnTo>
                    <a:pt x="3507" y="957094"/>
                  </a:lnTo>
                  <a:lnTo>
                    <a:pt x="2104" y="950044"/>
                  </a:lnTo>
                  <a:lnTo>
                    <a:pt x="701" y="942993"/>
                  </a:lnTo>
                  <a:lnTo>
                    <a:pt x="0" y="935877"/>
                  </a:lnTo>
                  <a:lnTo>
                    <a:pt x="0" y="928687"/>
                  </a:lnTo>
                  <a:close/>
                </a:path>
              </a:pathLst>
            </a:custGeom>
            <a:ln w="9524">
              <a:solidFill>
                <a:srgbClr val="E4E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87425" y="7728267"/>
            <a:ext cx="1998980" cy="67818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XGBoost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Highest R² but more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complex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44455" y="7940675"/>
            <a:ext cx="74104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616F83"/>
                </a:solidFill>
                <a:latin typeface="Arial"/>
                <a:cs typeface="Arial"/>
              </a:rPr>
              <a:t>0.917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9" y="1635125"/>
            <a:ext cx="39693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Ridge</a:t>
            </a:r>
            <a:r>
              <a:rPr spc="-30" dirty="0"/>
              <a:t> </a:t>
            </a:r>
            <a:r>
              <a:rPr spc="-10" dirty="0"/>
              <a:t>Regression?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6630" y="2330450"/>
            <a:ext cx="5659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164" marR="5080" indent="-168910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Although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XGBoost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achieved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highest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R²,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Ridge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Regression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C242F"/>
                </a:solidFill>
                <a:latin typeface="Arial MT"/>
                <a:cs typeface="Arial MT"/>
              </a:rPr>
              <a:t>was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selected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as</a:t>
            </a:r>
            <a:r>
              <a:rPr sz="15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final</a:t>
            </a:r>
            <a:r>
              <a:rPr sz="15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model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209920"/>
            <a:ext cx="2971799" cy="57149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4100" y="4418657"/>
            <a:ext cx="1968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455" dirty="0">
                <a:solidFill>
                  <a:srgbClr val="1CC8C8"/>
                </a:solidFill>
                <a:latin typeface="MS PGothic"/>
                <a:cs typeface="MS PGothic"/>
              </a:rPr>
              <a:t>✓</a:t>
            </a:r>
            <a:endParaRPr sz="1750"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701" y="4374515"/>
            <a:ext cx="203644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Handles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multicollinearity: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L2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regularization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effectively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manages highly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correlated features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100" y="5904557"/>
            <a:ext cx="1968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455" dirty="0">
                <a:solidFill>
                  <a:srgbClr val="1CC8C8"/>
                </a:solidFill>
                <a:latin typeface="MS PGothic"/>
                <a:cs typeface="MS PGothic"/>
              </a:rPr>
              <a:t>✓</a:t>
            </a:r>
            <a:endParaRPr sz="1750">
              <a:latin typeface="MS PGothic"/>
              <a:cs typeface="MS P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701" y="5860414"/>
            <a:ext cx="207454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Stable 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performance: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Consistent results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across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folds with minimal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variance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100" y="6857056"/>
            <a:ext cx="1968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455" dirty="0">
                <a:solidFill>
                  <a:srgbClr val="1CC8C8"/>
                </a:solidFill>
                <a:latin typeface="MS PGothic"/>
                <a:cs typeface="MS PGothic"/>
              </a:rPr>
              <a:t>✓</a:t>
            </a:r>
            <a:endParaRPr sz="1750">
              <a:latin typeface="MS PGothic"/>
              <a:cs typeface="MS P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9701" y="6812914"/>
            <a:ext cx="190944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Interpretable: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Linear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coefficients</a:t>
            </a:r>
            <a:r>
              <a:rPr sz="135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provide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clear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feature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importance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4100" y="7809556"/>
            <a:ext cx="1968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455" dirty="0">
                <a:solidFill>
                  <a:srgbClr val="1CC8C8"/>
                </a:solidFill>
                <a:latin typeface="MS PGothic"/>
                <a:cs typeface="MS PGothic"/>
              </a:rPr>
              <a:t>✓</a:t>
            </a:r>
            <a:endParaRPr sz="1750">
              <a:latin typeface="MS PGothic"/>
              <a:cs typeface="MS P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9701" y="7765414"/>
            <a:ext cx="208407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Efficient: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Fast training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prediction, ideal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deployment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9" y="3209920"/>
            <a:ext cx="2971800" cy="57149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330700" y="4414043"/>
            <a:ext cx="2092325" cy="277304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Cross-</a:t>
            </a: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Validation</a:t>
            </a:r>
            <a:r>
              <a:rPr sz="1500" b="1" spc="-8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1C242F"/>
                </a:solidFill>
                <a:latin typeface="Arial"/>
                <a:cs typeface="Arial"/>
              </a:rPr>
              <a:t>R²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3600" b="1" spc="-10" dirty="0">
                <a:solidFill>
                  <a:srgbClr val="164E9C"/>
                </a:solidFill>
                <a:latin typeface="Arial"/>
                <a:cs typeface="Arial"/>
              </a:rPr>
              <a:t>0.911</a:t>
            </a:r>
            <a:endParaRPr sz="3600">
              <a:latin typeface="Arial"/>
              <a:cs typeface="Arial"/>
            </a:endParaRPr>
          </a:p>
          <a:p>
            <a:pPr marL="12700" marR="219075">
              <a:lnSpc>
                <a:spcPct val="116700"/>
              </a:lnSpc>
              <a:spcBef>
                <a:spcPts val="1455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Performance</a:t>
            </a:r>
            <a:r>
              <a:rPr sz="1500" b="1" spc="-5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Gap</a:t>
            </a:r>
            <a:r>
              <a:rPr sz="1500" b="1" spc="-4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1C242F"/>
                </a:solidFill>
                <a:latin typeface="Arial"/>
                <a:cs typeface="Arial"/>
              </a:rPr>
              <a:t>vs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XGBoost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700" b="1" spc="-10" dirty="0">
                <a:solidFill>
                  <a:srgbClr val="616F83"/>
                </a:solidFill>
                <a:latin typeface="Arial"/>
                <a:cs typeface="Arial"/>
              </a:rPr>
              <a:t>~0.6%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37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Minimal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accuracy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trade-off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significantly better stability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interpretability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5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Ridge Hyperparameter </a:t>
            </a:r>
            <a:r>
              <a:rPr spc="-10" dirty="0"/>
              <a:t>Optimization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5895969"/>
            <a:ext cx="2971799" cy="30479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6111874"/>
            <a:ext cx="1765935" cy="259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Optimal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Best</a:t>
            </a:r>
            <a:r>
              <a:rPr sz="1350" b="1" spc="-5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Alpha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700" b="1" spc="-25" dirty="0">
                <a:solidFill>
                  <a:srgbClr val="1CC8C8"/>
                </a:solidFill>
                <a:latin typeface="Arial"/>
                <a:cs typeface="Arial"/>
              </a:rPr>
              <a:t>10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Best CV </a:t>
            </a:r>
            <a:r>
              <a:rPr sz="1350" b="1" spc="-25" dirty="0">
                <a:solidFill>
                  <a:srgbClr val="1C242F"/>
                </a:solidFill>
                <a:latin typeface="Arial"/>
                <a:cs typeface="Arial"/>
              </a:rPr>
              <a:t>R²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700" b="1" spc="-10" dirty="0">
                <a:solidFill>
                  <a:srgbClr val="164E9C"/>
                </a:solidFill>
                <a:latin typeface="Arial"/>
                <a:cs typeface="Arial"/>
              </a:rPr>
              <a:t>0.9215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Validation</a:t>
            </a:r>
            <a:r>
              <a:rPr sz="1350" b="1" spc="-7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spc="-25" dirty="0">
                <a:solidFill>
                  <a:srgbClr val="1C242F"/>
                </a:solidFill>
                <a:latin typeface="Arial"/>
                <a:cs typeface="Arial"/>
              </a:rPr>
              <a:t>R²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50" b="1" spc="-10" dirty="0">
                <a:solidFill>
                  <a:srgbClr val="1CC8C8"/>
                </a:solidFill>
                <a:latin typeface="Arial"/>
                <a:cs typeface="Arial"/>
              </a:rPr>
              <a:t>0.9053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1999" y="2352670"/>
            <a:ext cx="6248399" cy="3314700"/>
            <a:chOff x="761999" y="2352670"/>
            <a:chExt cx="6248399" cy="33147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599" y="2352674"/>
              <a:ext cx="2971799" cy="10477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1999" y="2352670"/>
              <a:ext cx="2971800" cy="3314700"/>
            </a:xfrm>
            <a:custGeom>
              <a:avLst/>
              <a:gdLst/>
              <a:ahLst/>
              <a:cxnLst/>
              <a:rect l="l" t="t" r="r" b="b"/>
              <a:pathLst>
                <a:path w="2971800" h="3314700">
                  <a:moveTo>
                    <a:pt x="2865004" y="3314690"/>
                  </a:moveTo>
                  <a:lnTo>
                    <a:pt x="106794" y="3314690"/>
                  </a:lnTo>
                  <a:lnTo>
                    <a:pt x="99362" y="3313955"/>
                  </a:lnTo>
                  <a:lnTo>
                    <a:pt x="57038" y="3299584"/>
                  </a:lnTo>
                  <a:lnTo>
                    <a:pt x="23432" y="3270116"/>
                  </a:lnTo>
                  <a:lnTo>
                    <a:pt x="3660" y="3230044"/>
                  </a:lnTo>
                  <a:lnTo>
                    <a:pt x="0" y="3207896"/>
                  </a:lnTo>
                  <a:lnTo>
                    <a:pt x="0" y="3200399"/>
                  </a:lnTo>
                  <a:lnTo>
                    <a:pt x="0" y="106793"/>
                  </a:lnTo>
                  <a:lnTo>
                    <a:pt x="11572" y="63605"/>
                  </a:lnTo>
                  <a:lnTo>
                    <a:pt x="38784" y="28156"/>
                  </a:lnTo>
                  <a:lnTo>
                    <a:pt x="77493" y="5822"/>
                  </a:lnTo>
                  <a:lnTo>
                    <a:pt x="106794" y="0"/>
                  </a:lnTo>
                  <a:lnTo>
                    <a:pt x="2865004" y="0"/>
                  </a:lnTo>
                  <a:lnTo>
                    <a:pt x="2908173" y="11570"/>
                  </a:lnTo>
                  <a:lnTo>
                    <a:pt x="2943628" y="38779"/>
                  </a:lnTo>
                  <a:lnTo>
                    <a:pt x="2965971" y="77483"/>
                  </a:lnTo>
                  <a:lnTo>
                    <a:pt x="2971799" y="106793"/>
                  </a:lnTo>
                  <a:lnTo>
                    <a:pt x="2971799" y="3207896"/>
                  </a:lnTo>
                  <a:lnTo>
                    <a:pt x="2960226" y="3251047"/>
                  </a:lnTo>
                  <a:lnTo>
                    <a:pt x="2933014" y="3286505"/>
                  </a:lnTo>
                  <a:lnTo>
                    <a:pt x="2894306" y="3308848"/>
                  </a:lnTo>
                  <a:lnTo>
                    <a:pt x="2872437" y="3313955"/>
                  </a:lnTo>
                  <a:lnTo>
                    <a:pt x="2865004" y="331469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7900" y="2568575"/>
            <a:ext cx="2379980" cy="284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GridSearchCV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Setup</a:t>
            </a:r>
            <a:endParaRPr sz="1800">
              <a:latin typeface="Arial"/>
              <a:cs typeface="Arial"/>
            </a:endParaRPr>
          </a:p>
          <a:p>
            <a:pPr marL="12700" marR="664845">
              <a:lnSpc>
                <a:spcPct val="125000"/>
              </a:lnSpc>
              <a:spcBef>
                <a:spcPts val="8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Systematic search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over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regularization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parameter:</a:t>
            </a:r>
            <a:endParaRPr sz="1200">
              <a:latin typeface="Arial MT"/>
              <a:cs typeface="Arial MT"/>
            </a:endParaRPr>
          </a:p>
          <a:p>
            <a:pPr marL="12700" marR="56515" indent="95885">
              <a:lnSpc>
                <a:spcPct val="125000"/>
              </a:lnSpc>
              <a:spcBef>
                <a:spcPts val="12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Parameter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Grid:</a:t>
            </a: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alpha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=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[0.1,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1,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10, 50,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100]</a:t>
            </a:r>
            <a:endParaRPr sz="1200">
              <a:latin typeface="Arial MT"/>
              <a:cs typeface="Arial MT"/>
            </a:endParaRPr>
          </a:p>
          <a:p>
            <a:pPr marL="108585" indent="-958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Cross-</a:t>
            </a:r>
            <a:r>
              <a:rPr sz="1200" b="1" spc="-10" dirty="0">
                <a:solidFill>
                  <a:srgbClr val="1C242F"/>
                </a:solidFill>
                <a:latin typeface="Arial"/>
                <a:cs typeface="Arial"/>
              </a:rPr>
              <a:t>Validation: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5-fold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CV</a:t>
            </a:r>
            <a:endParaRPr sz="1200">
              <a:latin typeface="Arial MT"/>
              <a:cs typeface="Arial MT"/>
            </a:endParaRPr>
          </a:p>
          <a:p>
            <a:pPr marL="12700" marR="5080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Scoring</a:t>
            </a:r>
            <a:r>
              <a:rPr sz="1200" b="1" spc="-2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Metric: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R²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(coefficient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of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determination)</a:t>
            </a:r>
            <a:endParaRPr sz="1200">
              <a:latin typeface="Arial MT"/>
              <a:cs typeface="Arial MT"/>
            </a:endParaRPr>
          </a:p>
          <a:p>
            <a:pPr marL="12700" marR="43815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Goal: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Find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optimal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regularization strength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8599" y="3552829"/>
            <a:ext cx="2971800" cy="2286000"/>
          </a:xfrm>
          <a:custGeom>
            <a:avLst/>
            <a:gdLst/>
            <a:ahLst/>
            <a:cxnLst/>
            <a:rect l="l" t="t" r="r" b="b"/>
            <a:pathLst>
              <a:path w="2971800" h="2286000">
                <a:moveTo>
                  <a:pt x="2865004" y="2285990"/>
                </a:moveTo>
                <a:lnTo>
                  <a:pt x="106795" y="2285990"/>
                </a:lnTo>
                <a:lnTo>
                  <a:pt x="99362" y="2285255"/>
                </a:lnTo>
                <a:lnTo>
                  <a:pt x="57038" y="2270875"/>
                </a:lnTo>
                <a:lnTo>
                  <a:pt x="23432" y="2241416"/>
                </a:lnTo>
                <a:lnTo>
                  <a:pt x="3660" y="2201334"/>
                </a:lnTo>
                <a:lnTo>
                  <a:pt x="0" y="2179187"/>
                </a:lnTo>
                <a:lnTo>
                  <a:pt x="0" y="2171690"/>
                </a:lnTo>
                <a:lnTo>
                  <a:pt x="0" y="106783"/>
                </a:lnTo>
                <a:lnTo>
                  <a:pt x="11572" y="63605"/>
                </a:lnTo>
                <a:lnTo>
                  <a:pt x="38784" y="28147"/>
                </a:lnTo>
                <a:lnTo>
                  <a:pt x="77492" y="5804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43"/>
                </a:lnTo>
                <a:lnTo>
                  <a:pt x="2943629" y="38760"/>
                </a:lnTo>
                <a:lnTo>
                  <a:pt x="2965970" y="77464"/>
                </a:lnTo>
                <a:lnTo>
                  <a:pt x="2971800" y="106783"/>
                </a:lnTo>
                <a:lnTo>
                  <a:pt x="2971800" y="2179187"/>
                </a:lnTo>
                <a:lnTo>
                  <a:pt x="2960226" y="2222356"/>
                </a:lnTo>
                <a:lnTo>
                  <a:pt x="2933015" y="2257805"/>
                </a:lnTo>
                <a:lnTo>
                  <a:pt x="2894306" y="2280148"/>
                </a:lnTo>
                <a:lnTo>
                  <a:pt x="2872437" y="2285255"/>
                </a:lnTo>
                <a:lnTo>
                  <a:pt x="2865004" y="228599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16400" y="3740150"/>
            <a:ext cx="2416810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Validation</a:t>
            </a:r>
            <a:r>
              <a:rPr sz="1500" b="1" spc="-65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Curve</a:t>
            </a:r>
            <a:r>
              <a:rPr sz="1500" b="1" spc="-65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Insights</a:t>
            </a:r>
            <a:endParaRPr sz="1500">
              <a:latin typeface="Arial"/>
              <a:cs typeface="Arial"/>
            </a:endParaRPr>
          </a:p>
          <a:p>
            <a:pPr marL="12700" marR="5080" indent="95885">
              <a:lnSpc>
                <a:spcPct val="125000"/>
              </a:lnSpc>
              <a:spcBef>
                <a:spcPts val="84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Low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alpha: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Overfitting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(high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train,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lower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validation)</a:t>
            </a:r>
            <a:endParaRPr sz="1200">
              <a:latin typeface="Arial MT"/>
              <a:cs typeface="Arial MT"/>
            </a:endParaRPr>
          </a:p>
          <a:p>
            <a:pPr marL="12700" marR="292735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α</a:t>
            </a:r>
            <a:r>
              <a:rPr sz="1200" b="1" spc="-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≈ 10: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Optimal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balance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(best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validation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R²)</a:t>
            </a:r>
            <a:endParaRPr sz="1200">
              <a:latin typeface="Arial MT"/>
              <a:cs typeface="Arial MT"/>
            </a:endParaRPr>
          </a:p>
          <a:p>
            <a:pPr marL="12700" marR="259079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High</a:t>
            </a:r>
            <a:r>
              <a:rPr sz="1200" b="1" spc="-2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alpha:</a:t>
            </a:r>
            <a:r>
              <a:rPr sz="1200" b="1" spc="-2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Underfitting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(both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metrics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drop)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75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00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Diagnostics: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spc="-10" dirty="0"/>
              <a:t>Curve 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7038969"/>
            <a:ext cx="6248399" cy="1828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4736" y="7331075"/>
            <a:ext cx="5483225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C242F"/>
                </a:solidFill>
                <a:latin typeface="Arial"/>
                <a:cs typeface="Arial"/>
              </a:rPr>
              <a:t>Learning Curve </a:t>
            </a: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12065" marR="5080" indent="-635" algn="ctr">
              <a:lnSpc>
                <a:spcPct val="129600"/>
              </a:lnSpc>
              <a:spcBef>
                <a:spcPts val="81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Ridge Regression benefits from additional training data and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maintains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stable,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consistent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performance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across different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data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subsets,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confirming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model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robustness.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999" y="2809869"/>
            <a:ext cx="2971800" cy="3924300"/>
          </a:xfrm>
          <a:custGeom>
            <a:avLst/>
            <a:gdLst/>
            <a:ahLst/>
            <a:cxnLst/>
            <a:rect l="l" t="t" r="r" b="b"/>
            <a:pathLst>
              <a:path w="2971800" h="3924300">
                <a:moveTo>
                  <a:pt x="2865004" y="3924299"/>
                </a:moveTo>
                <a:lnTo>
                  <a:pt x="106794" y="3924299"/>
                </a:lnTo>
                <a:lnTo>
                  <a:pt x="99362" y="3923565"/>
                </a:lnTo>
                <a:lnTo>
                  <a:pt x="57038" y="3909193"/>
                </a:lnTo>
                <a:lnTo>
                  <a:pt x="23432" y="3879725"/>
                </a:lnTo>
                <a:lnTo>
                  <a:pt x="3660" y="3839653"/>
                </a:lnTo>
                <a:lnTo>
                  <a:pt x="0" y="3817506"/>
                </a:lnTo>
                <a:lnTo>
                  <a:pt x="0" y="3809999"/>
                </a:lnTo>
                <a:lnTo>
                  <a:pt x="0" y="106793"/>
                </a:lnTo>
                <a:lnTo>
                  <a:pt x="11572" y="63614"/>
                </a:lnTo>
                <a:lnTo>
                  <a:pt x="38784" y="28156"/>
                </a:lnTo>
                <a:lnTo>
                  <a:pt x="77493" y="5822"/>
                </a:lnTo>
                <a:lnTo>
                  <a:pt x="106794" y="0"/>
                </a:lnTo>
                <a:lnTo>
                  <a:pt x="2865004" y="0"/>
                </a:lnTo>
                <a:lnTo>
                  <a:pt x="2908173" y="11570"/>
                </a:lnTo>
                <a:lnTo>
                  <a:pt x="2943628" y="38769"/>
                </a:lnTo>
                <a:lnTo>
                  <a:pt x="2965971" y="77474"/>
                </a:lnTo>
                <a:lnTo>
                  <a:pt x="2971799" y="106793"/>
                </a:lnTo>
                <a:lnTo>
                  <a:pt x="2971799" y="3817506"/>
                </a:lnTo>
                <a:lnTo>
                  <a:pt x="2960226" y="3860666"/>
                </a:lnTo>
                <a:lnTo>
                  <a:pt x="2933014" y="3896115"/>
                </a:lnTo>
                <a:lnTo>
                  <a:pt x="2894306" y="3918458"/>
                </a:lnTo>
                <a:lnTo>
                  <a:pt x="2872437" y="3923565"/>
                </a:lnTo>
                <a:lnTo>
                  <a:pt x="2865004" y="39242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3082925"/>
            <a:ext cx="229679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609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Convergence Behavior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29600"/>
              </a:lnSpc>
              <a:spcBef>
                <a:spcPts val="1019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Training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validation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curves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gradually converge,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indicating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 healthy bias-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variance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balance.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The model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learns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meaningful patterns as 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more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data is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added.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599" y="2809869"/>
            <a:ext cx="2971800" cy="3924300"/>
          </a:xfrm>
          <a:custGeom>
            <a:avLst/>
            <a:gdLst/>
            <a:ahLst/>
            <a:cxnLst/>
            <a:rect l="l" t="t" r="r" b="b"/>
            <a:pathLst>
              <a:path w="2971800" h="3924300">
                <a:moveTo>
                  <a:pt x="2865004" y="3924299"/>
                </a:moveTo>
                <a:lnTo>
                  <a:pt x="106795" y="3924299"/>
                </a:lnTo>
                <a:lnTo>
                  <a:pt x="99362" y="3923565"/>
                </a:lnTo>
                <a:lnTo>
                  <a:pt x="57038" y="3909193"/>
                </a:lnTo>
                <a:lnTo>
                  <a:pt x="23432" y="3879725"/>
                </a:lnTo>
                <a:lnTo>
                  <a:pt x="3660" y="3839653"/>
                </a:lnTo>
                <a:lnTo>
                  <a:pt x="0" y="3817506"/>
                </a:lnTo>
                <a:lnTo>
                  <a:pt x="0" y="3809999"/>
                </a:lnTo>
                <a:lnTo>
                  <a:pt x="0" y="106793"/>
                </a:lnTo>
                <a:lnTo>
                  <a:pt x="11572" y="63614"/>
                </a:lnTo>
                <a:lnTo>
                  <a:pt x="38784" y="28156"/>
                </a:lnTo>
                <a:lnTo>
                  <a:pt x="77492" y="5822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70"/>
                </a:lnTo>
                <a:lnTo>
                  <a:pt x="2943629" y="38769"/>
                </a:lnTo>
                <a:lnTo>
                  <a:pt x="2965970" y="77474"/>
                </a:lnTo>
                <a:lnTo>
                  <a:pt x="2971800" y="106793"/>
                </a:lnTo>
                <a:lnTo>
                  <a:pt x="2971800" y="3817506"/>
                </a:lnTo>
                <a:lnTo>
                  <a:pt x="2960226" y="3860666"/>
                </a:lnTo>
                <a:lnTo>
                  <a:pt x="2933015" y="3896115"/>
                </a:lnTo>
                <a:lnTo>
                  <a:pt x="2894306" y="3918458"/>
                </a:lnTo>
                <a:lnTo>
                  <a:pt x="2872437" y="3923565"/>
                </a:lnTo>
                <a:lnTo>
                  <a:pt x="2865004" y="39242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0700" y="3082925"/>
            <a:ext cx="2277745" cy="137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0530">
              <a:lnSpc>
                <a:spcPct val="100000"/>
              </a:lnSpc>
              <a:spcBef>
                <a:spcPts val="100"/>
              </a:spcBef>
            </a:pPr>
            <a:r>
              <a:rPr sz="2250" b="1" spc="-25" dirty="0">
                <a:solidFill>
                  <a:srgbClr val="1CC8C8"/>
                </a:solidFill>
                <a:latin typeface="Arial"/>
                <a:cs typeface="Arial"/>
              </a:rPr>
              <a:t>Key </a:t>
            </a:r>
            <a:r>
              <a:rPr sz="2250" b="1" spc="-10" dirty="0">
                <a:solidFill>
                  <a:srgbClr val="1CC8C8"/>
                </a:solidFill>
                <a:latin typeface="Arial"/>
                <a:cs typeface="Arial"/>
              </a:rPr>
              <a:t>Observations</a:t>
            </a:r>
            <a:endParaRPr sz="2250">
              <a:latin typeface="Arial"/>
              <a:cs typeface="Arial"/>
            </a:endParaRPr>
          </a:p>
          <a:p>
            <a:pPr marL="120014" indent="-107314">
              <a:lnSpc>
                <a:spcPct val="100000"/>
              </a:lnSpc>
              <a:spcBef>
                <a:spcPts val="1500"/>
              </a:spcBef>
              <a:buFont typeface="Arial MT"/>
              <a:buChar char="•"/>
              <a:tabLst>
                <a:tab pos="120014" algn="l"/>
              </a:tabLst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Validation</a:t>
            </a:r>
            <a:r>
              <a:rPr sz="1350" b="1" spc="-4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error</a:t>
            </a:r>
            <a:r>
              <a:rPr sz="1350" b="1" spc="-3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decreases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with more training 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data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0700" y="4545965"/>
            <a:ext cx="22491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314">
              <a:lnSpc>
                <a:spcPct val="129600"/>
              </a:lnSpc>
              <a:spcBef>
                <a:spcPts val="100"/>
              </a:spcBef>
              <a:buFont typeface="Arial MT"/>
              <a:buChar char="•"/>
              <a:tabLst>
                <a:tab pos="120014" algn="l"/>
              </a:tabLst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No</a:t>
            </a:r>
            <a:r>
              <a:rPr sz="1350" b="1" spc="-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large</a:t>
            </a:r>
            <a:r>
              <a:rPr sz="1350" b="1" spc="-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gap</a:t>
            </a:r>
            <a:r>
              <a:rPr sz="1350" b="1" spc="-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between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train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and validation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scores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0700" y="5193665"/>
            <a:ext cx="1762125" cy="5588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0014" indent="-107314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20014" algn="l"/>
              </a:tabLst>
            </a:pP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No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major</a:t>
            </a:r>
            <a:r>
              <a:rPr sz="1350" b="1" spc="-10" dirty="0">
                <a:solidFill>
                  <a:srgbClr val="1C242F"/>
                </a:solidFill>
                <a:latin typeface="Arial"/>
                <a:cs typeface="Arial"/>
              </a:rPr>
              <a:t> overfitting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detected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0700" y="5841364"/>
            <a:ext cx="21443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314">
              <a:lnSpc>
                <a:spcPct val="129600"/>
              </a:lnSpc>
              <a:spcBef>
                <a:spcPts val="100"/>
              </a:spcBef>
              <a:buChar char="•"/>
              <a:tabLst>
                <a:tab pos="120014" algn="l"/>
              </a:tabLst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Model </a:t>
            </a:r>
            <a:r>
              <a:rPr sz="1350" b="1" dirty="0">
                <a:solidFill>
                  <a:srgbClr val="1C242F"/>
                </a:solidFill>
                <a:latin typeface="Arial"/>
                <a:cs typeface="Arial"/>
              </a:rPr>
              <a:t>generalizes well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to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unseen 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data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4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1425575"/>
            <a:ext cx="59772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spc="-105" dirty="0"/>
              <a:t> </a:t>
            </a:r>
            <a:r>
              <a:rPr dirty="0"/>
              <a:t>Analysis &amp; Model </a:t>
            </a:r>
            <a:r>
              <a:rPr spc="-10" dirty="0"/>
              <a:t>Performance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162169"/>
            <a:ext cx="2971799" cy="3314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2378075"/>
            <a:ext cx="228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Performance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Metrics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900" y="2840608"/>
            <a:ext cx="1058545" cy="13728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350" b="1" spc="-25" dirty="0">
                <a:solidFill>
                  <a:srgbClr val="1C242F"/>
                </a:solidFill>
                <a:latin typeface="Arial"/>
                <a:cs typeface="Arial"/>
              </a:rPr>
              <a:t>MAE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50" b="1" spc="-10" dirty="0">
                <a:solidFill>
                  <a:srgbClr val="1CC8C8"/>
                </a:solidFill>
                <a:latin typeface="Arial"/>
                <a:cs typeface="Arial"/>
              </a:rPr>
              <a:t>$15,628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350" b="1" spc="-25" dirty="0">
                <a:solidFill>
                  <a:srgbClr val="1C242F"/>
                </a:solidFill>
                <a:latin typeface="Arial"/>
                <a:cs typeface="Arial"/>
              </a:rPr>
              <a:t>R²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0.8798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0" y="2840608"/>
            <a:ext cx="1058545" cy="13728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350" b="1" spc="-20" dirty="0">
                <a:solidFill>
                  <a:srgbClr val="1C242F"/>
                </a:solidFill>
                <a:latin typeface="Arial"/>
                <a:cs typeface="Arial"/>
              </a:rPr>
              <a:t>RMSE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50" b="1" spc="-10" dirty="0">
                <a:solidFill>
                  <a:srgbClr val="1CC8C8"/>
                </a:solidFill>
                <a:latin typeface="Arial"/>
                <a:cs typeface="Arial"/>
              </a:rPr>
              <a:t>$21,348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350" b="1" spc="-20" dirty="0">
                <a:solidFill>
                  <a:srgbClr val="1C242F"/>
                </a:solidFill>
                <a:latin typeface="Arial"/>
                <a:cs typeface="Arial"/>
              </a:rPr>
              <a:t>MAPE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9.83%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900" y="4338320"/>
            <a:ext cx="22606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Model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explains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~88%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of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variance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with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average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prediction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error</a:t>
            </a:r>
            <a:r>
              <a:rPr sz="1050" spc="-3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under</a:t>
            </a:r>
            <a:r>
              <a:rPr sz="1050" spc="-3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10%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2162174"/>
            <a:ext cx="2971799" cy="2819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84997" y="5062220"/>
            <a:ext cx="26790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670" marR="5080" indent="-522605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Most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points</a:t>
            </a:r>
            <a:r>
              <a:rPr sz="1050" spc="-1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lie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close</a:t>
            </a:r>
            <a:r>
              <a:rPr sz="1050" spc="-1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to</a:t>
            </a:r>
            <a:r>
              <a:rPr sz="1050" spc="-1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diagonal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-</a:t>
            </a:r>
            <a:r>
              <a:rPr sz="1050" spc="-1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predictions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align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well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with</a:t>
            </a:r>
            <a:r>
              <a:rPr sz="1050" spc="-25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16F83"/>
                </a:solidFill>
                <a:latin typeface="Arial MT"/>
                <a:cs typeface="Arial MT"/>
              </a:rPr>
              <a:t>actual</a:t>
            </a:r>
            <a:r>
              <a:rPr sz="1050" spc="-20" dirty="0">
                <a:solidFill>
                  <a:srgbClr val="616F8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16F83"/>
                </a:solidFill>
                <a:latin typeface="Arial MT"/>
                <a:cs typeface="Arial MT"/>
              </a:rPr>
              <a:t>prices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000" y="5705469"/>
            <a:ext cx="6248399" cy="1638300"/>
            <a:chOff x="762000" y="5705469"/>
            <a:chExt cx="6248399" cy="16383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5705474"/>
              <a:ext cx="3009899" cy="12382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00499" y="5705469"/>
              <a:ext cx="3009900" cy="1638300"/>
            </a:xfrm>
            <a:custGeom>
              <a:avLst/>
              <a:gdLst/>
              <a:ahLst/>
              <a:cxnLst/>
              <a:rect l="l" t="t" r="r" b="b"/>
              <a:pathLst>
                <a:path w="3009900" h="1638300">
                  <a:moveTo>
                    <a:pt x="2903104" y="1638299"/>
                  </a:moveTo>
                  <a:lnTo>
                    <a:pt x="106794" y="1638299"/>
                  </a:lnTo>
                  <a:lnTo>
                    <a:pt x="99361" y="1637565"/>
                  </a:lnTo>
                  <a:lnTo>
                    <a:pt x="57037" y="1623184"/>
                  </a:lnTo>
                  <a:lnTo>
                    <a:pt x="23432" y="1593725"/>
                  </a:lnTo>
                  <a:lnTo>
                    <a:pt x="3660" y="1553644"/>
                  </a:lnTo>
                  <a:lnTo>
                    <a:pt x="0" y="1531506"/>
                  </a:lnTo>
                  <a:lnTo>
                    <a:pt x="0" y="1523999"/>
                  </a:lnTo>
                  <a:lnTo>
                    <a:pt x="0" y="106793"/>
                  </a:lnTo>
                  <a:lnTo>
                    <a:pt x="11571" y="63614"/>
                  </a:lnTo>
                  <a:lnTo>
                    <a:pt x="38784" y="28165"/>
                  </a:lnTo>
                  <a:lnTo>
                    <a:pt x="77492" y="5822"/>
                  </a:lnTo>
                  <a:lnTo>
                    <a:pt x="106794" y="0"/>
                  </a:lnTo>
                  <a:lnTo>
                    <a:pt x="2903104" y="0"/>
                  </a:lnTo>
                  <a:lnTo>
                    <a:pt x="2946274" y="11562"/>
                  </a:lnTo>
                  <a:lnTo>
                    <a:pt x="2981728" y="38788"/>
                  </a:lnTo>
                  <a:lnTo>
                    <a:pt x="3004070" y="77492"/>
                  </a:lnTo>
                  <a:lnTo>
                    <a:pt x="3009899" y="106793"/>
                  </a:lnTo>
                  <a:lnTo>
                    <a:pt x="3009899" y="1531506"/>
                  </a:lnTo>
                  <a:lnTo>
                    <a:pt x="2998326" y="1574657"/>
                  </a:lnTo>
                  <a:lnTo>
                    <a:pt x="2971114" y="1610115"/>
                  </a:lnTo>
                  <a:lnTo>
                    <a:pt x="2932406" y="1632458"/>
                  </a:lnTo>
                  <a:lnTo>
                    <a:pt x="2910537" y="1637565"/>
                  </a:lnTo>
                  <a:lnTo>
                    <a:pt x="2903104" y="16382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8300" y="5892799"/>
            <a:ext cx="2617470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Residual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Distribution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Residuals are centered around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zero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with approximately normal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distribution,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indicating random errors rather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than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systematic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bias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00499" y="7496169"/>
            <a:ext cx="3009900" cy="1638300"/>
          </a:xfrm>
          <a:custGeom>
            <a:avLst/>
            <a:gdLst/>
            <a:ahLst/>
            <a:cxnLst/>
            <a:rect l="l" t="t" r="r" b="b"/>
            <a:pathLst>
              <a:path w="3009900" h="1638300">
                <a:moveTo>
                  <a:pt x="2903104" y="1638299"/>
                </a:moveTo>
                <a:lnTo>
                  <a:pt x="106794" y="1638299"/>
                </a:lnTo>
                <a:lnTo>
                  <a:pt x="99361" y="1637565"/>
                </a:lnTo>
                <a:lnTo>
                  <a:pt x="57037" y="1623184"/>
                </a:lnTo>
                <a:lnTo>
                  <a:pt x="23432" y="1593735"/>
                </a:lnTo>
                <a:lnTo>
                  <a:pt x="3660" y="1553654"/>
                </a:lnTo>
                <a:lnTo>
                  <a:pt x="0" y="1531497"/>
                </a:lnTo>
                <a:lnTo>
                  <a:pt x="0" y="1523999"/>
                </a:lnTo>
                <a:lnTo>
                  <a:pt x="0" y="106793"/>
                </a:lnTo>
                <a:lnTo>
                  <a:pt x="11571" y="63596"/>
                </a:lnTo>
                <a:lnTo>
                  <a:pt x="38784" y="28147"/>
                </a:lnTo>
                <a:lnTo>
                  <a:pt x="77492" y="5822"/>
                </a:lnTo>
                <a:lnTo>
                  <a:pt x="106794" y="0"/>
                </a:lnTo>
                <a:lnTo>
                  <a:pt x="2903104" y="0"/>
                </a:lnTo>
                <a:lnTo>
                  <a:pt x="2946274" y="11562"/>
                </a:lnTo>
                <a:lnTo>
                  <a:pt x="2981728" y="38760"/>
                </a:lnTo>
                <a:lnTo>
                  <a:pt x="3004070" y="77464"/>
                </a:lnTo>
                <a:lnTo>
                  <a:pt x="3009899" y="106793"/>
                </a:lnTo>
                <a:lnTo>
                  <a:pt x="3009899" y="1531497"/>
                </a:lnTo>
                <a:lnTo>
                  <a:pt x="2998326" y="1574666"/>
                </a:lnTo>
                <a:lnTo>
                  <a:pt x="2971114" y="1610115"/>
                </a:lnTo>
                <a:lnTo>
                  <a:pt x="2932406" y="1632458"/>
                </a:lnTo>
                <a:lnTo>
                  <a:pt x="2910537" y="1637565"/>
                </a:lnTo>
                <a:lnTo>
                  <a:pt x="2903104" y="16382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78300" y="7683500"/>
            <a:ext cx="263461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Residuals</a:t>
            </a:r>
            <a:r>
              <a:rPr sz="1500" b="1" spc="-45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vs</a:t>
            </a:r>
            <a:r>
              <a:rPr sz="1500" b="1" spc="-45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Predicted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Random scatter around zero line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no clear trend confirms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consistent</a:t>
            </a:r>
            <a:r>
              <a:rPr sz="1200" spc="5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error across price ranges and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absence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of major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heteroscedasticity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8391518"/>
            <a:ext cx="6248399" cy="1181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1168400"/>
            <a:ext cx="51504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Explainability</a:t>
            </a:r>
            <a:r>
              <a:rPr spc="-4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20" dirty="0"/>
              <a:t>SHAP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6864" y="1863725"/>
            <a:ext cx="57188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2645" marR="5080" indent="-210058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500" spc="-10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(SHapley</a:t>
            </a:r>
            <a:r>
              <a:rPr sz="1500" spc="-9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Additive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exPlanations)</a:t>
            </a:r>
            <a:r>
              <a:rPr sz="15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reveals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which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features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drive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model</a:t>
            </a:r>
            <a:r>
              <a:rPr sz="15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predictions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2666999"/>
            <a:ext cx="6248400" cy="4467219"/>
            <a:chOff x="761999" y="2666999"/>
            <a:chExt cx="6248400" cy="44672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0" y="2667000"/>
              <a:ext cx="2971799" cy="22193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600" y="2666999"/>
              <a:ext cx="2971799" cy="35909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61999" y="5000618"/>
              <a:ext cx="2971800" cy="2133600"/>
            </a:xfrm>
            <a:custGeom>
              <a:avLst/>
              <a:gdLst/>
              <a:ahLst/>
              <a:cxnLst/>
              <a:rect l="l" t="t" r="r" b="b"/>
              <a:pathLst>
                <a:path w="2971800" h="2133600">
                  <a:moveTo>
                    <a:pt x="2865004" y="2133590"/>
                  </a:moveTo>
                  <a:lnTo>
                    <a:pt x="106794" y="2133590"/>
                  </a:lnTo>
                  <a:lnTo>
                    <a:pt x="99362" y="2132855"/>
                  </a:lnTo>
                  <a:lnTo>
                    <a:pt x="57038" y="2118475"/>
                  </a:lnTo>
                  <a:lnTo>
                    <a:pt x="23432" y="2089016"/>
                  </a:lnTo>
                  <a:lnTo>
                    <a:pt x="3660" y="2048944"/>
                  </a:lnTo>
                  <a:lnTo>
                    <a:pt x="0" y="2026806"/>
                  </a:lnTo>
                  <a:lnTo>
                    <a:pt x="0" y="2019299"/>
                  </a:lnTo>
                  <a:lnTo>
                    <a:pt x="0" y="106793"/>
                  </a:lnTo>
                  <a:lnTo>
                    <a:pt x="11572" y="63605"/>
                  </a:lnTo>
                  <a:lnTo>
                    <a:pt x="38784" y="28156"/>
                  </a:lnTo>
                  <a:lnTo>
                    <a:pt x="77493" y="5822"/>
                  </a:lnTo>
                  <a:lnTo>
                    <a:pt x="106794" y="0"/>
                  </a:lnTo>
                  <a:lnTo>
                    <a:pt x="2865004" y="0"/>
                  </a:lnTo>
                  <a:lnTo>
                    <a:pt x="2908173" y="11552"/>
                  </a:lnTo>
                  <a:lnTo>
                    <a:pt x="2943628" y="38769"/>
                  </a:lnTo>
                  <a:lnTo>
                    <a:pt x="2965971" y="77483"/>
                  </a:lnTo>
                  <a:lnTo>
                    <a:pt x="2971799" y="106793"/>
                  </a:lnTo>
                  <a:lnTo>
                    <a:pt x="2971799" y="2026806"/>
                  </a:lnTo>
                  <a:lnTo>
                    <a:pt x="2960226" y="2069957"/>
                  </a:lnTo>
                  <a:lnTo>
                    <a:pt x="2933014" y="2105405"/>
                  </a:lnTo>
                  <a:lnTo>
                    <a:pt x="2894306" y="2127740"/>
                  </a:lnTo>
                  <a:lnTo>
                    <a:pt x="2872437" y="2132855"/>
                  </a:lnTo>
                  <a:lnTo>
                    <a:pt x="2865004" y="213359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6601" y="8578850"/>
            <a:ext cx="563943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Key</a:t>
            </a:r>
            <a:r>
              <a:rPr sz="1500" b="1" spc="-3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Insight:</a:t>
            </a:r>
            <a:endParaRPr sz="1500">
              <a:latin typeface="Arial"/>
              <a:cs typeface="Arial"/>
            </a:endParaRPr>
          </a:p>
          <a:p>
            <a:pPr marL="12065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analysis confirms that home quality and total living area are the biggest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price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drivers, and the model behaves consistently with real-estate domain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knowledge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5159375"/>
            <a:ext cx="2306955" cy="126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164E9C"/>
                </a:solidFill>
                <a:latin typeface="Arial"/>
                <a:cs typeface="Arial"/>
              </a:rPr>
              <a:t>Top</a:t>
            </a:r>
            <a:r>
              <a:rPr sz="1350" b="1" spc="-3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64E9C"/>
                </a:solidFill>
                <a:latin typeface="Arial"/>
                <a:cs typeface="Arial"/>
              </a:rPr>
              <a:t>Influential</a:t>
            </a:r>
            <a:r>
              <a:rPr sz="1350" b="1" spc="-3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64E9C"/>
                </a:solidFill>
                <a:latin typeface="Arial"/>
                <a:cs typeface="Arial"/>
              </a:rPr>
              <a:t>Features</a:t>
            </a:r>
            <a:endParaRPr sz="1350">
              <a:latin typeface="Arial"/>
              <a:cs typeface="Arial"/>
            </a:endParaRPr>
          </a:p>
          <a:p>
            <a:pPr marL="12700" marR="106680" indent="95885">
              <a:lnSpc>
                <a:spcPct val="125000"/>
              </a:lnSpc>
              <a:spcBef>
                <a:spcPts val="645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OverallQualArea: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Quality-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size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interaction</a:t>
            </a:r>
            <a:endParaRPr sz="1200">
              <a:latin typeface="Arial MT"/>
              <a:cs typeface="Arial MT"/>
            </a:endParaRPr>
          </a:p>
          <a:p>
            <a:pPr marL="12700" marR="5080" indent="95885">
              <a:lnSpc>
                <a:spcPct val="125000"/>
              </a:lnSpc>
              <a:spcBef>
                <a:spcPts val="3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OverallQual:</a:t>
            </a:r>
            <a:r>
              <a:rPr sz="1200" b="1" spc="-2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Material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finish quality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6399529"/>
            <a:ext cx="2637790" cy="5588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8585" indent="-9588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spc="-20" dirty="0">
                <a:solidFill>
                  <a:srgbClr val="1C242F"/>
                </a:solidFill>
                <a:latin typeface="Arial"/>
                <a:cs typeface="Arial"/>
              </a:rPr>
              <a:t>TotalSF:</a:t>
            </a:r>
            <a:r>
              <a:rPr sz="1200" b="1" spc="-3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Total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square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footage</a:t>
            </a:r>
            <a:endParaRPr sz="1200">
              <a:latin typeface="Arial MT"/>
              <a:cs typeface="Arial MT"/>
            </a:endParaRPr>
          </a:p>
          <a:p>
            <a:pPr marL="108585" indent="-9588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GrLivArea:</a:t>
            </a:r>
            <a:r>
              <a:rPr sz="1200" b="1" spc="-7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Above-ground living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area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8599" y="6372218"/>
            <a:ext cx="2971800" cy="1790700"/>
          </a:xfrm>
          <a:custGeom>
            <a:avLst/>
            <a:gdLst/>
            <a:ahLst/>
            <a:cxnLst/>
            <a:rect l="l" t="t" r="r" b="b"/>
            <a:pathLst>
              <a:path w="2971800" h="1790700">
                <a:moveTo>
                  <a:pt x="2865004" y="1790699"/>
                </a:moveTo>
                <a:lnTo>
                  <a:pt x="106795" y="1790699"/>
                </a:lnTo>
                <a:lnTo>
                  <a:pt x="99362" y="1789955"/>
                </a:lnTo>
                <a:lnTo>
                  <a:pt x="57038" y="1775575"/>
                </a:lnTo>
                <a:lnTo>
                  <a:pt x="23432" y="1746107"/>
                </a:lnTo>
                <a:lnTo>
                  <a:pt x="3660" y="1706034"/>
                </a:lnTo>
                <a:lnTo>
                  <a:pt x="0" y="1683896"/>
                </a:lnTo>
                <a:lnTo>
                  <a:pt x="0" y="1676399"/>
                </a:lnTo>
                <a:lnTo>
                  <a:pt x="0" y="106783"/>
                </a:lnTo>
                <a:lnTo>
                  <a:pt x="11572" y="63614"/>
                </a:lnTo>
                <a:lnTo>
                  <a:pt x="38784" y="28165"/>
                </a:lnTo>
                <a:lnTo>
                  <a:pt x="77492" y="5814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62"/>
                </a:lnTo>
                <a:lnTo>
                  <a:pt x="2943629" y="38788"/>
                </a:lnTo>
                <a:lnTo>
                  <a:pt x="2965970" y="77474"/>
                </a:lnTo>
                <a:lnTo>
                  <a:pt x="2971800" y="106783"/>
                </a:lnTo>
                <a:lnTo>
                  <a:pt x="2971800" y="1683896"/>
                </a:lnTo>
                <a:lnTo>
                  <a:pt x="2960226" y="1727057"/>
                </a:lnTo>
                <a:lnTo>
                  <a:pt x="2933015" y="1762497"/>
                </a:lnTo>
                <a:lnTo>
                  <a:pt x="2894306" y="1784840"/>
                </a:lnTo>
                <a:lnTo>
                  <a:pt x="2872437" y="1789955"/>
                </a:lnTo>
                <a:lnTo>
                  <a:pt x="2865004" y="17906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78300" y="6530975"/>
            <a:ext cx="2626360" cy="145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CC8C8"/>
                </a:solidFill>
                <a:latin typeface="Arial"/>
                <a:cs typeface="Arial"/>
              </a:rPr>
              <a:t>Feature Effect </a:t>
            </a:r>
            <a:r>
              <a:rPr sz="1350" b="1" spc="-10" dirty="0">
                <a:solidFill>
                  <a:srgbClr val="1CC8C8"/>
                </a:solidFill>
                <a:latin typeface="Arial"/>
                <a:cs typeface="Arial"/>
              </a:rPr>
              <a:t>Patterns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The dot plot shows how feature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values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(color) impact predictions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(horizontal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position). Red (high values)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push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predictions</a:t>
            </a:r>
            <a:r>
              <a:rPr sz="12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higher,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confirming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real-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estate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intuition.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4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Kaggle</a:t>
            </a:r>
            <a:r>
              <a:rPr spc="-80" dirty="0"/>
              <a:t> </a:t>
            </a:r>
            <a:r>
              <a:rPr dirty="0"/>
              <a:t>Competition</a:t>
            </a:r>
            <a:r>
              <a:rPr spc="-80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57349" y="2409818"/>
            <a:ext cx="4457700" cy="2819400"/>
            <a:chOff x="1657349" y="2409818"/>
            <a:chExt cx="4457700" cy="2819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399" y="2428877"/>
              <a:ext cx="4419599" cy="2781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66874" y="2419343"/>
              <a:ext cx="4438650" cy="2800350"/>
            </a:xfrm>
            <a:custGeom>
              <a:avLst/>
              <a:gdLst/>
              <a:ahLst/>
              <a:cxnLst/>
              <a:rect l="l" t="t" r="r" b="b"/>
              <a:pathLst>
                <a:path w="4438650" h="2800350">
                  <a:moveTo>
                    <a:pt x="0" y="2695574"/>
                  </a:moveTo>
                  <a:lnTo>
                    <a:pt x="0" y="104774"/>
                  </a:lnTo>
                  <a:lnTo>
                    <a:pt x="0" y="97888"/>
                  </a:lnTo>
                  <a:lnTo>
                    <a:pt x="671" y="91068"/>
                  </a:lnTo>
                  <a:lnTo>
                    <a:pt x="2013" y="84315"/>
                  </a:lnTo>
                  <a:lnTo>
                    <a:pt x="3355" y="77581"/>
                  </a:lnTo>
                  <a:lnTo>
                    <a:pt x="5342" y="71027"/>
                  </a:lnTo>
                  <a:lnTo>
                    <a:pt x="7975" y="64665"/>
                  </a:lnTo>
                  <a:lnTo>
                    <a:pt x="10608" y="58302"/>
                  </a:lnTo>
                  <a:lnTo>
                    <a:pt x="30687" y="30680"/>
                  </a:lnTo>
                  <a:lnTo>
                    <a:pt x="35552" y="25822"/>
                  </a:lnTo>
                  <a:lnTo>
                    <a:pt x="40844" y="21469"/>
                  </a:lnTo>
                  <a:lnTo>
                    <a:pt x="46565" y="17659"/>
                  </a:lnTo>
                  <a:lnTo>
                    <a:pt x="52285" y="13839"/>
                  </a:lnTo>
                  <a:lnTo>
                    <a:pt x="91081" y="666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4333874" y="0"/>
                  </a:lnTo>
                  <a:lnTo>
                    <a:pt x="4340754" y="0"/>
                  </a:lnTo>
                  <a:lnTo>
                    <a:pt x="4347568" y="666"/>
                  </a:lnTo>
                  <a:lnTo>
                    <a:pt x="4386363" y="13839"/>
                  </a:lnTo>
                  <a:lnTo>
                    <a:pt x="4392084" y="17659"/>
                  </a:lnTo>
                  <a:lnTo>
                    <a:pt x="4397804" y="21469"/>
                  </a:lnTo>
                  <a:lnTo>
                    <a:pt x="4403096" y="25822"/>
                  </a:lnTo>
                  <a:lnTo>
                    <a:pt x="4407961" y="30680"/>
                  </a:lnTo>
                  <a:lnTo>
                    <a:pt x="4412825" y="35528"/>
                  </a:lnTo>
                  <a:lnTo>
                    <a:pt x="4430673" y="64665"/>
                  </a:lnTo>
                  <a:lnTo>
                    <a:pt x="4433306" y="71027"/>
                  </a:lnTo>
                  <a:lnTo>
                    <a:pt x="4435294" y="77581"/>
                  </a:lnTo>
                  <a:lnTo>
                    <a:pt x="4436636" y="84315"/>
                  </a:lnTo>
                  <a:lnTo>
                    <a:pt x="4437978" y="91068"/>
                  </a:lnTo>
                  <a:lnTo>
                    <a:pt x="4438649" y="97888"/>
                  </a:lnTo>
                  <a:lnTo>
                    <a:pt x="4438649" y="104774"/>
                  </a:lnTo>
                  <a:lnTo>
                    <a:pt x="4438649" y="2695574"/>
                  </a:lnTo>
                  <a:lnTo>
                    <a:pt x="4438649" y="2702442"/>
                  </a:lnTo>
                  <a:lnTo>
                    <a:pt x="4437978" y="2709252"/>
                  </a:lnTo>
                  <a:lnTo>
                    <a:pt x="4424813" y="2748038"/>
                  </a:lnTo>
                  <a:lnTo>
                    <a:pt x="4397804" y="2778842"/>
                  </a:lnTo>
                  <a:lnTo>
                    <a:pt x="4373969" y="2792348"/>
                  </a:lnTo>
                  <a:lnTo>
                    <a:pt x="4367614" y="2794996"/>
                  </a:lnTo>
                  <a:lnTo>
                    <a:pt x="4361063" y="2796977"/>
                  </a:lnTo>
                  <a:lnTo>
                    <a:pt x="4354315" y="2798340"/>
                  </a:lnTo>
                  <a:lnTo>
                    <a:pt x="4347568" y="2799683"/>
                  </a:lnTo>
                  <a:lnTo>
                    <a:pt x="4340754" y="2800349"/>
                  </a:lnTo>
                  <a:lnTo>
                    <a:pt x="4333874" y="2800349"/>
                  </a:lnTo>
                  <a:lnTo>
                    <a:pt x="104775" y="2800349"/>
                  </a:lnTo>
                  <a:lnTo>
                    <a:pt x="97895" y="2800349"/>
                  </a:lnTo>
                  <a:lnTo>
                    <a:pt x="91081" y="2799683"/>
                  </a:lnTo>
                  <a:lnTo>
                    <a:pt x="84334" y="2798320"/>
                  </a:lnTo>
                  <a:lnTo>
                    <a:pt x="77586" y="2796977"/>
                  </a:lnTo>
                  <a:lnTo>
                    <a:pt x="71035" y="2794996"/>
                  </a:lnTo>
                  <a:lnTo>
                    <a:pt x="64679" y="2792329"/>
                  </a:lnTo>
                  <a:lnTo>
                    <a:pt x="58323" y="2789691"/>
                  </a:lnTo>
                  <a:lnTo>
                    <a:pt x="25823" y="2764783"/>
                  </a:lnTo>
                  <a:lnTo>
                    <a:pt x="5342" y="2729283"/>
                  </a:lnTo>
                  <a:lnTo>
                    <a:pt x="2013" y="2715986"/>
                  </a:lnTo>
                  <a:lnTo>
                    <a:pt x="671" y="2709252"/>
                  </a:lnTo>
                  <a:lnTo>
                    <a:pt x="0" y="2702442"/>
                  </a:lnTo>
                  <a:lnTo>
                    <a:pt x="0" y="2695574"/>
                  </a:lnTo>
                  <a:close/>
                </a:path>
              </a:pathLst>
            </a:custGeom>
            <a:ln w="19049">
              <a:solidFill>
                <a:srgbClr val="164E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20602" y="2854325"/>
            <a:ext cx="3531235" cy="188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164E9C"/>
                </a:solidFill>
                <a:latin typeface="Arial"/>
                <a:cs typeface="Arial"/>
              </a:rPr>
              <a:t>Final Kaggle </a:t>
            </a:r>
            <a:r>
              <a:rPr sz="2250" b="1" spc="-10" dirty="0">
                <a:solidFill>
                  <a:srgbClr val="164E9C"/>
                </a:solidFill>
                <a:latin typeface="Arial"/>
                <a:cs typeface="Arial"/>
              </a:rPr>
              <a:t>Score</a:t>
            </a:r>
            <a:endParaRPr sz="2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7200" b="1" spc="-10" dirty="0">
                <a:solidFill>
                  <a:srgbClr val="1CC8C8"/>
                </a:solidFill>
                <a:latin typeface="Arial"/>
                <a:cs typeface="Arial"/>
              </a:rPr>
              <a:t>0.13820</a:t>
            </a:r>
            <a:endParaRPr sz="7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800" b="1" dirty="0">
                <a:solidFill>
                  <a:srgbClr val="616F83"/>
                </a:solidFill>
                <a:latin typeface="Arial"/>
                <a:cs typeface="Arial"/>
              </a:rPr>
              <a:t>RMSE</a:t>
            </a:r>
            <a:r>
              <a:rPr sz="1800" b="1" spc="-15" dirty="0">
                <a:solidFill>
                  <a:srgbClr val="616F8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6F83"/>
                </a:solidFill>
                <a:latin typeface="Arial"/>
                <a:cs typeface="Arial"/>
              </a:rPr>
              <a:t>(Root</a:t>
            </a:r>
            <a:r>
              <a:rPr sz="1800" b="1" spc="-10" dirty="0">
                <a:solidFill>
                  <a:srgbClr val="616F8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6F83"/>
                </a:solidFill>
                <a:latin typeface="Arial"/>
                <a:cs typeface="Arial"/>
              </a:rPr>
              <a:t>Mean</a:t>
            </a:r>
            <a:r>
              <a:rPr sz="1800" b="1" spc="-15" dirty="0">
                <a:solidFill>
                  <a:srgbClr val="616F8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6F83"/>
                </a:solidFill>
                <a:latin typeface="Arial"/>
                <a:cs typeface="Arial"/>
              </a:rPr>
              <a:t>Square</a:t>
            </a:r>
            <a:r>
              <a:rPr sz="1800" b="1" spc="-10" dirty="0">
                <a:solidFill>
                  <a:srgbClr val="616F83"/>
                </a:solidFill>
                <a:latin typeface="Arial"/>
                <a:cs typeface="Arial"/>
              </a:rPr>
              <a:t> Error)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7248518"/>
            <a:ext cx="6248399" cy="16382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7900" y="7464425"/>
            <a:ext cx="534479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Result: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29600"/>
              </a:lnSpc>
              <a:spcBef>
                <a:spcPts val="509"/>
              </a:spcBef>
            </a:pP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Strong performance and excellent generalization on unseen test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data,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confirming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model's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robustness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effectiveness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of</a:t>
            </a:r>
            <a:r>
              <a:rPr sz="135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 feature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engineering and preprocessing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pipeline.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999" y="5534018"/>
            <a:ext cx="1933575" cy="1409700"/>
          </a:xfrm>
          <a:custGeom>
            <a:avLst/>
            <a:gdLst/>
            <a:ahLst/>
            <a:cxnLst/>
            <a:rect l="l" t="t" r="r" b="b"/>
            <a:pathLst>
              <a:path w="1933575" h="1409700">
                <a:moveTo>
                  <a:pt x="1826779" y="1409680"/>
                </a:moveTo>
                <a:lnTo>
                  <a:pt x="106794" y="1409680"/>
                </a:lnTo>
                <a:lnTo>
                  <a:pt x="99362" y="1408956"/>
                </a:lnTo>
                <a:lnTo>
                  <a:pt x="57038" y="1394574"/>
                </a:lnTo>
                <a:lnTo>
                  <a:pt x="23432" y="1365122"/>
                </a:lnTo>
                <a:lnTo>
                  <a:pt x="3660" y="1325032"/>
                </a:lnTo>
                <a:lnTo>
                  <a:pt x="0" y="1302896"/>
                </a:lnTo>
                <a:lnTo>
                  <a:pt x="0" y="12953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46"/>
                </a:lnTo>
                <a:lnTo>
                  <a:pt x="77493" y="5800"/>
                </a:lnTo>
                <a:lnTo>
                  <a:pt x="106794" y="0"/>
                </a:lnTo>
                <a:lnTo>
                  <a:pt x="1826779" y="0"/>
                </a:lnTo>
                <a:lnTo>
                  <a:pt x="1869949" y="11572"/>
                </a:lnTo>
                <a:lnTo>
                  <a:pt x="1905403" y="38766"/>
                </a:lnTo>
                <a:lnTo>
                  <a:pt x="1927746" y="77466"/>
                </a:lnTo>
                <a:lnTo>
                  <a:pt x="1933574" y="106784"/>
                </a:lnTo>
                <a:lnTo>
                  <a:pt x="1933574" y="1302896"/>
                </a:lnTo>
                <a:lnTo>
                  <a:pt x="1922001" y="1346053"/>
                </a:lnTo>
                <a:lnTo>
                  <a:pt x="1894790" y="1381515"/>
                </a:lnTo>
                <a:lnTo>
                  <a:pt x="1856081" y="1403861"/>
                </a:lnTo>
                <a:lnTo>
                  <a:pt x="1834212" y="1408956"/>
                </a:lnTo>
                <a:lnTo>
                  <a:pt x="1826779" y="14096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91902" y="5672137"/>
            <a:ext cx="1270635" cy="10255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785"/>
              </a:spcBef>
            </a:pP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  <a:p>
            <a:pPr marL="12700" marR="5080" indent="304800">
              <a:lnSpc>
                <a:spcPct val="111100"/>
              </a:lnSpc>
              <a:spcBef>
                <a:spcPts val="585"/>
              </a:spcBef>
            </a:pP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Ridge Regression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24174" y="5534018"/>
            <a:ext cx="1924050" cy="1409700"/>
          </a:xfrm>
          <a:custGeom>
            <a:avLst/>
            <a:gdLst/>
            <a:ahLst/>
            <a:cxnLst/>
            <a:rect l="l" t="t" r="r" b="b"/>
            <a:pathLst>
              <a:path w="1924050" h="1409700">
                <a:moveTo>
                  <a:pt x="1817254" y="1409680"/>
                </a:moveTo>
                <a:lnTo>
                  <a:pt x="106794" y="1409680"/>
                </a:lnTo>
                <a:lnTo>
                  <a:pt x="99361" y="1408956"/>
                </a:lnTo>
                <a:lnTo>
                  <a:pt x="57038" y="1394574"/>
                </a:lnTo>
                <a:lnTo>
                  <a:pt x="23432" y="1365122"/>
                </a:lnTo>
                <a:lnTo>
                  <a:pt x="3659" y="1325032"/>
                </a:lnTo>
                <a:lnTo>
                  <a:pt x="0" y="1302896"/>
                </a:lnTo>
                <a:lnTo>
                  <a:pt x="0" y="12953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46"/>
                </a:lnTo>
                <a:lnTo>
                  <a:pt x="77492" y="5800"/>
                </a:lnTo>
                <a:lnTo>
                  <a:pt x="106794" y="0"/>
                </a:lnTo>
                <a:lnTo>
                  <a:pt x="1817254" y="0"/>
                </a:lnTo>
                <a:lnTo>
                  <a:pt x="1860423" y="11572"/>
                </a:lnTo>
                <a:lnTo>
                  <a:pt x="1895878" y="38766"/>
                </a:lnTo>
                <a:lnTo>
                  <a:pt x="1918220" y="77466"/>
                </a:lnTo>
                <a:lnTo>
                  <a:pt x="1924049" y="106784"/>
                </a:lnTo>
                <a:lnTo>
                  <a:pt x="1924049" y="1302896"/>
                </a:lnTo>
                <a:lnTo>
                  <a:pt x="1912476" y="1346053"/>
                </a:lnTo>
                <a:lnTo>
                  <a:pt x="1885264" y="1381515"/>
                </a:lnTo>
                <a:lnTo>
                  <a:pt x="1846556" y="1403861"/>
                </a:lnTo>
                <a:lnTo>
                  <a:pt x="1824687" y="1408956"/>
                </a:lnTo>
                <a:lnTo>
                  <a:pt x="1817254" y="14096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96493" y="5672137"/>
            <a:ext cx="1179195" cy="7207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Validation</a:t>
            </a:r>
            <a:r>
              <a:rPr sz="1500" b="1" spc="-8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1C242F"/>
                </a:solidFill>
                <a:latin typeface="Arial"/>
                <a:cs typeface="Arial"/>
              </a:rPr>
              <a:t>R²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0.9053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6824" y="5534018"/>
            <a:ext cx="1933575" cy="1409700"/>
          </a:xfrm>
          <a:custGeom>
            <a:avLst/>
            <a:gdLst/>
            <a:ahLst/>
            <a:cxnLst/>
            <a:rect l="l" t="t" r="r" b="b"/>
            <a:pathLst>
              <a:path w="1933575" h="1409700">
                <a:moveTo>
                  <a:pt x="1826779" y="1409680"/>
                </a:moveTo>
                <a:lnTo>
                  <a:pt x="106794" y="1409680"/>
                </a:lnTo>
                <a:lnTo>
                  <a:pt x="99361" y="1408956"/>
                </a:lnTo>
                <a:lnTo>
                  <a:pt x="57038" y="1394574"/>
                </a:lnTo>
                <a:lnTo>
                  <a:pt x="23432" y="1365122"/>
                </a:lnTo>
                <a:lnTo>
                  <a:pt x="3660" y="1325032"/>
                </a:lnTo>
                <a:lnTo>
                  <a:pt x="0" y="1302896"/>
                </a:lnTo>
                <a:lnTo>
                  <a:pt x="0" y="12953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46"/>
                </a:lnTo>
                <a:lnTo>
                  <a:pt x="77492" y="5800"/>
                </a:lnTo>
                <a:lnTo>
                  <a:pt x="106794" y="0"/>
                </a:lnTo>
                <a:lnTo>
                  <a:pt x="1826779" y="0"/>
                </a:lnTo>
                <a:lnTo>
                  <a:pt x="1869949" y="11572"/>
                </a:lnTo>
                <a:lnTo>
                  <a:pt x="1905404" y="38766"/>
                </a:lnTo>
                <a:lnTo>
                  <a:pt x="1927745" y="77466"/>
                </a:lnTo>
                <a:lnTo>
                  <a:pt x="1933575" y="106784"/>
                </a:lnTo>
                <a:lnTo>
                  <a:pt x="1933575" y="1302896"/>
                </a:lnTo>
                <a:lnTo>
                  <a:pt x="1922001" y="1346053"/>
                </a:lnTo>
                <a:lnTo>
                  <a:pt x="1894790" y="1381515"/>
                </a:lnTo>
                <a:lnTo>
                  <a:pt x="1856081" y="1403861"/>
                </a:lnTo>
                <a:lnTo>
                  <a:pt x="1834212" y="1408956"/>
                </a:lnTo>
                <a:lnTo>
                  <a:pt x="1826779" y="14096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38440" y="5672137"/>
            <a:ext cx="1013460" cy="7207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500" b="1" dirty="0">
                <a:solidFill>
                  <a:srgbClr val="1C242F"/>
                </a:solidFill>
                <a:latin typeface="Arial"/>
                <a:cs typeface="Arial"/>
              </a:rPr>
              <a:t>Best</a:t>
            </a:r>
            <a:r>
              <a:rPr sz="1500" b="1" spc="-9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242F"/>
                </a:solidFill>
                <a:latin typeface="Arial"/>
                <a:cs typeface="Arial"/>
              </a:rPr>
              <a:t>Alpha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800" b="1" spc="-25" dirty="0">
                <a:solidFill>
                  <a:srgbClr val="164E9C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0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Streamlit </a:t>
            </a: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744" y="2540000"/>
            <a:ext cx="54470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Interactive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web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application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for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real-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world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house</a:t>
            </a:r>
            <a:r>
              <a:rPr sz="1500" spc="-4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C242F"/>
                </a:solidFill>
                <a:latin typeface="Arial MT"/>
                <a:cs typeface="Arial MT"/>
              </a:rPr>
              <a:t>price</a:t>
            </a:r>
            <a:r>
              <a:rPr sz="1500" spc="-3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C242F"/>
                </a:solidFill>
                <a:latin typeface="Arial MT"/>
                <a:cs typeface="Arial MT"/>
              </a:rPr>
              <a:t>predictions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6696087"/>
            <a:ext cx="2971799" cy="19811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6911975"/>
            <a:ext cx="2532380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CC8C8"/>
                </a:solidFill>
                <a:latin typeface="Arial"/>
                <a:cs typeface="Arial"/>
              </a:rPr>
              <a:t>Access the</a:t>
            </a:r>
            <a:r>
              <a:rPr sz="1800" b="1" spc="-7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  <a:p>
            <a:pPr marL="12700" marR="297815">
              <a:lnSpc>
                <a:spcPct val="125000"/>
              </a:lnSpc>
              <a:spcBef>
                <a:spcPts val="8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Try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live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demo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make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your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own house price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predictions: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>
            <a:hlinkClick r:id="rId3"/>
          </p:cNvPr>
          <p:cNvSpPr/>
          <p:nvPr/>
        </p:nvSpPr>
        <p:spPr>
          <a:xfrm>
            <a:off x="990599" y="7953368"/>
            <a:ext cx="2438400" cy="495300"/>
          </a:xfrm>
          <a:custGeom>
            <a:avLst/>
            <a:gdLst/>
            <a:ahLst/>
            <a:cxnLst/>
            <a:rect l="l" t="t" r="r" b="b"/>
            <a:pathLst>
              <a:path w="2438400" h="495300">
                <a:moveTo>
                  <a:pt x="2331604" y="495299"/>
                </a:moveTo>
                <a:lnTo>
                  <a:pt x="106794" y="495299"/>
                </a:lnTo>
                <a:lnTo>
                  <a:pt x="99361" y="494576"/>
                </a:lnTo>
                <a:lnTo>
                  <a:pt x="57038" y="480193"/>
                </a:lnTo>
                <a:lnTo>
                  <a:pt x="23432" y="450722"/>
                </a:lnTo>
                <a:lnTo>
                  <a:pt x="3660" y="410651"/>
                </a:lnTo>
                <a:lnTo>
                  <a:pt x="0" y="388496"/>
                </a:lnTo>
                <a:lnTo>
                  <a:pt x="0" y="380999"/>
                </a:lnTo>
                <a:lnTo>
                  <a:pt x="0" y="106803"/>
                </a:lnTo>
                <a:lnTo>
                  <a:pt x="11572" y="63607"/>
                </a:lnTo>
                <a:lnTo>
                  <a:pt x="38784" y="28165"/>
                </a:lnTo>
                <a:lnTo>
                  <a:pt x="77492" y="5819"/>
                </a:lnTo>
                <a:lnTo>
                  <a:pt x="106794" y="0"/>
                </a:lnTo>
                <a:lnTo>
                  <a:pt x="2331604" y="0"/>
                </a:lnTo>
                <a:lnTo>
                  <a:pt x="2374774" y="11572"/>
                </a:lnTo>
                <a:lnTo>
                  <a:pt x="2410228" y="38766"/>
                </a:lnTo>
                <a:lnTo>
                  <a:pt x="2432570" y="77485"/>
                </a:lnTo>
                <a:lnTo>
                  <a:pt x="2438399" y="106803"/>
                </a:lnTo>
                <a:lnTo>
                  <a:pt x="2438399" y="388496"/>
                </a:lnTo>
                <a:lnTo>
                  <a:pt x="2426826" y="431672"/>
                </a:lnTo>
                <a:lnTo>
                  <a:pt x="2399614" y="467115"/>
                </a:lnTo>
                <a:lnTo>
                  <a:pt x="2360906" y="489461"/>
                </a:lnTo>
                <a:lnTo>
                  <a:pt x="2339037" y="494576"/>
                </a:lnTo>
                <a:lnTo>
                  <a:pt x="2331604" y="495299"/>
                </a:lnTo>
                <a:close/>
              </a:path>
            </a:pathLst>
          </a:custGeom>
          <a:solidFill>
            <a:srgbClr val="164E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06499" y="8074025"/>
            <a:ext cx="20104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Launch</a:t>
            </a: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 </a:t>
            </a:r>
            <a:r>
              <a:rPr sz="1350" b="1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Streamlit</a:t>
            </a:r>
            <a:r>
              <a:rPr sz="1350" b="1" spc="-65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 </a:t>
            </a:r>
            <a:r>
              <a:rPr sz="1350" b="1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App</a:t>
            </a: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 </a:t>
            </a:r>
            <a:r>
              <a:rPr sz="1350" b="1" spc="-5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→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999" y="3114668"/>
            <a:ext cx="2971800" cy="3352800"/>
          </a:xfrm>
          <a:custGeom>
            <a:avLst/>
            <a:gdLst/>
            <a:ahLst/>
            <a:cxnLst/>
            <a:rect l="l" t="t" r="r" b="b"/>
            <a:pathLst>
              <a:path w="2971800" h="3352800">
                <a:moveTo>
                  <a:pt x="2865004" y="3352799"/>
                </a:moveTo>
                <a:lnTo>
                  <a:pt x="106794" y="3352799"/>
                </a:lnTo>
                <a:lnTo>
                  <a:pt x="99362" y="3352056"/>
                </a:lnTo>
                <a:lnTo>
                  <a:pt x="57038" y="3337693"/>
                </a:lnTo>
                <a:lnTo>
                  <a:pt x="23432" y="3308222"/>
                </a:lnTo>
                <a:lnTo>
                  <a:pt x="3660" y="3268151"/>
                </a:lnTo>
                <a:lnTo>
                  <a:pt x="0" y="3245995"/>
                </a:lnTo>
                <a:lnTo>
                  <a:pt x="0" y="32384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46"/>
                </a:lnTo>
                <a:lnTo>
                  <a:pt x="77493" y="5800"/>
                </a:lnTo>
                <a:lnTo>
                  <a:pt x="106794" y="0"/>
                </a:lnTo>
                <a:lnTo>
                  <a:pt x="2865004" y="0"/>
                </a:lnTo>
                <a:lnTo>
                  <a:pt x="2908173" y="11553"/>
                </a:lnTo>
                <a:lnTo>
                  <a:pt x="2943628" y="38766"/>
                </a:lnTo>
                <a:lnTo>
                  <a:pt x="2965971" y="77485"/>
                </a:lnTo>
                <a:lnTo>
                  <a:pt x="2971799" y="106784"/>
                </a:lnTo>
                <a:lnTo>
                  <a:pt x="2971799" y="3245995"/>
                </a:lnTo>
                <a:lnTo>
                  <a:pt x="2960226" y="3289153"/>
                </a:lnTo>
                <a:lnTo>
                  <a:pt x="2933014" y="3324615"/>
                </a:lnTo>
                <a:lnTo>
                  <a:pt x="2894306" y="3346979"/>
                </a:lnTo>
                <a:lnTo>
                  <a:pt x="2872437" y="3352056"/>
                </a:lnTo>
                <a:lnTo>
                  <a:pt x="2865004" y="33527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7900" y="3330575"/>
            <a:ext cx="228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Application</a:t>
            </a:r>
            <a:r>
              <a:rPr sz="1800" b="1" spc="-10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7900" y="3707765"/>
            <a:ext cx="23507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350" spc="70" dirty="0">
                <a:solidFill>
                  <a:srgbClr val="1CC8C8"/>
                </a:solidFill>
                <a:latin typeface="Arial MT"/>
                <a:cs typeface="Arial MT"/>
              </a:rPr>
              <a:t> 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Users</a:t>
            </a:r>
            <a:r>
              <a:rPr sz="135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input key </a:t>
            </a:r>
            <a:r>
              <a:rPr sz="1350" spc="-20" dirty="0">
                <a:solidFill>
                  <a:srgbClr val="1C242F"/>
                </a:solidFill>
                <a:latin typeface="Arial MT"/>
                <a:cs typeface="Arial MT"/>
              </a:rPr>
              <a:t>home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characteristics via clean 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UI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7900" y="4355465"/>
            <a:ext cx="22078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350" spc="70" dirty="0">
                <a:solidFill>
                  <a:srgbClr val="1CC8C8"/>
                </a:solidFill>
                <a:latin typeface="Arial MT"/>
                <a:cs typeface="Arial MT"/>
              </a:rPr>
              <a:t> 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Model</a:t>
            </a:r>
            <a:r>
              <a:rPr sz="135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predicts sale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price instantly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7900" y="5003165"/>
            <a:ext cx="25285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350" spc="70" dirty="0">
                <a:solidFill>
                  <a:srgbClr val="1CC8C8"/>
                </a:solidFill>
                <a:latin typeface="Arial MT"/>
                <a:cs typeface="Arial MT"/>
              </a:rPr>
              <a:t> 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Optional</a:t>
            </a:r>
            <a:r>
              <a:rPr sz="135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35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visualizations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transparency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900" y="5650864"/>
            <a:ext cx="24371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1CC8C8"/>
                </a:solidFill>
                <a:latin typeface="Arial MT"/>
                <a:cs typeface="Arial MT"/>
              </a:rPr>
              <a:t>→</a:t>
            </a:r>
            <a:r>
              <a:rPr sz="1350" spc="70" dirty="0">
                <a:solidFill>
                  <a:srgbClr val="1CC8C8"/>
                </a:solidFill>
                <a:latin typeface="Arial MT"/>
                <a:cs typeface="Arial MT"/>
              </a:rPr>
              <a:t> 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Pickled</a:t>
            </a:r>
            <a:r>
              <a:rPr sz="1350" spc="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Ridge model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loaded </a:t>
            </a:r>
            <a:r>
              <a:rPr sz="1350" dirty="0">
                <a:solidFill>
                  <a:srgbClr val="1C242F"/>
                </a:solidFill>
                <a:latin typeface="Arial MT"/>
                <a:cs typeface="Arial MT"/>
              </a:rPr>
              <a:t>at app </a:t>
            </a:r>
            <a:r>
              <a:rPr sz="1350" spc="-10" dirty="0">
                <a:solidFill>
                  <a:srgbClr val="1C242F"/>
                </a:solidFill>
                <a:latin typeface="Arial MT"/>
                <a:cs typeface="Arial MT"/>
              </a:rPr>
              <a:t>startup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8599" y="3114668"/>
            <a:ext cx="2971800" cy="3238500"/>
          </a:xfrm>
          <a:custGeom>
            <a:avLst/>
            <a:gdLst/>
            <a:ahLst/>
            <a:cxnLst/>
            <a:rect l="l" t="t" r="r" b="b"/>
            <a:pathLst>
              <a:path w="2971800" h="3238500">
                <a:moveTo>
                  <a:pt x="2865004" y="3238480"/>
                </a:moveTo>
                <a:lnTo>
                  <a:pt x="106795" y="3238480"/>
                </a:lnTo>
                <a:lnTo>
                  <a:pt x="99362" y="3237756"/>
                </a:lnTo>
                <a:lnTo>
                  <a:pt x="57038" y="3223374"/>
                </a:lnTo>
                <a:lnTo>
                  <a:pt x="23432" y="3193922"/>
                </a:lnTo>
                <a:lnTo>
                  <a:pt x="3660" y="3153851"/>
                </a:lnTo>
                <a:lnTo>
                  <a:pt x="0" y="3131695"/>
                </a:lnTo>
                <a:lnTo>
                  <a:pt x="0" y="31241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46"/>
                </a:lnTo>
                <a:lnTo>
                  <a:pt x="77492" y="5800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53"/>
                </a:lnTo>
                <a:lnTo>
                  <a:pt x="2943629" y="38766"/>
                </a:lnTo>
                <a:lnTo>
                  <a:pt x="2965970" y="77485"/>
                </a:lnTo>
                <a:lnTo>
                  <a:pt x="2971800" y="106784"/>
                </a:lnTo>
                <a:lnTo>
                  <a:pt x="2971800" y="3131695"/>
                </a:lnTo>
                <a:lnTo>
                  <a:pt x="2960226" y="3174834"/>
                </a:lnTo>
                <a:lnTo>
                  <a:pt x="2933015" y="3210315"/>
                </a:lnTo>
                <a:lnTo>
                  <a:pt x="2894306" y="3232660"/>
                </a:lnTo>
                <a:lnTo>
                  <a:pt x="2872437" y="3237756"/>
                </a:lnTo>
                <a:lnTo>
                  <a:pt x="2865004" y="32384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54500" y="3330575"/>
            <a:ext cx="2459355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164E9C"/>
                </a:solidFill>
                <a:latin typeface="Arial"/>
                <a:cs typeface="Arial"/>
              </a:rPr>
              <a:t>Technology</a:t>
            </a:r>
            <a:r>
              <a:rPr sz="1800" b="1" spc="-35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Stack</a:t>
            </a:r>
            <a:endParaRPr sz="1800">
              <a:latin typeface="Arial"/>
              <a:cs typeface="Arial"/>
            </a:endParaRPr>
          </a:p>
          <a:p>
            <a:pPr marL="12700" marR="140970" indent="95885">
              <a:lnSpc>
                <a:spcPct val="125000"/>
              </a:lnSpc>
              <a:spcBef>
                <a:spcPts val="855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Frontend:</a:t>
            </a:r>
            <a:r>
              <a:rPr sz="1200" b="1" spc="-2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Streamlit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with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custom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CSS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styling</a:t>
            </a:r>
            <a:endParaRPr sz="1200">
              <a:latin typeface="Arial MT"/>
              <a:cs typeface="Arial MT"/>
            </a:endParaRPr>
          </a:p>
          <a:p>
            <a:pPr marL="12700" marR="64135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Model:</a:t>
            </a:r>
            <a:r>
              <a:rPr sz="1200" b="1" spc="-15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Pickled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Ridge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Regression (alpha=10)</a:t>
            </a:r>
            <a:endParaRPr sz="1200">
              <a:latin typeface="Arial MT"/>
              <a:cs typeface="Arial MT"/>
            </a:endParaRPr>
          </a:p>
          <a:p>
            <a:pPr marL="12700" marR="5080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Processing: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Pandas &amp; NumPy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transformations</a:t>
            </a:r>
            <a:endParaRPr sz="1200">
              <a:latin typeface="Arial MT"/>
              <a:cs typeface="Arial MT"/>
            </a:endParaRPr>
          </a:p>
          <a:p>
            <a:pPr marL="12700" marR="118110" indent="95885">
              <a:lnSpc>
                <a:spcPct val="125000"/>
              </a:lnSpc>
              <a:spcBef>
                <a:spcPts val="60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Explainability:</a:t>
            </a:r>
            <a:r>
              <a:rPr sz="1200" b="1" spc="-30" dirty="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200" spc="-5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feature contributions</a:t>
            </a:r>
            <a:endParaRPr sz="1200">
              <a:latin typeface="Arial MT"/>
              <a:cs typeface="Arial MT"/>
            </a:endParaRPr>
          </a:p>
          <a:p>
            <a:pPr marL="108585" indent="-958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108585" algn="l"/>
              </a:tabLst>
            </a:pPr>
            <a:r>
              <a:rPr sz="1200" b="1" dirty="0">
                <a:solidFill>
                  <a:srgbClr val="1C242F"/>
                </a:solidFill>
                <a:latin typeface="Arial"/>
                <a:cs typeface="Arial"/>
              </a:rPr>
              <a:t>Deployment: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Streamlit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Cloud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38599" y="6505568"/>
            <a:ext cx="2971800" cy="2247900"/>
          </a:xfrm>
          <a:custGeom>
            <a:avLst/>
            <a:gdLst/>
            <a:ahLst/>
            <a:cxnLst/>
            <a:rect l="l" t="t" r="r" b="b"/>
            <a:pathLst>
              <a:path w="2971800" h="2247900">
                <a:moveTo>
                  <a:pt x="2865004" y="2247880"/>
                </a:moveTo>
                <a:lnTo>
                  <a:pt x="106795" y="2247880"/>
                </a:lnTo>
                <a:lnTo>
                  <a:pt x="99362" y="2247156"/>
                </a:lnTo>
                <a:lnTo>
                  <a:pt x="57038" y="2232774"/>
                </a:lnTo>
                <a:lnTo>
                  <a:pt x="23432" y="2203303"/>
                </a:lnTo>
                <a:lnTo>
                  <a:pt x="3660" y="2163232"/>
                </a:lnTo>
                <a:lnTo>
                  <a:pt x="0" y="2141096"/>
                </a:lnTo>
                <a:lnTo>
                  <a:pt x="0" y="2133599"/>
                </a:lnTo>
                <a:lnTo>
                  <a:pt x="0" y="106784"/>
                </a:lnTo>
                <a:lnTo>
                  <a:pt x="11572" y="63607"/>
                </a:lnTo>
                <a:lnTo>
                  <a:pt x="38784" y="28165"/>
                </a:lnTo>
                <a:lnTo>
                  <a:pt x="77492" y="5819"/>
                </a:lnTo>
                <a:lnTo>
                  <a:pt x="106795" y="0"/>
                </a:lnTo>
                <a:lnTo>
                  <a:pt x="2865004" y="0"/>
                </a:lnTo>
                <a:lnTo>
                  <a:pt x="2908174" y="11572"/>
                </a:lnTo>
                <a:lnTo>
                  <a:pt x="2943629" y="38766"/>
                </a:lnTo>
                <a:lnTo>
                  <a:pt x="2965970" y="77485"/>
                </a:lnTo>
                <a:lnTo>
                  <a:pt x="2971800" y="106784"/>
                </a:lnTo>
                <a:lnTo>
                  <a:pt x="2971800" y="2141096"/>
                </a:lnTo>
                <a:lnTo>
                  <a:pt x="2960226" y="2184234"/>
                </a:lnTo>
                <a:lnTo>
                  <a:pt x="2933015" y="2219696"/>
                </a:lnTo>
                <a:lnTo>
                  <a:pt x="2894306" y="2242060"/>
                </a:lnTo>
                <a:lnTo>
                  <a:pt x="2872437" y="2247156"/>
                </a:lnTo>
                <a:lnTo>
                  <a:pt x="2865004" y="22478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54500" y="6721475"/>
            <a:ext cx="242316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CC8C8"/>
                </a:solidFill>
                <a:latin typeface="Arial"/>
                <a:cs typeface="Arial"/>
              </a:rPr>
              <a:t>Why</a:t>
            </a:r>
            <a:r>
              <a:rPr sz="1800" b="1" spc="-4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Streamlit?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8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Lightweight, Python-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native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framework enabling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rapid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deployment of ML</a:t>
            </a:r>
            <a:r>
              <a:rPr sz="1200" spc="-4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models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interactive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UIs.</a:t>
            </a:r>
            <a:r>
              <a:rPr sz="1200" spc="-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Perfect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for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showcasing real-world usability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model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accessibility.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87"/>
            <a:ext cx="6858000" cy="9696450"/>
          </a:xfrm>
          <a:custGeom>
            <a:avLst/>
            <a:gdLst/>
            <a:ahLst/>
            <a:cxnLst/>
            <a:rect l="l" t="t" r="r" b="b"/>
            <a:pathLst>
              <a:path w="6858000" h="9696450">
                <a:moveTo>
                  <a:pt x="6857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9696449"/>
                </a:lnTo>
                <a:close/>
              </a:path>
            </a:pathLst>
          </a:custGeom>
          <a:solidFill>
            <a:srgbClr val="E4EAF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1168400"/>
            <a:ext cx="41414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 Insights &amp; </a:t>
            </a:r>
            <a:r>
              <a:rPr spc="-10" dirty="0"/>
              <a:t>Learnings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1999" y="1904993"/>
            <a:ext cx="2971800" cy="7620000"/>
            <a:chOff x="761999" y="1904993"/>
            <a:chExt cx="2971800" cy="7620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1904993"/>
              <a:ext cx="2971799" cy="25907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4648193"/>
              <a:ext cx="2971799" cy="23621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99" y="7162792"/>
              <a:ext cx="2971799" cy="23621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77900" y="2846704"/>
            <a:ext cx="227076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Differentiating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structural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absence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from genuine missing values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was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critical. Filling "None" for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non-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existent features preserved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real-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estate logic and prevented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model confusion.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7900" y="5589904"/>
            <a:ext cx="245681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Domain-driven features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like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OverallQualArea and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TotalSF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captured complex interactions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that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raw features couldn't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express,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significantly improving model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signal.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7900" y="7348219"/>
            <a:ext cx="2527935" cy="192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800" b="1" dirty="0">
                <a:solidFill>
                  <a:srgbClr val="1C242F"/>
                </a:solidFill>
                <a:latin typeface="Arial"/>
                <a:cs typeface="Arial"/>
              </a:rPr>
              <a:t>3. Ridge Excels </a:t>
            </a:r>
            <a:r>
              <a:rPr sz="1800" b="1" spc="-25" dirty="0">
                <a:solidFill>
                  <a:srgbClr val="1C242F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1C242F"/>
                </a:solidFill>
                <a:latin typeface="Arial"/>
                <a:cs typeface="Arial"/>
              </a:rPr>
              <a:t>High-Dimensional </a:t>
            </a:r>
            <a:r>
              <a:rPr sz="1800" b="1" spc="-20" dirty="0">
                <a:solidFill>
                  <a:srgbClr val="1C242F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12700" marR="151765">
              <a:lnSpc>
                <a:spcPct val="125000"/>
              </a:lnSpc>
              <a:spcBef>
                <a:spcPts val="11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Ridge Regression handled one-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hot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encoded categorical features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multicollinearity exceptionally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well,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providing stable and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interpretable results.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38599" y="1904993"/>
            <a:ext cx="2971800" cy="8153400"/>
            <a:chOff x="4038599" y="1904993"/>
            <a:chExt cx="2971800" cy="81534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599" y="1904993"/>
              <a:ext cx="2971800" cy="25907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38599" y="4648193"/>
              <a:ext cx="2971800" cy="2590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8599" y="7391392"/>
              <a:ext cx="2971800" cy="26669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54500" y="2090420"/>
            <a:ext cx="2537460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1470">
              <a:lnSpc>
                <a:spcPct val="111100"/>
              </a:lnSpc>
              <a:spcBef>
                <a:spcPts val="100"/>
              </a:spcBef>
            </a:pPr>
            <a:r>
              <a:rPr sz="1800" b="1" dirty="0">
                <a:solidFill>
                  <a:srgbClr val="1CC8C8"/>
                </a:solidFill>
                <a:latin typeface="Arial"/>
                <a:cs typeface="Arial"/>
              </a:rPr>
              <a:t>4. </a:t>
            </a: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Regularization </a:t>
            </a:r>
            <a:r>
              <a:rPr sz="1800" b="1" dirty="0">
                <a:solidFill>
                  <a:srgbClr val="1CC8C8"/>
                </a:solidFill>
                <a:latin typeface="Arial"/>
                <a:cs typeface="Arial"/>
              </a:rPr>
              <a:t>Prevents </a:t>
            </a:r>
            <a:r>
              <a:rPr sz="1800" b="1" spc="-10" dirty="0">
                <a:solidFill>
                  <a:srgbClr val="1CC8C8"/>
                </a:solidFill>
                <a:latin typeface="Arial"/>
                <a:cs typeface="Arial"/>
              </a:rPr>
              <a:t>Overfitting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1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GridSearchCV identified alpha=10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as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optimal, balancing model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complexity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with generalization.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This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prevented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overfitting on training data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while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maintaining strong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validation performance.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4500" y="4833620"/>
            <a:ext cx="2477135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5. Model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Explainability </a:t>
            </a:r>
            <a:r>
              <a:rPr sz="1800" b="1" dirty="0">
                <a:solidFill>
                  <a:srgbClr val="164E9C"/>
                </a:solidFill>
                <a:latin typeface="Arial"/>
                <a:cs typeface="Arial"/>
              </a:rPr>
              <a:t>Builds </a:t>
            </a:r>
            <a:r>
              <a:rPr sz="1800" b="1" spc="-10" dirty="0">
                <a:solidFill>
                  <a:srgbClr val="164E9C"/>
                </a:solidFill>
                <a:latin typeface="Arial"/>
                <a:cs typeface="Arial"/>
              </a:rPr>
              <a:t>Trust</a:t>
            </a:r>
            <a:endParaRPr sz="1800">
              <a:latin typeface="Arial"/>
              <a:cs typeface="Arial"/>
            </a:endParaRPr>
          </a:p>
          <a:p>
            <a:pPr marL="12700" marR="102235">
              <a:lnSpc>
                <a:spcPct val="125000"/>
              </a:lnSpc>
              <a:spcBef>
                <a:spcPts val="11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SHAP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analysis confirmed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model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predictions align with real-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estate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intuition, making the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model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trustworthy for stakeholders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demonstrating that quality and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size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drive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prices.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4500" y="7576819"/>
            <a:ext cx="2533015" cy="2229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7260" algn="just">
              <a:lnSpc>
                <a:spcPct val="111100"/>
              </a:lnSpc>
              <a:spcBef>
                <a:spcPts val="100"/>
              </a:spcBef>
            </a:pPr>
            <a:r>
              <a:rPr sz="1800" b="1" dirty="0">
                <a:solidFill>
                  <a:srgbClr val="1C242F"/>
                </a:solidFill>
                <a:latin typeface="Arial"/>
                <a:cs typeface="Arial"/>
              </a:rPr>
              <a:t>6. </a:t>
            </a: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Deployment </a:t>
            </a:r>
            <a:r>
              <a:rPr sz="1800" b="1" dirty="0">
                <a:solidFill>
                  <a:srgbClr val="1C242F"/>
                </a:solidFill>
                <a:latin typeface="Arial"/>
                <a:cs typeface="Arial"/>
              </a:rPr>
              <a:t>Completes </a:t>
            </a:r>
            <a:r>
              <a:rPr sz="1800" b="1" spc="-25" dirty="0">
                <a:solidFill>
                  <a:srgbClr val="1C242F"/>
                </a:solidFill>
                <a:latin typeface="Arial"/>
                <a:cs typeface="Arial"/>
              </a:rPr>
              <a:t>the </a:t>
            </a:r>
            <a:r>
              <a:rPr sz="1800" b="1" spc="-10" dirty="0">
                <a:solidFill>
                  <a:srgbClr val="1C242F"/>
                </a:solidFill>
                <a:latin typeface="Arial"/>
                <a:cs typeface="Arial"/>
              </a:rPr>
              <a:t>Pipeline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155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Streamlit deployment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transformed</a:t>
            </a:r>
            <a:r>
              <a:rPr sz="1200" spc="50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the model from an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experimental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notebook into a practical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tool,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demonstrating real-world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applicability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and user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accessibility.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9" y="2301875"/>
            <a:ext cx="36271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95" dirty="0"/>
              <a:t> </a:t>
            </a:r>
            <a:r>
              <a:rPr spc="-10" dirty="0"/>
              <a:t>Enhancements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1999" y="3038455"/>
            <a:ext cx="2971800" cy="1753235"/>
            <a:chOff x="761999" y="3038455"/>
            <a:chExt cx="2971800" cy="1753235"/>
          </a:xfrm>
        </p:grpSpPr>
        <p:sp>
          <p:nvSpPr>
            <p:cNvPr id="4" name="object 4"/>
            <p:cNvSpPr/>
            <p:nvPr/>
          </p:nvSpPr>
          <p:spPr>
            <a:xfrm>
              <a:off x="781049" y="3038467"/>
              <a:ext cx="2952750" cy="1752600"/>
            </a:xfrm>
            <a:custGeom>
              <a:avLst/>
              <a:gdLst/>
              <a:ahLst/>
              <a:cxnLst/>
              <a:rect l="l" t="t" r="r" b="b"/>
              <a:pathLst>
                <a:path w="2952750" h="1752600">
                  <a:moveTo>
                    <a:pt x="2845954" y="1752599"/>
                  </a:moveTo>
                  <a:lnTo>
                    <a:pt x="88995" y="1752599"/>
                  </a:lnTo>
                  <a:lnTo>
                    <a:pt x="82801" y="1751856"/>
                  </a:lnTo>
                  <a:lnTo>
                    <a:pt x="37131" y="1729158"/>
                  </a:lnTo>
                  <a:lnTo>
                    <a:pt x="12577" y="1695545"/>
                  </a:lnTo>
                  <a:lnTo>
                    <a:pt x="610" y="1653235"/>
                  </a:lnTo>
                  <a:lnTo>
                    <a:pt x="0" y="1645796"/>
                  </a:lnTo>
                  <a:lnTo>
                    <a:pt x="0" y="1638299"/>
                  </a:lnTo>
                  <a:lnTo>
                    <a:pt x="0" y="106784"/>
                  </a:lnTo>
                  <a:lnTo>
                    <a:pt x="9643" y="63588"/>
                  </a:lnTo>
                  <a:lnTo>
                    <a:pt x="32320" y="28146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3" y="11553"/>
                  </a:lnTo>
                  <a:lnTo>
                    <a:pt x="2924578" y="38747"/>
                  </a:lnTo>
                  <a:lnTo>
                    <a:pt x="2946921" y="77466"/>
                  </a:lnTo>
                  <a:lnTo>
                    <a:pt x="2952749" y="106784"/>
                  </a:lnTo>
                  <a:lnTo>
                    <a:pt x="2952749" y="1645796"/>
                  </a:lnTo>
                  <a:lnTo>
                    <a:pt x="2941176" y="1688953"/>
                  </a:lnTo>
                  <a:lnTo>
                    <a:pt x="2913964" y="1724415"/>
                  </a:lnTo>
                  <a:lnTo>
                    <a:pt x="2875256" y="1746780"/>
                  </a:lnTo>
                  <a:lnTo>
                    <a:pt x="2853387" y="1751856"/>
                  </a:lnTo>
                  <a:lnTo>
                    <a:pt x="2845954" y="1752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999" y="3038455"/>
              <a:ext cx="114300" cy="1752600"/>
            </a:xfrm>
            <a:custGeom>
              <a:avLst/>
              <a:gdLst/>
              <a:ahLst/>
              <a:cxnLst/>
              <a:rect l="l" t="t" r="r" b="b"/>
              <a:pathLst>
                <a:path w="114300" h="1752600">
                  <a:moveTo>
                    <a:pt x="114300" y="1752599"/>
                  </a:moveTo>
                  <a:lnTo>
                    <a:pt x="70559" y="1743906"/>
                  </a:lnTo>
                  <a:lnTo>
                    <a:pt x="33477" y="1719129"/>
                  </a:lnTo>
                  <a:lnTo>
                    <a:pt x="8700" y="1682047"/>
                  </a:lnTo>
                  <a:lnTo>
                    <a:pt x="0" y="16383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4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7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638307"/>
                  </a:lnTo>
                  <a:lnTo>
                    <a:pt x="43900" y="1682047"/>
                  </a:lnTo>
                  <a:lnTo>
                    <a:pt x="60418" y="1719129"/>
                  </a:lnTo>
                  <a:lnTo>
                    <a:pt x="92213" y="1747712"/>
                  </a:lnTo>
                  <a:lnTo>
                    <a:pt x="106793" y="1752063"/>
                  </a:lnTo>
                  <a:lnTo>
                    <a:pt x="114300" y="17525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6000" y="3225800"/>
            <a:ext cx="2338705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6615">
              <a:lnSpc>
                <a:spcPct val="1167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Hyperparameter Refinement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Explore wider alpha range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or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adaptive regularization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techniques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to further reduce prediction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error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999" y="4943455"/>
            <a:ext cx="2971800" cy="1486535"/>
            <a:chOff x="761999" y="4943455"/>
            <a:chExt cx="2971800" cy="1486535"/>
          </a:xfrm>
        </p:grpSpPr>
        <p:sp>
          <p:nvSpPr>
            <p:cNvPr id="8" name="object 8"/>
            <p:cNvSpPr/>
            <p:nvPr/>
          </p:nvSpPr>
          <p:spPr>
            <a:xfrm>
              <a:off x="781049" y="4943467"/>
              <a:ext cx="2952750" cy="1485900"/>
            </a:xfrm>
            <a:custGeom>
              <a:avLst/>
              <a:gdLst/>
              <a:ahLst/>
              <a:cxnLst/>
              <a:rect l="l" t="t" r="r" b="b"/>
              <a:pathLst>
                <a:path w="2952750" h="1485900">
                  <a:moveTo>
                    <a:pt x="2845954" y="1485899"/>
                  </a:moveTo>
                  <a:lnTo>
                    <a:pt x="88995" y="1485899"/>
                  </a:lnTo>
                  <a:lnTo>
                    <a:pt x="82801" y="1485156"/>
                  </a:lnTo>
                  <a:lnTo>
                    <a:pt x="37131" y="1462439"/>
                  </a:lnTo>
                  <a:lnTo>
                    <a:pt x="12577" y="1428845"/>
                  </a:lnTo>
                  <a:lnTo>
                    <a:pt x="610" y="1386535"/>
                  </a:lnTo>
                  <a:lnTo>
                    <a:pt x="0" y="1379096"/>
                  </a:lnTo>
                  <a:lnTo>
                    <a:pt x="0" y="1371599"/>
                  </a:lnTo>
                  <a:lnTo>
                    <a:pt x="0" y="106784"/>
                  </a:lnTo>
                  <a:lnTo>
                    <a:pt x="9643" y="63607"/>
                  </a:lnTo>
                  <a:lnTo>
                    <a:pt x="32320" y="28165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3" y="11572"/>
                  </a:lnTo>
                  <a:lnTo>
                    <a:pt x="2924578" y="38766"/>
                  </a:lnTo>
                  <a:lnTo>
                    <a:pt x="2946921" y="77485"/>
                  </a:lnTo>
                  <a:lnTo>
                    <a:pt x="2952749" y="106784"/>
                  </a:lnTo>
                  <a:lnTo>
                    <a:pt x="2952749" y="1379096"/>
                  </a:lnTo>
                  <a:lnTo>
                    <a:pt x="2941176" y="1422253"/>
                  </a:lnTo>
                  <a:lnTo>
                    <a:pt x="2913964" y="1457696"/>
                  </a:lnTo>
                  <a:lnTo>
                    <a:pt x="2875256" y="1480042"/>
                  </a:lnTo>
                  <a:lnTo>
                    <a:pt x="2853387" y="1485156"/>
                  </a:lnTo>
                  <a:lnTo>
                    <a:pt x="2845954" y="14858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999" y="4943455"/>
              <a:ext cx="114300" cy="1485900"/>
            </a:xfrm>
            <a:custGeom>
              <a:avLst/>
              <a:gdLst/>
              <a:ahLst/>
              <a:cxnLst/>
              <a:rect l="l" t="t" r="r" b="b"/>
              <a:pathLst>
                <a:path w="114300" h="1485900">
                  <a:moveTo>
                    <a:pt x="114300" y="1485899"/>
                  </a:moveTo>
                  <a:lnTo>
                    <a:pt x="70559" y="1477206"/>
                  </a:lnTo>
                  <a:lnTo>
                    <a:pt x="33477" y="1452429"/>
                  </a:lnTo>
                  <a:lnTo>
                    <a:pt x="8700" y="1415347"/>
                  </a:lnTo>
                  <a:lnTo>
                    <a:pt x="0" y="13716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4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7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371607"/>
                  </a:lnTo>
                  <a:lnTo>
                    <a:pt x="43900" y="1415347"/>
                  </a:lnTo>
                  <a:lnTo>
                    <a:pt x="60418" y="1452429"/>
                  </a:lnTo>
                  <a:lnTo>
                    <a:pt x="92213" y="1481013"/>
                  </a:lnTo>
                  <a:lnTo>
                    <a:pt x="106793" y="1485363"/>
                  </a:lnTo>
                  <a:lnTo>
                    <a:pt x="114300" y="14858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6000" y="5168900"/>
            <a:ext cx="239776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Deeper</a:t>
            </a:r>
            <a:r>
              <a:rPr sz="1500" b="1" spc="-5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Error</a:t>
            </a:r>
            <a:r>
              <a:rPr sz="1500" b="1" spc="-10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Analysis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Use advanced SHAP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analysis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to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identify features causing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consistent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under/over-estimation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patterns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1999" y="6581754"/>
            <a:ext cx="2971800" cy="1485900"/>
            <a:chOff x="761999" y="6581754"/>
            <a:chExt cx="2971800" cy="1485900"/>
          </a:xfrm>
        </p:grpSpPr>
        <p:sp>
          <p:nvSpPr>
            <p:cNvPr id="12" name="object 12"/>
            <p:cNvSpPr/>
            <p:nvPr/>
          </p:nvSpPr>
          <p:spPr>
            <a:xfrm>
              <a:off x="781049" y="6581767"/>
              <a:ext cx="2952750" cy="1485900"/>
            </a:xfrm>
            <a:custGeom>
              <a:avLst/>
              <a:gdLst/>
              <a:ahLst/>
              <a:cxnLst/>
              <a:rect l="l" t="t" r="r" b="b"/>
              <a:pathLst>
                <a:path w="2952750" h="1485900">
                  <a:moveTo>
                    <a:pt x="2845954" y="1485880"/>
                  </a:moveTo>
                  <a:lnTo>
                    <a:pt x="88995" y="1485880"/>
                  </a:lnTo>
                  <a:lnTo>
                    <a:pt x="82801" y="1485156"/>
                  </a:lnTo>
                  <a:lnTo>
                    <a:pt x="37131" y="1462439"/>
                  </a:lnTo>
                  <a:lnTo>
                    <a:pt x="12577" y="1428826"/>
                  </a:lnTo>
                  <a:lnTo>
                    <a:pt x="610" y="1386535"/>
                  </a:lnTo>
                  <a:lnTo>
                    <a:pt x="0" y="1379096"/>
                  </a:lnTo>
                  <a:lnTo>
                    <a:pt x="0" y="1371599"/>
                  </a:lnTo>
                  <a:lnTo>
                    <a:pt x="0" y="106784"/>
                  </a:lnTo>
                  <a:lnTo>
                    <a:pt x="9643" y="63607"/>
                  </a:lnTo>
                  <a:lnTo>
                    <a:pt x="32320" y="28165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3" y="11572"/>
                  </a:lnTo>
                  <a:lnTo>
                    <a:pt x="2924578" y="38766"/>
                  </a:lnTo>
                  <a:lnTo>
                    <a:pt x="2946921" y="77485"/>
                  </a:lnTo>
                  <a:lnTo>
                    <a:pt x="2952749" y="106784"/>
                  </a:lnTo>
                  <a:lnTo>
                    <a:pt x="2952749" y="1379096"/>
                  </a:lnTo>
                  <a:lnTo>
                    <a:pt x="2941176" y="1422234"/>
                  </a:lnTo>
                  <a:lnTo>
                    <a:pt x="2913964" y="1457696"/>
                  </a:lnTo>
                  <a:lnTo>
                    <a:pt x="2875256" y="1480042"/>
                  </a:lnTo>
                  <a:lnTo>
                    <a:pt x="2853387" y="1485156"/>
                  </a:lnTo>
                  <a:lnTo>
                    <a:pt x="2845954" y="148588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999" y="6581754"/>
              <a:ext cx="114300" cy="1485900"/>
            </a:xfrm>
            <a:custGeom>
              <a:avLst/>
              <a:gdLst/>
              <a:ahLst/>
              <a:cxnLst/>
              <a:rect l="l" t="t" r="r" b="b"/>
              <a:pathLst>
                <a:path w="114300" h="1485900">
                  <a:moveTo>
                    <a:pt x="114300" y="1485899"/>
                  </a:moveTo>
                  <a:lnTo>
                    <a:pt x="70559" y="1477206"/>
                  </a:lnTo>
                  <a:lnTo>
                    <a:pt x="33477" y="1452429"/>
                  </a:lnTo>
                  <a:lnTo>
                    <a:pt x="8700" y="1415347"/>
                  </a:lnTo>
                  <a:lnTo>
                    <a:pt x="0" y="13716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5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7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371607"/>
                  </a:lnTo>
                  <a:lnTo>
                    <a:pt x="43900" y="1415347"/>
                  </a:lnTo>
                  <a:lnTo>
                    <a:pt x="60418" y="1452429"/>
                  </a:lnTo>
                  <a:lnTo>
                    <a:pt x="92213" y="1481013"/>
                  </a:lnTo>
                  <a:lnTo>
                    <a:pt x="106793" y="1485363"/>
                  </a:lnTo>
                  <a:lnTo>
                    <a:pt x="114300" y="14858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16000" y="6807200"/>
            <a:ext cx="234378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Alternative</a:t>
            </a:r>
            <a:r>
              <a:rPr sz="1500" b="1" spc="-40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Linear</a:t>
            </a:r>
            <a:r>
              <a:rPr sz="1500" b="1" spc="-40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4E9C"/>
                </a:solidFill>
                <a:latin typeface="Arial"/>
                <a:cs typeface="Arial"/>
              </a:rPr>
              <a:t>Models</a:t>
            </a:r>
            <a:endParaRPr sz="1500">
              <a:latin typeface="Arial"/>
              <a:cs typeface="Arial"/>
            </a:endParaRPr>
          </a:p>
          <a:p>
            <a:pPr marL="12700" marR="154305">
              <a:lnSpc>
                <a:spcPct val="125000"/>
              </a:lnSpc>
              <a:spcBef>
                <a:spcPts val="540"/>
              </a:spcBef>
            </a:pP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Test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ElasticNet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with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tuned</a:t>
            </a:r>
            <a:r>
              <a:rPr sz="1200" spc="-15" dirty="0">
                <a:solidFill>
                  <a:srgbClr val="1C242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L1/L2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balance to determine if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sparsity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improves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generalization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38599" y="3038455"/>
            <a:ext cx="2971800" cy="1715135"/>
            <a:chOff x="4038599" y="3038455"/>
            <a:chExt cx="2971800" cy="1715135"/>
          </a:xfrm>
        </p:grpSpPr>
        <p:sp>
          <p:nvSpPr>
            <p:cNvPr id="16" name="object 16"/>
            <p:cNvSpPr/>
            <p:nvPr/>
          </p:nvSpPr>
          <p:spPr>
            <a:xfrm>
              <a:off x="4057649" y="3038467"/>
              <a:ext cx="2952750" cy="1714500"/>
            </a:xfrm>
            <a:custGeom>
              <a:avLst/>
              <a:gdLst/>
              <a:ahLst/>
              <a:cxnLst/>
              <a:rect l="l" t="t" r="r" b="b"/>
              <a:pathLst>
                <a:path w="2952750" h="1714500">
                  <a:moveTo>
                    <a:pt x="2845954" y="1714499"/>
                  </a:moveTo>
                  <a:lnTo>
                    <a:pt x="88995" y="1714499"/>
                  </a:lnTo>
                  <a:lnTo>
                    <a:pt x="82801" y="1713756"/>
                  </a:lnTo>
                  <a:lnTo>
                    <a:pt x="37132" y="1691039"/>
                  </a:lnTo>
                  <a:lnTo>
                    <a:pt x="12577" y="1657445"/>
                  </a:lnTo>
                  <a:lnTo>
                    <a:pt x="610" y="1615135"/>
                  </a:lnTo>
                  <a:lnTo>
                    <a:pt x="0" y="1607696"/>
                  </a:lnTo>
                  <a:lnTo>
                    <a:pt x="0" y="1600199"/>
                  </a:lnTo>
                  <a:lnTo>
                    <a:pt x="0" y="106784"/>
                  </a:lnTo>
                  <a:lnTo>
                    <a:pt x="9643" y="63588"/>
                  </a:lnTo>
                  <a:lnTo>
                    <a:pt x="32320" y="28146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4" y="11553"/>
                  </a:lnTo>
                  <a:lnTo>
                    <a:pt x="2924579" y="38747"/>
                  </a:lnTo>
                  <a:lnTo>
                    <a:pt x="2946920" y="77466"/>
                  </a:lnTo>
                  <a:lnTo>
                    <a:pt x="2952750" y="106784"/>
                  </a:lnTo>
                  <a:lnTo>
                    <a:pt x="2952750" y="1607696"/>
                  </a:lnTo>
                  <a:lnTo>
                    <a:pt x="2941176" y="1650853"/>
                  </a:lnTo>
                  <a:lnTo>
                    <a:pt x="2913965" y="1686315"/>
                  </a:lnTo>
                  <a:lnTo>
                    <a:pt x="2875256" y="1708680"/>
                  </a:lnTo>
                  <a:lnTo>
                    <a:pt x="2853387" y="1713756"/>
                  </a:lnTo>
                  <a:lnTo>
                    <a:pt x="2845954" y="17144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38599" y="3038455"/>
              <a:ext cx="114300" cy="1714500"/>
            </a:xfrm>
            <a:custGeom>
              <a:avLst/>
              <a:gdLst/>
              <a:ahLst/>
              <a:cxnLst/>
              <a:rect l="l" t="t" r="r" b="b"/>
              <a:pathLst>
                <a:path w="114300" h="1714500">
                  <a:moveTo>
                    <a:pt x="114300" y="1714499"/>
                  </a:moveTo>
                  <a:lnTo>
                    <a:pt x="70559" y="1705806"/>
                  </a:lnTo>
                  <a:lnTo>
                    <a:pt x="33477" y="1681029"/>
                  </a:lnTo>
                  <a:lnTo>
                    <a:pt x="8700" y="1643947"/>
                  </a:lnTo>
                  <a:lnTo>
                    <a:pt x="0" y="16002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4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8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600207"/>
                  </a:lnTo>
                  <a:lnTo>
                    <a:pt x="43900" y="1643947"/>
                  </a:lnTo>
                  <a:lnTo>
                    <a:pt x="60418" y="1681029"/>
                  </a:lnTo>
                  <a:lnTo>
                    <a:pt x="92213" y="1709612"/>
                  </a:lnTo>
                  <a:lnTo>
                    <a:pt x="106793" y="1713963"/>
                  </a:lnTo>
                  <a:lnTo>
                    <a:pt x="114300" y="17144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92600" y="3263900"/>
            <a:ext cx="247459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External</a:t>
            </a:r>
            <a:r>
              <a:rPr sz="1500" b="1" spc="-50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Data</a:t>
            </a:r>
            <a:r>
              <a:rPr sz="1500" b="1" spc="-45" dirty="0">
                <a:solidFill>
                  <a:srgbClr val="1CC8C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Integration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Incorporate neighborhood-level </a:t>
            </a:r>
            <a:r>
              <a:rPr sz="1200" spc="-20" dirty="0">
                <a:solidFill>
                  <a:srgbClr val="1C242F"/>
                </a:solidFill>
                <a:latin typeface="Arial MT"/>
                <a:cs typeface="Arial MT"/>
              </a:rPr>
              <a:t>data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(crime rates, school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scores,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accessibility) to strengthen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price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prediction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signals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38599" y="4905355"/>
            <a:ext cx="2971800" cy="1715135"/>
            <a:chOff x="4038599" y="4905355"/>
            <a:chExt cx="2971800" cy="1715135"/>
          </a:xfrm>
        </p:grpSpPr>
        <p:sp>
          <p:nvSpPr>
            <p:cNvPr id="20" name="object 20"/>
            <p:cNvSpPr/>
            <p:nvPr/>
          </p:nvSpPr>
          <p:spPr>
            <a:xfrm>
              <a:off x="4057649" y="4905367"/>
              <a:ext cx="2952750" cy="1714500"/>
            </a:xfrm>
            <a:custGeom>
              <a:avLst/>
              <a:gdLst/>
              <a:ahLst/>
              <a:cxnLst/>
              <a:rect l="l" t="t" r="r" b="b"/>
              <a:pathLst>
                <a:path w="2952750" h="1714500">
                  <a:moveTo>
                    <a:pt x="2845954" y="1714499"/>
                  </a:moveTo>
                  <a:lnTo>
                    <a:pt x="88995" y="1714499"/>
                  </a:lnTo>
                  <a:lnTo>
                    <a:pt x="82801" y="1713756"/>
                  </a:lnTo>
                  <a:lnTo>
                    <a:pt x="37132" y="1691039"/>
                  </a:lnTo>
                  <a:lnTo>
                    <a:pt x="12577" y="1657445"/>
                  </a:lnTo>
                  <a:lnTo>
                    <a:pt x="610" y="1615135"/>
                  </a:lnTo>
                  <a:lnTo>
                    <a:pt x="0" y="1607696"/>
                  </a:lnTo>
                  <a:lnTo>
                    <a:pt x="0" y="1600199"/>
                  </a:lnTo>
                  <a:lnTo>
                    <a:pt x="0" y="106784"/>
                  </a:lnTo>
                  <a:lnTo>
                    <a:pt x="9643" y="63607"/>
                  </a:lnTo>
                  <a:lnTo>
                    <a:pt x="32320" y="28165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4" y="11572"/>
                  </a:lnTo>
                  <a:lnTo>
                    <a:pt x="2924579" y="38766"/>
                  </a:lnTo>
                  <a:lnTo>
                    <a:pt x="2946920" y="77485"/>
                  </a:lnTo>
                  <a:lnTo>
                    <a:pt x="2952750" y="106784"/>
                  </a:lnTo>
                  <a:lnTo>
                    <a:pt x="2952750" y="1607696"/>
                  </a:lnTo>
                  <a:lnTo>
                    <a:pt x="2941176" y="1650853"/>
                  </a:lnTo>
                  <a:lnTo>
                    <a:pt x="2913965" y="1686315"/>
                  </a:lnTo>
                  <a:lnTo>
                    <a:pt x="2875256" y="1708641"/>
                  </a:lnTo>
                  <a:lnTo>
                    <a:pt x="2853387" y="1713756"/>
                  </a:lnTo>
                  <a:lnTo>
                    <a:pt x="2845954" y="17144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38599" y="4905355"/>
              <a:ext cx="114300" cy="1714500"/>
            </a:xfrm>
            <a:custGeom>
              <a:avLst/>
              <a:gdLst/>
              <a:ahLst/>
              <a:cxnLst/>
              <a:rect l="l" t="t" r="r" b="b"/>
              <a:pathLst>
                <a:path w="114300" h="1714500">
                  <a:moveTo>
                    <a:pt x="114300" y="1714499"/>
                  </a:moveTo>
                  <a:lnTo>
                    <a:pt x="70559" y="1705806"/>
                  </a:lnTo>
                  <a:lnTo>
                    <a:pt x="33477" y="1681029"/>
                  </a:lnTo>
                  <a:lnTo>
                    <a:pt x="8700" y="1643947"/>
                  </a:lnTo>
                  <a:lnTo>
                    <a:pt x="0" y="16002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4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8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600207"/>
                  </a:lnTo>
                  <a:lnTo>
                    <a:pt x="43900" y="1643947"/>
                  </a:lnTo>
                  <a:lnTo>
                    <a:pt x="60418" y="1681029"/>
                  </a:lnTo>
                  <a:lnTo>
                    <a:pt x="92213" y="1709612"/>
                  </a:lnTo>
                  <a:lnTo>
                    <a:pt x="106793" y="1713963"/>
                  </a:lnTo>
                  <a:lnTo>
                    <a:pt x="114300" y="1714499"/>
                  </a:lnTo>
                  <a:close/>
                </a:path>
              </a:pathLst>
            </a:custGeom>
            <a:solidFill>
              <a:srgbClr val="164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92600" y="5130800"/>
            <a:ext cx="249745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Enhanced</a:t>
            </a:r>
            <a:r>
              <a:rPr sz="1500" b="1" spc="-60" dirty="0">
                <a:solidFill>
                  <a:srgbClr val="164E9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64E9C"/>
                </a:solidFill>
                <a:latin typeface="Arial"/>
                <a:cs typeface="Arial"/>
              </a:rPr>
              <a:t>App </a:t>
            </a:r>
            <a:r>
              <a:rPr sz="1500" b="1" spc="-25" dirty="0">
                <a:solidFill>
                  <a:srgbClr val="164E9C"/>
                </a:solidFill>
                <a:latin typeface="Arial"/>
                <a:cs typeface="Arial"/>
              </a:rPr>
              <a:t>UX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Improve Streamlit app by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grouping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features intuitively and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adding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optional "advanced inputs" for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power users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38599" y="6772254"/>
            <a:ext cx="2971800" cy="1486535"/>
            <a:chOff x="4038599" y="6772254"/>
            <a:chExt cx="2971800" cy="1486535"/>
          </a:xfrm>
        </p:grpSpPr>
        <p:sp>
          <p:nvSpPr>
            <p:cNvPr id="24" name="object 24"/>
            <p:cNvSpPr/>
            <p:nvPr/>
          </p:nvSpPr>
          <p:spPr>
            <a:xfrm>
              <a:off x="4057649" y="6772267"/>
              <a:ext cx="2952750" cy="1485900"/>
            </a:xfrm>
            <a:custGeom>
              <a:avLst/>
              <a:gdLst/>
              <a:ahLst/>
              <a:cxnLst/>
              <a:rect l="l" t="t" r="r" b="b"/>
              <a:pathLst>
                <a:path w="2952750" h="1485900">
                  <a:moveTo>
                    <a:pt x="2845954" y="1485899"/>
                  </a:moveTo>
                  <a:lnTo>
                    <a:pt x="88995" y="1485899"/>
                  </a:lnTo>
                  <a:lnTo>
                    <a:pt x="82801" y="1485156"/>
                  </a:lnTo>
                  <a:lnTo>
                    <a:pt x="37132" y="1462439"/>
                  </a:lnTo>
                  <a:lnTo>
                    <a:pt x="12577" y="1428845"/>
                  </a:lnTo>
                  <a:lnTo>
                    <a:pt x="610" y="1386516"/>
                  </a:lnTo>
                  <a:lnTo>
                    <a:pt x="0" y="1379096"/>
                  </a:lnTo>
                  <a:lnTo>
                    <a:pt x="0" y="1371599"/>
                  </a:lnTo>
                  <a:lnTo>
                    <a:pt x="0" y="106784"/>
                  </a:lnTo>
                  <a:lnTo>
                    <a:pt x="9643" y="63588"/>
                  </a:lnTo>
                  <a:lnTo>
                    <a:pt x="32320" y="28146"/>
                  </a:lnTo>
                  <a:lnTo>
                    <a:pt x="64577" y="5800"/>
                  </a:lnTo>
                  <a:lnTo>
                    <a:pt x="88995" y="0"/>
                  </a:lnTo>
                  <a:lnTo>
                    <a:pt x="2845954" y="0"/>
                  </a:lnTo>
                  <a:lnTo>
                    <a:pt x="2889124" y="11553"/>
                  </a:lnTo>
                  <a:lnTo>
                    <a:pt x="2924579" y="38766"/>
                  </a:lnTo>
                  <a:lnTo>
                    <a:pt x="2946920" y="77466"/>
                  </a:lnTo>
                  <a:lnTo>
                    <a:pt x="2952750" y="106784"/>
                  </a:lnTo>
                  <a:lnTo>
                    <a:pt x="2952750" y="1379096"/>
                  </a:lnTo>
                  <a:lnTo>
                    <a:pt x="2941176" y="1422253"/>
                  </a:lnTo>
                  <a:lnTo>
                    <a:pt x="2913965" y="1457715"/>
                  </a:lnTo>
                  <a:lnTo>
                    <a:pt x="2875256" y="1480042"/>
                  </a:lnTo>
                  <a:lnTo>
                    <a:pt x="2853387" y="1485156"/>
                  </a:lnTo>
                  <a:lnTo>
                    <a:pt x="2845954" y="14858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38599" y="6772254"/>
              <a:ext cx="114300" cy="1485900"/>
            </a:xfrm>
            <a:custGeom>
              <a:avLst/>
              <a:gdLst/>
              <a:ahLst/>
              <a:cxnLst/>
              <a:rect l="l" t="t" r="r" b="b"/>
              <a:pathLst>
                <a:path w="114300" h="1485900">
                  <a:moveTo>
                    <a:pt x="114300" y="1485899"/>
                  </a:moveTo>
                  <a:lnTo>
                    <a:pt x="70559" y="1477206"/>
                  </a:lnTo>
                  <a:lnTo>
                    <a:pt x="33477" y="1452429"/>
                  </a:lnTo>
                  <a:lnTo>
                    <a:pt x="8700" y="1415347"/>
                  </a:lnTo>
                  <a:lnTo>
                    <a:pt x="0" y="1371607"/>
                  </a:lnTo>
                  <a:lnTo>
                    <a:pt x="0" y="114307"/>
                  </a:lnTo>
                  <a:lnTo>
                    <a:pt x="8700" y="70566"/>
                  </a:lnTo>
                  <a:lnTo>
                    <a:pt x="33477" y="33485"/>
                  </a:lnTo>
                  <a:lnTo>
                    <a:pt x="70559" y="8707"/>
                  </a:lnTo>
                  <a:lnTo>
                    <a:pt x="114300" y="0"/>
                  </a:lnTo>
                  <a:lnTo>
                    <a:pt x="106793" y="551"/>
                  </a:lnTo>
                  <a:lnTo>
                    <a:pt x="99431" y="2182"/>
                  </a:lnTo>
                  <a:lnTo>
                    <a:pt x="65982" y="25907"/>
                  </a:lnTo>
                  <a:lnTo>
                    <a:pt x="47108" y="60372"/>
                  </a:lnTo>
                  <a:lnTo>
                    <a:pt x="38462" y="103047"/>
                  </a:lnTo>
                  <a:lnTo>
                    <a:pt x="38100" y="114307"/>
                  </a:lnTo>
                  <a:lnTo>
                    <a:pt x="38100" y="1371607"/>
                  </a:lnTo>
                  <a:lnTo>
                    <a:pt x="43900" y="1415347"/>
                  </a:lnTo>
                  <a:lnTo>
                    <a:pt x="60418" y="1452429"/>
                  </a:lnTo>
                  <a:lnTo>
                    <a:pt x="92213" y="1481013"/>
                  </a:lnTo>
                  <a:lnTo>
                    <a:pt x="106793" y="1485363"/>
                  </a:lnTo>
                  <a:lnTo>
                    <a:pt x="114300" y="1485899"/>
                  </a:lnTo>
                  <a:close/>
                </a:path>
              </a:pathLst>
            </a:custGeom>
            <a:solidFill>
              <a:srgbClr val="1C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92600" y="6997700"/>
            <a:ext cx="237172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CC8C8"/>
                </a:solidFill>
                <a:latin typeface="Arial"/>
                <a:cs typeface="Arial"/>
              </a:rPr>
              <a:t>Model </a:t>
            </a:r>
            <a:r>
              <a:rPr sz="1500" b="1" spc="-10" dirty="0">
                <a:solidFill>
                  <a:srgbClr val="1CC8C8"/>
                </a:solidFill>
                <a:latin typeface="Arial"/>
                <a:cs typeface="Arial"/>
              </a:rPr>
              <a:t>Monitoring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Implement performance tracking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in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production to detect data drift </a:t>
            </a:r>
            <a:r>
              <a:rPr sz="1200" spc="-25" dirty="0">
                <a:solidFill>
                  <a:srgbClr val="1C242F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1C242F"/>
                </a:solidFill>
                <a:latin typeface="Arial MT"/>
                <a:cs typeface="Arial MT"/>
              </a:rPr>
              <a:t>schedule model </a:t>
            </a:r>
            <a:r>
              <a:rPr sz="1200" spc="-10" dirty="0">
                <a:solidFill>
                  <a:srgbClr val="1C242F"/>
                </a:solidFill>
                <a:latin typeface="Arial MT"/>
                <a:cs typeface="Arial MT"/>
              </a:rPr>
              <a:t>retraining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" y="457188"/>
            <a:ext cx="6857999" cy="96964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9243" y="4587875"/>
            <a:ext cx="28943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Thank</a:t>
            </a:r>
            <a:r>
              <a:rPr sz="4500" spc="-85" dirty="0"/>
              <a:t> </a:t>
            </a:r>
            <a:r>
              <a:rPr sz="4500" spc="-100" dirty="0"/>
              <a:t>You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3150641" y="5540374"/>
            <a:ext cx="14712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C242F"/>
                </a:solidFill>
                <a:latin typeface="Arial MT"/>
                <a:cs typeface="Arial MT"/>
              </a:rPr>
              <a:t>Questions?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1650</Words>
  <Application>Microsoft Office PowerPoint</Application>
  <PresentationFormat>Custom</PresentationFormat>
  <Paragraphs>273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MS PGothic</vt:lpstr>
      <vt:lpstr>Arial</vt:lpstr>
      <vt:lpstr>Arial MT</vt:lpstr>
      <vt:lpstr>Office Theme</vt:lpstr>
      <vt:lpstr>PowerPoint Presentation</vt:lpstr>
      <vt:lpstr>Problem Statement</vt:lpstr>
      <vt:lpstr>Dataset Overview</vt:lpstr>
      <vt:lpstr>Exploratory Data Analysis</vt:lpstr>
      <vt:lpstr>Missing Value Strategy</vt:lpstr>
      <vt:lpstr>Outlier Handling Strategy</vt:lpstr>
      <vt:lpstr>PowerPoint Presentation</vt:lpstr>
      <vt:lpstr>Bivariate Analysis: Features vs SalePrice</vt:lpstr>
      <vt:lpstr>Correlation Matrix &amp; Multicollinearity</vt:lpstr>
      <vt:lpstr>Domain-Driven Feature Engineering</vt:lpstr>
      <vt:lpstr>Categorical Encoding Strategy</vt:lpstr>
      <vt:lpstr>Model Development &amp; Comparison</vt:lpstr>
      <vt:lpstr>Why Ridge Regression?</vt:lpstr>
      <vt:lpstr>Ridge Hyperparameter Optimization</vt:lpstr>
      <vt:lpstr>Model Diagnostics: Learning Curve Analysis</vt:lpstr>
      <vt:lpstr>Error Analysis &amp; Model Performance</vt:lpstr>
      <vt:lpstr>Model Explainability with SHAP</vt:lpstr>
      <vt:lpstr>Kaggle Competition Results</vt:lpstr>
      <vt:lpstr>Streamlit Deployment</vt:lpstr>
      <vt:lpstr>Key Insights &amp; Learnings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Kibos C. Ivy</cp:lastModifiedBy>
  <cp:revision>2</cp:revision>
  <dcterms:created xsi:type="dcterms:W3CDTF">2025-12-02T03:23:46Z</dcterms:created>
  <dcterms:modified xsi:type="dcterms:W3CDTF">2025-12-02T11:54:24Z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Call PDF</vt:lpwstr>
  </property>
  <property fmtid="{D5CDD505-2E9C-101B-9397-08002B2CF9AE}" pid="4" name="Producer">
    <vt:lpwstr>Call PDF v 2.4</vt:lpwstr>
  </property>
  <property fmtid="{D5CDD505-2E9C-101B-9397-08002B2CF9AE}" pid="5" name="LastSaved">
    <vt:filetime>2025-12-02T00:00:00Z</vt:filetime>
  </property>
</Properties>
</file>